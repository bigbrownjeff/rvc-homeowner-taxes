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Rockville Centre · Housing × Schools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67167" y="42062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BRIEFING ·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731520"/>
            <a:ext cx="11057839" cy="2794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1000" b="1" i="0" spc="160">
                <a:solidFill>
                  <a:srgbClr val="1E3A8A"/>
                </a:solidFill>
                <a:latin typeface="Courier New"/>
              </a:rPr>
              <a:t>FOR FEDERAL, STATE &amp; COUNTY LEGISLATORS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0" b="1" i="0">
                <a:solidFill>
                  <a:srgbClr val="0E1116"/>
                </a:solidFill>
                <a:latin typeface="Georgia"/>
              </a:rPr>
              <a:t>Unlock the homes,</a:t>
            </a:r>
          </a:p>
          <a:p>
            <a:pPr algn="l">
              <a:lnSpc>
                <a:spcPct val="98000"/>
              </a:lnSpc>
            </a:pPr>
            <a:r>
              <a:rPr sz="5800" b="1" i="0">
                <a:solidFill>
                  <a:srgbClr val="0E1116"/>
                </a:solidFill>
                <a:latin typeface="Georgia"/>
              </a:rPr>
              <a:t>keep the teachers.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375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2A2A2A"/>
                </a:solidFill>
                <a:latin typeface="Georgia"/>
              </a:rPr>
              <a:t>This spring Rockville Centre balanced its school budget by cutting ≈22 teaching positions and 40 teaching assistants — in a village whose median household earns $151,938 and whose homes average $819,000.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70832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A2A2A"/>
                </a:solidFill>
                <a:latin typeface="Arial"/>
              </a:rPr>
              <a:t>The problem isn't wealth. It's that the homes stopped changing hands: 27.9% of owner households are headed by someone 65+, enrollment is down ~260 students in a decade, and the seniors who want to move face federal tax penalties, benefit-timing traps, and missing downsize inventory. </a:t>
            </a:r>
            <a:r>
              <a:rPr sz="1250" b="1" i="0">
                <a:solidFill>
                  <a:srgbClr val="0E1116"/>
                </a:solidFill>
                <a:latin typeface="Arial"/>
              </a:rPr>
              <a:t>Everything proposed here is carrots-only — no senior loses a benefit.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806440"/>
            <a:ext cx="2194560" cy="279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6B6B6B"/>
                </a:solidFill>
                <a:latin typeface="Courier New"/>
              </a:rPr>
              <a:t>PREPARED BY JEFF PINTO · RVC-TAXES.JEFFPINTO.COM · EVERY FIGURE INDEPENDENTLY FACT-CHECKED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Squeeze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E1116"/>
                </a:solidFill>
                <a:latin typeface="Georgia"/>
              </a:rPr>
              <a:t>What just happened in Rockville Centre's schools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53312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1">
                <a:solidFill>
                  <a:srgbClr val="2A2A2A"/>
                </a:solidFill>
                <a:latin typeface="Georgia"/>
              </a:rPr>
              <a:t>An A-rated district — South Side High ranks #611 nationally; graduation 98–99% vs New York's 87% — chose between classrooms and solvency.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" y="2057400"/>
            <a:ext cx="25400" cy="329184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12264"/>
            <a:ext cx="109728" cy="109728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574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60">
                <a:solidFill>
                  <a:srgbClr val="1E3A8A"/>
                </a:solidFill>
                <a:latin typeface="Courier New"/>
              </a:rPr>
              <a:t>JAN 29,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2039112"/>
            <a:ext cx="9052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A2A2A"/>
                </a:solidFill>
                <a:latin typeface="Arial"/>
              </a:rPr>
              <a:t>District projects a $3.78M deficit for 2026-27: health insurance +10% (~$2M), out-of-district special-ed placements projected at $6.38M, total revenue growth only ~1% (~$1.4M).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953512"/>
            <a:ext cx="109728" cy="109728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898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60">
                <a:solidFill>
                  <a:srgbClr val="1E3A8A"/>
                </a:solidFill>
                <a:latin typeface="Courier New"/>
              </a:rPr>
              <a:t>MAR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880360"/>
            <a:ext cx="9052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A2A2A"/>
                </a:solidFill>
                <a:latin typeface="Arial"/>
              </a:rPr>
              <a:t>Final state levy cap lands at ≈2.1%. Reserves are thin: unappropriated fund balance $4.8M — 3.5% of budget against the 4% statutory ceiling; appropriated fund balance falling $2.8M → $1.6M.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794760"/>
            <a:ext cx="109728" cy="109728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739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60">
                <a:solidFill>
                  <a:srgbClr val="1E3A8A"/>
                </a:solidFill>
                <a:latin typeface="Courier New"/>
              </a:rPr>
              <a:t>APR 16,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8" y="3721608"/>
            <a:ext cx="9052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A2A2A"/>
                </a:solidFill>
                <a:latin typeface="Arial"/>
              </a:rPr>
              <a:t>Board adopts a $141.32M budget (+1.03%) closing the gap chiefly by eliminating ≈22.2 teaching positions and 40 teaching-assistant positions.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36008"/>
            <a:ext cx="109728" cy="109728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8114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60">
                <a:solidFill>
                  <a:srgbClr val="1E3A8A"/>
                </a:solidFill>
                <a:latin typeface="Courier New"/>
              </a:rPr>
              <a:t>MAY 19,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7208" y="4562856"/>
            <a:ext cx="9052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A2A2A"/>
                </a:solidFill>
                <a:latin typeface="Arial"/>
              </a:rPr>
              <a:t>Voters approve it 1,915–1,195.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504688"/>
            <a:ext cx="11057839" cy="749808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561441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160">
                <a:solidFill>
                  <a:srgbClr val="9DB4E8"/>
                </a:solidFill>
                <a:latin typeface="Courier New"/>
              </a:rPr>
              <a:t>STRUCTURAL, NOT CYCLICAL   </a:t>
            </a:r>
            <a:r>
              <a:rPr sz="1150" b="0" i="0">
                <a:solidFill>
                  <a:srgbClr val="F1ECE2"/>
                </a:solidFill>
                <a:latin typeface="Arial"/>
              </a:rPr>
              <a:t>Costs compound faster than the ~2% levy cap + ~15% state aid. A district can cut its way through one year, not a decade. The 2026-27 cuts are what “do nothing about housing” looks like.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SOURCES: LI HERALD JAN–MAY 2026 · NYSED · OSC — FULL CITATIONS IN APPENDIX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Squeeze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E1116"/>
                </a:solidFill>
                <a:latin typeface="Georgia"/>
              </a:rPr>
              <a:t>The squeeze, in four numbers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25587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91640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01 · POSITIONS CUT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29384"/>
            <a:ext cx="25129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1116"/>
                </a:solidFill>
                <a:latin typeface="Georgia"/>
              </a:rPr>
              <a:t>−62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59736"/>
            <a:ext cx="24489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Teaching + TA positions eliminated to balance the 2026-27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72968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LI HERALD · APR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9967" y="1600200"/>
            <a:ext cx="25587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9967" y="1691640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02 · ENROLLMENT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9967" y="1929384"/>
            <a:ext cx="25129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E1116"/>
                </a:solidFill>
                <a:latin typeface="Georgia"/>
              </a:rPr>
              <a:t>3,533→3,276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9967" y="2459736"/>
            <a:ext cx="24489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K-12, 2015-16 to 2024-25; 3,260 projected for 2026-27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9967" y="3172968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NYSED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1600200"/>
            <a:ext cx="25587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1691640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03 · 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1929384"/>
            <a:ext cx="25129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1116"/>
                </a:solidFill>
                <a:latin typeface="Georgia"/>
              </a:rPr>
              <a:t>+1</a:t>
            </a:r>
            <a:r>
              <a:rPr sz="1700" b="0" i="1">
                <a:solidFill>
                  <a:srgbClr val="1E3A8A"/>
                </a:solidFill>
                <a:latin typeface="Georgia"/>
              </a:rPr>
              <a:t>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2459736"/>
            <a:ext cx="24489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Total revenue growth — against +$2M for health insurance alone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3007" y="3172968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DISTRICT · MAR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6047" y="1600200"/>
            <a:ext cx="25587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66047" y="1691640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04 · RESERVES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6047" y="1929384"/>
            <a:ext cx="25129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1116"/>
                </a:solidFill>
                <a:latin typeface="Georgia"/>
              </a:rPr>
              <a:t>3.5</a:t>
            </a:r>
            <a:r>
              <a:rPr sz="1700" b="0" i="1">
                <a:solidFill>
                  <a:srgbClr val="1E3A8A"/>
                </a:solidFill>
                <a:latin typeface="Georgia"/>
              </a:rPr>
              <a:t>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6047" y="2459736"/>
            <a:ext cx="24489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Unappropriated fund balance; the statutory ceiling is 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6047" y="3172968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ASST. SUPT. · FEB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7947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1000" b="1" i="0" spc="160">
                <a:solidFill>
                  <a:srgbClr val="1E3A8A"/>
                </a:solidFill>
                <a:latin typeface="Courier New"/>
              </a:rPr>
              <a:t>WHAT THOSE NUMBERS BUY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114800"/>
            <a:ext cx="10789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A2A2A"/>
                </a:solidFill>
                <a:latin typeface="Arial"/>
              </a:rPr>
              <a:t>Rockville Centre still runs one of the region's best systems — and pays for it: NYSED's official per-pupil expenditure is $37,973 (2023-24), near the top of its peer set. </a:t>
            </a:r>
            <a:r>
              <a:rPr sz="1250" b="1" i="0">
                <a:solidFill>
                  <a:srgbClr val="0E1116"/>
                </a:solidFill>
                <a:latin typeface="Arial"/>
              </a:rPr>
              <a:t>The question is not quality. It is whether a shrinking, aging tax base can keep voting for it.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A2A2A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2A2A2A"/>
                </a:solidFill>
                <a:latin typeface="Georgia"/>
              </a:rPr>
              <a:t>The 2026-27 budget passed 62–38. Every future budget is decided by an electorate currently aging away from the schools.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NYSED FINANCIAL TRANSPARENCY REPORT 2023-24 · LI HERALD VOTE 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Squeeze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E1116"/>
                </a:solidFill>
                <a:latin typeface="Georgia"/>
              </a:rPr>
              <a:t>Rockville Centre is the rule, not the exception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3383280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91640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NASSAU BOCES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29384"/>
            <a:ext cx="3337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E1116"/>
                </a:solidFill>
                <a:latin typeface="Georgia"/>
              </a:rPr>
              <a:t>61</a:t>
            </a:r>
            <a:r>
              <a:rPr sz="2000" b="0" i="1">
                <a:solidFill>
                  <a:srgbClr val="1E3A8A"/>
                </a:solidFill>
                <a:latin typeface="Georgia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59736"/>
            <a:ext cx="32735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Of Nassau's 56 school districts lost enrollment over the past decade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72968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LI HERALD · APR 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600200"/>
            <a:ext cx="3383280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4528" y="1691640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W. SUFFOLK BOCES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1929384"/>
            <a:ext cx="3337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E1116"/>
                </a:solidFill>
                <a:latin typeface="Georgia"/>
              </a:rPr>
              <a:t>−6.3</a:t>
            </a:r>
            <a:r>
              <a:rPr sz="2000" b="0" i="1">
                <a:solidFill>
                  <a:srgbClr val="1E3A8A"/>
                </a:solidFill>
                <a:latin typeface="Georgia"/>
              </a:rPr>
              <a:t>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2459736"/>
            <a:ext cx="32735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Long Island public-school enrollment since 2017 (Nassau −4.0%)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3172968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BI-COUNTY STUDY ·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1600200"/>
            <a:ext cx="3703320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1691640"/>
            <a:ext cx="3611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NEXT DOOR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1929384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E1116"/>
                </a:solidFill>
                <a:latin typeface="Georgia"/>
              </a:rPr>
              <a:t>−11</a:t>
            </a:r>
            <a:r>
              <a:rPr sz="2000" b="0" i="1">
                <a:solidFill>
                  <a:srgbClr val="1E3A8A"/>
                </a:solidFill>
                <a:latin typeface="Georgia"/>
              </a:rPr>
              <a:t> positions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8" y="2459736"/>
            <a:ext cx="359359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Hewlett-Woodmere teaching cuts for 2025-26; OBEN −16.5% enrollment since 2015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3172968"/>
            <a:ext cx="3611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LI HERALD · NYSED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77639"/>
            <a:ext cx="11057839" cy="169164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160520"/>
            <a:ext cx="457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9DB4E8"/>
                </a:solidFill>
                <a:latin typeface="Georgia"/>
              </a:rPr>
              <a:t>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35608" y="4224528"/>
            <a:ext cx="9966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>
                <a:solidFill>
                  <a:srgbClr val="F1ECE2"/>
                </a:solidFill>
                <a:latin typeface="Georgia"/>
              </a:rPr>
              <a:t>This is a Long Island problem, not a Locust Valley problem. </a:t>
            </a:r>
            <a:r>
              <a:rPr sz="1150" b="0" i="0">
                <a:solidFill>
                  <a:srgbClr val="D8D3C6"/>
                </a:solidFill>
                <a:latin typeface="Arial"/>
              </a:rPr>
              <a:t>— Supt. Kristen Turnow, who found five houses listed under $1M in her entire district while enrollment slides toward 1,725 (from 2,034 in 2018-19)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5608" y="5285232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A9A394"/>
                </a:solidFill>
                <a:latin typeface="Courier New"/>
              </a:rPr>
              <a:t>LI HERALD · APR 2025 · NYSED BEDS-DAY 1,754 (2024-25)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A COUNTY-WIDE COALITION EXISTS FOR THE ASKING — SEE SLIDE 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E1116"/>
                </a:solidFill>
                <a:latin typeface="Georgia"/>
              </a:rPr>
              <a:t>The village aged in place — the homes stopped turning 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25587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01 · SENIOR-OWNED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83664"/>
            <a:ext cx="25129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1116"/>
                </a:solidFill>
                <a:latin typeface="Georgia"/>
              </a:rPr>
              <a:t>27.9</a:t>
            </a:r>
            <a:r>
              <a:rPr sz="1700" b="0" i="1">
                <a:solidFill>
                  <a:srgbClr val="1E3A8A"/>
                </a:solidFill>
                <a:latin typeface="Georgia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14016"/>
            <a:ext cx="24489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Owner households headed by someone 65+ — 2,076 of 7,453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27248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ACS B25007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9967" y="1554480"/>
            <a:ext cx="25587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9967" y="1645920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02 · SENIOR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9967" y="1883664"/>
            <a:ext cx="25129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1116"/>
                </a:solidFill>
                <a:latin typeface="Georgia"/>
              </a:rPr>
              <a:t>20.1</a:t>
            </a:r>
            <a:r>
              <a:rPr sz="1700" b="0" i="1">
                <a:solidFill>
                  <a:srgbClr val="1E3A8A"/>
                </a:solidFill>
                <a:latin typeface="Georgia"/>
              </a:rPr>
              <a:t>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9967" y="2414016"/>
            <a:ext cx="24489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Of all RVC residents are 65 or older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9967" y="3127248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ACS S0101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1554480"/>
            <a:ext cx="25587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1645920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03 · HOME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1883664"/>
            <a:ext cx="25129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1116"/>
                </a:solidFill>
                <a:latin typeface="Georgia"/>
              </a:rPr>
              <a:t>$819</a:t>
            </a:r>
            <a:r>
              <a:rPr sz="1700" b="0" i="1">
                <a:solidFill>
                  <a:srgbClr val="1E3A8A"/>
                </a:solidFill>
                <a:latin typeface="Georgia"/>
              </a:rPr>
              <a:t> 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2414016"/>
            <a:ext cx="24489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Average RVC home, June 2026 (ACS 2020-24: $818.7K)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3007" y="3127248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ZILLOW · ACS B25077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6047" y="1554480"/>
            <a:ext cx="25587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66047" y="1645920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04 · SENIOR INCOME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6047" y="1883664"/>
            <a:ext cx="25129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E1116"/>
                </a:solidFill>
                <a:latin typeface="Georgia"/>
              </a:rPr>
              <a:t>~$80</a:t>
            </a:r>
            <a:r>
              <a:rPr sz="1700" b="0" i="1">
                <a:solidFill>
                  <a:srgbClr val="1E3A8A"/>
                </a:solidFill>
                <a:latin typeface="Georgia"/>
              </a:rPr>
              <a:t> 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6047" y="2414016"/>
            <a:ext cx="24489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Median 65+ household income, vs $151.9K village-wide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6047" y="3127248"/>
            <a:ext cx="2467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ACS B19049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70332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A2A2A"/>
                </a:solidFill>
                <a:latin typeface="Arial"/>
              </a:rPr>
              <a:t>Two thousand of the village's ~7,450 owner-occupied homes — the three- and four-bedroom houses that built the school system — are held by households past child-rearing age. Nationally, empty-nest boomers own </a:t>
            </a:r>
            <a:r>
              <a:rPr sz="1200" b="1" i="0">
                <a:solidFill>
                  <a:srgbClr val="0E1116"/>
                </a:solidFill>
                <a:latin typeface="Arial"/>
              </a:rPr>
              <a:t>28% of large homes; millennials raising children own 14–16%</a:t>
            </a:r>
            <a:r>
              <a:rPr sz="1200" b="0" i="0">
                <a:solidFill>
                  <a:srgbClr val="2A2A2A"/>
                </a:solidFill>
                <a:latin typeface="Arial"/>
              </a:rPr>
              <a:t> (Redfin 2024/2026).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6177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1000" b="1" i="0" spc="160">
                <a:solidFill>
                  <a:srgbClr val="1E3A8A"/>
                </a:solidFill>
                <a:latin typeface="Courier New"/>
              </a:rPr>
              <a:t>NASSAU HOUSEHOLDS INCLUDING SOMEONE 65+ (ACS B11007)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9560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60">
                <a:solidFill>
                  <a:srgbClr val="6B6B6B"/>
                </a:solidFill>
                <a:latin typeface="Courier New"/>
              </a:rPr>
              <a:t>2014-18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09928" y="4974336"/>
            <a:ext cx="8412480" cy="219456"/>
          </a:xfrm>
          <a:prstGeom prst="rect">
            <a:avLst/>
          </a:prstGeom>
          <a:solidFill>
            <a:srgbClr val="FAF6EC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09928" y="4974336"/>
            <a:ext cx="6748678" cy="21945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0046" y="497433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0E1116"/>
                </a:solidFill>
                <a:latin typeface="Courier New"/>
              </a:rPr>
              <a:t>36.1%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321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60">
                <a:solidFill>
                  <a:srgbClr val="6B6B6B"/>
                </a:solidFill>
                <a:latin typeface="Courier New"/>
              </a:rPr>
              <a:t>2019-23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09928" y="5340096"/>
            <a:ext cx="8412480" cy="219456"/>
          </a:xfrm>
          <a:prstGeom prst="rect">
            <a:avLst/>
          </a:prstGeom>
          <a:solidFill>
            <a:srgbClr val="FAF6EC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09928" y="5340096"/>
            <a:ext cx="7272121" cy="21945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73489" y="534009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0E1116"/>
                </a:solidFill>
                <a:latin typeface="Courier New"/>
              </a:rPr>
              <a:t>38.9%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68756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60">
                <a:solidFill>
                  <a:srgbClr val="6B6B6B"/>
                </a:solidFill>
                <a:latin typeface="Courier New"/>
              </a:rPr>
              <a:t>2020-24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09928" y="5705856"/>
            <a:ext cx="8412480" cy="219456"/>
          </a:xfrm>
          <a:prstGeom prst="rect">
            <a:avLst/>
          </a:prstGeom>
          <a:solidFill>
            <a:srgbClr val="FAF6EC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09928" y="5705856"/>
            <a:ext cx="7402982" cy="219456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04350" y="570585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0E1116"/>
                </a:solidFill>
                <a:latin typeface="Courier New"/>
              </a:rPr>
              <a:t>39.6%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5332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60">
                <a:solidFill>
                  <a:srgbClr val="6B6B6B"/>
                </a:solidFill>
                <a:latin typeface="Courier New"/>
              </a:rPr>
              <a:t>HOUSEHOLDS WITH OWN CHILDREN UNDER 18 OVER THE SAME SPAN: 35.5% → 34.7%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ACS = AMERICAN COMMUNITY SURVEY 5-YEAR ESTIMATES, ROCKVILLE CENTRE VILLAGE &amp; NASSAU COUNTY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60">
                <a:solidFill>
                  <a:srgbClr val="9DB4E8"/>
                </a:solidFill>
                <a:latin typeface="Courier New"/>
              </a:rPr>
              <a:t>THE PIPELINE IS INVENTORY-STARVED, NOT DEMAND-STARVED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68680"/>
            <a:ext cx="2194560" cy="25400"/>
          </a:xfrm>
          <a:prstGeom prst="rect">
            <a:avLst/>
          </a:prstGeom>
          <a:solidFill>
            <a:srgbClr val="9DB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097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9DB4E8"/>
                </a:solidFill>
                <a:latin typeface="Georgia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1737360"/>
            <a:ext cx="9601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1ECE2"/>
                </a:solidFill>
                <a:latin typeface="Georgia"/>
              </a:rPr>
              <a:t>Five houses under a million dollars. In the whole district.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3657600"/>
            <a:ext cx="9418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D8D3C6"/>
                </a:solidFill>
                <a:latin typeface="Arial"/>
              </a:rPr>
              <a:t>Locust Valley's superintendent, explaining her enrollment slide. Young families bid on the few large homes that list; the rest never list. Rockville Centre's version: 2,076 senior-owned homes, a frozen assessment roll, and a federal tax code that charges six figures for selling.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539496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60">
                <a:solidFill>
                  <a:srgbClr val="A9A394"/>
                </a:solidFill>
                <a:latin typeface="Courier New"/>
              </a:rPr>
              <a:t>LI HERALD · APRIL 2025 · ACS B25007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Lock-In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E1116"/>
                </a:solidFill>
                <a:latin typeface="Georgia"/>
              </a:rPr>
              <a:t>Four locks on the front door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53003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53003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1E3A8A"/>
                </a:solidFill>
                <a:latin typeface="Courier New"/>
              </a:rPr>
              <a:t>LOCK 01 · FEDERAL · CAP GAINS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01952"/>
            <a:ext cx="53003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1116"/>
                </a:solidFill>
                <a:latin typeface="Georgia"/>
              </a:rPr>
              <a:t>§121 frozen since 1997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86000"/>
            <a:ext cx="53003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A2A2A"/>
                </a:solidFill>
                <a:latin typeface="Arial"/>
              </a:rPr>
              <a:t>A 1990s buyer selling at ~$900K clears the $500K joint exclusion; a widowed senior filing single hits $250K twice as fast. AEI: ~1.9M senior-owned homes locked, $620B in gains.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337560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0E1116"/>
                </a:solidFill>
                <a:latin typeface="Courier New"/>
              </a:rPr>
              <a:t>FIX: H.R. 1340 / S. 3332 — DOUBLE &amp; INDEX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554480"/>
            <a:ext cx="53003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447" y="1645920"/>
            <a:ext cx="53003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1E3A8A"/>
                </a:solidFill>
                <a:latin typeface="Courier New"/>
              </a:rPr>
              <a:t>LOCK 02 · STATE · TIMING TRAP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7" y="1901952"/>
            <a:ext cx="53003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1116"/>
                </a:solidFill>
                <a:latin typeface="Georgia"/>
              </a:rPr>
              <a:t>Move wrong, lose a year's exemption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2286000"/>
            <a:ext cx="53003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A2A2A"/>
                </a:solidFill>
                <a:latin typeface="Arial"/>
              </a:rPr>
              <a:t>Close at the wrong point in the assessment calendar and the senior exemption lapses for the year — a real, documented penalty for moving.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337560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0E1116"/>
                </a:solidFill>
                <a:latin typeface="Courier New"/>
              </a:rPr>
              <a:t>FIX: S3309/A5288 — OUT OF AGING 7–0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94760"/>
            <a:ext cx="53003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53003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1E3A8A"/>
                </a:solidFill>
                <a:latin typeface="Courier New"/>
              </a:rPr>
              <a:t>LOCK 03 · STATE · CASH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142232"/>
            <a:ext cx="53003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1116"/>
                </a:solidFill>
                <a:latin typeface="Georgia"/>
              </a:rPr>
              <a:t>Fixed incomes hoard equity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526280"/>
            <a:ext cx="53003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A2A2A"/>
                </a:solidFill>
                <a:latin typeface="Arial"/>
              </a:rPr>
              <a:t>Seniors guard cash against carrying costs. Four states fix this with deferral: state pays, lien accrues at 5–8%, settled in full at sale (OR · MA · WA · TX).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577840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0E1116"/>
                </a:solidFill>
                <a:latin typeface="Courier New"/>
              </a:rPr>
              <a:t>FIX: NY DEFERRAL ENABLING 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4447" y="3794760"/>
            <a:ext cx="53003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4447" y="3886200"/>
            <a:ext cx="53003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1E3A8A"/>
                </a:solidFill>
                <a:latin typeface="Courier New"/>
              </a:rPr>
              <a:t>LOCK 04 · LOCAL · INVENTORY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4142232"/>
            <a:ext cx="53003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1116"/>
                </a:solidFill>
                <a:latin typeface="Georgia"/>
              </a:rPr>
              <a:t>Nothing to move 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4526280"/>
            <a:ext cx="53003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A2A2A"/>
                </a:solidFill>
                <a:latin typeface="Arial"/>
              </a:rPr>
              <a:t>RVC is overwhelmingly single-family; the condo/ADU rungs of the ladder are missing, so selling means leaving the village after 40 years.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5577840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0E1116"/>
                </a:solidFill>
                <a:latin typeface="Courier New"/>
              </a:rPr>
              <a:t>FIX: ADUS, RIGHT-SIZE ZONING NEAR THE LIRR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§121 = 26 U.S.C. §121 · §467 = NY RPTL §467 INCOME-TESTED SENIOR EXEMPTION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60">
                <a:solidFill>
                  <a:srgbClr val="9DB4E8"/>
                </a:solidFill>
                <a:latin typeface="Courier New"/>
              </a:rPr>
              <a:t>MYTH-BUSTER FOR SENIOR CONSTITUENTS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68680"/>
            <a:ext cx="2194560" cy="25400"/>
          </a:xfrm>
          <a:prstGeom prst="rect">
            <a:avLst/>
          </a:prstGeom>
          <a:solidFill>
            <a:srgbClr val="9DB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1ECE2"/>
                </a:solidFill>
                <a:latin typeface="Georgia"/>
              </a:rPr>
              <a:t>Moving within New York does not forfeit your benefits.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97480"/>
            <a:ext cx="109728" cy="109728"/>
          </a:xfrm>
          <a:prstGeom prst="rect">
            <a:avLst/>
          </a:prstGeom>
          <a:solidFill>
            <a:srgbClr val="9DB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517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60">
                <a:solidFill>
                  <a:srgbClr val="9DB4E8"/>
                </a:solidFill>
                <a:latin typeface="Courier New"/>
              </a:rPr>
              <a:t>ENHANCED STAR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8" y="2624328"/>
            <a:ext cx="8321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1ECE2"/>
                </a:solidFill>
                <a:latin typeface="Arial"/>
              </a:rPr>
              <a:t>Follows you to any new NY primary residence — re-register, income-qualified, same credit.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630168"/>
            <a:ext cx="109728" cy="109728"/>
          </a:xfrm>
          <a:prstGeom prst="rect">
            <a:avLst/>
          </a:prstGeom>
          <a:solidFill>
            <a:srgbClr val="9DB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58444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60">
                <a:solidFill>
                  <a:srgbClr val="9DB4E8"/>
                </a:solidFill>
                <a:latin typeface="Courier New"/>
              </a:rPr>
              <a:t>§467 SENIOR EXEMPTION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3557016"/>
            <a:ext cx="8321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1ECE2"/>
                </a:solidFill>
                <a:latin typeface="Arial"/>
              </a:rPr>
              <a:t>Applies at the new home wherever local jurisdictions adopted it — and Nassau waives its 12-month ownership wait for prior holders.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562856"/>
            <a:ext cx="109728" cy="109728"/>
          </a:xfrm>
          <a:prstGeom prst="rect">
            <a:avLst/>
          </a:prstGeom>
          <a:solidFill>
            <a:srgbClr val="9DB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4517136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60">
                <a:solidFill>
                  <a:srgbClr val="9DB4E8"/>
                </a:solidFill>
                <a:latin typeface="Courier New"/>
              </a:rPr>
              <a:t>YOUR TAX BILL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4489704"/>
            <a:ext cx="8321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1ECE2"/>
                </a:solidFill>
                <a:latin typeface="Arial"/>
              </a:rPr>
              <a:t>New York taxes current value, not purchase price (unlike California). Downsize to a smaller home and the bill falls with it — no Prop-13-style reset.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1">
                <a:solidFill>
                  <a:srgbClr val="D8D3C6"/>
                </a:solidFill>
                <a:latin typeface="Georgia"/>
              </a:rPr>
              <a:t>The one real timing penalty — losing the exemption in the year of a move — is exactly what S3309/A5288 repairs.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Lock-In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E1116"/>
                </a:solidFill>
                <a:latin typeface="Georgia"/>
              </a:rPr>
              <a:t>And the lock is tightening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3383280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91640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CH. 581 OF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29384"/>
            <a:ext cx="3337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E1116"/>
                </a:solidFill>
                <a:latin typeface="Georgia"/>
              </a:rPr>
              <a:t>65</a:t>
            </a:r>
            <a:r>
              <a:rPr sz="2000" b="0" i="1">
                <a:solidFill>
                  <a:srgbClr val="1E3A8A"/>
                </a:solidFill>
                <a:latin typeface="Georgia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59736"/>
            <a:ext cx="32735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New maximum §467 exemption tier (income ≤ $47,000) — signed Dec 5, 2025; Nassau already applies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72968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NYSENATE.GOV · NASSAU BROCHURE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600200"/>
            <a:ext cx="3383280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4528" y="1691640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SEPARATE 2025 LAW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1929384"/>
            <a:ext cx="3337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E1116"/>
                </a:solidFill>
                <a:latin typeface="Georgia"/>
              </a:rPr>
              <a:t>$75</a:t>
            </a:r>
            <a:r>
              <a:rPr sz="2000" b="0" i="1">
                <a:solidFill>
                  <a:srgbClr val="1E3A8A"/>
                </a:solidFill>
                <a:latin typeface="Georgia"/>
              </a:rPr>
              <a:t> 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2459736"/>
            <a:ext cx="32735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§467 income ceiling from July 1, 2027 — a major expansion of the exempt pool, if localities opt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3172968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DTF 2025 LEGISLATIVE SUMMARY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1600200"/>
            <a:ext cx="3703320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1691640"/>
            <a:ext cx="3611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NBER W25468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1929384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E1116"/>
                </a:solidFill>
                <a:latin typeface="Georgia"/>
              </a:rPr>
              <a:t>100</a:t>
            </a:r>
            <a:r>
              <a:rPr sz="2000" b="0" i="1">
                <a:solidFill>
                  <a:srgbClr val="1E3A8A"/>
                </a:solidFill>
                <a:latin typeface="Georgia"/>
              </a:rPr>
              <a:t> yrs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8" y="2459736"/>
            <a:ext cx="359359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Of Georgia exemptions, quadruple-difference design: age-based relief measurably increases seniors staying 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3172968"/>
            <a:ext cx="3611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BANZHAF, MICKEY &amp; PATRICK · JUE 2021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93192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0E1116"/>
                </a:solidFill>
                <a:latin typeface="Georgia"/>
              </a:rPr>
              <a:t>Relief without mobility deepens the freeze. </a:t>
            </a:r>
            <a:r>
              <a:rPr sz="1500" b="0" i="1">
                <a:solidFill>
                  <a:srgbClr val="2A2A2A"/>
                </a:solidFill>
                <a:latin typeface="Georgia"/>
              </a:rPr>
              <a:t>Albany keeps expanding senior tax relief, and the best research available says exactly this kind of relief increases lock-in. The ask is not to oppose relief — it is to pair every expansion with a fiscal note and a mobility counterpart, so the legislature that helps seniors stay also helps the ones who want to go.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EVERY §467 EXPANSION DECISION NOW PENDING LOCALLY — THE DATA ASK (SLIDE 13) COMES FIRST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Math, Done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E1116"/>
                </a:solidFill>
                <a:latin typeface="Georgia"/>
              </a:rPr>
              <a:t>Follow one home.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3502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1">
                <a:solidFill>
                  <a:srgbClr val="2A2A2A"/>
                </a:solidFill>
                <a:latin typeface="Georgia"/>
              </a:rPr>
              <a:t>A senior household sells; a young family buys. Four things happen — to four different balance sheets. None of them is “the district recaptures revenue.”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3003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75607" y="2057400"/>
            <a:ext cx="1691640" cy="201168"/>
          </a:xfrm>
          <a:prstGeom prst="rect">
            <a:avLst/>
          </a:prstGeom>
          <a:solidFill>
            <a:srgbClr val="ECE2C9"/>
          </a:solidFill>
          <a:ln w="9525">
            <a:solidFill>
              <a:srgbClr val="A07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75607" y="2071116"/>
            <a:ext cx="1691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 i="0" spc="160">
                <a:solidFill>
                  <a:srgbClr val="A07A2F"/>
                </a:solidFill>
                <a:latin typeface="Courier New"/>
              </a:rPr>
              <a:t>NY STATE SAVES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57400"/>
            <a:ext cx="52088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01 · EVERY YEAR AFTER THE SALE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295144"/>
            <a:ext cx="52545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E1116"/>
                </a:solidFill>
                <a:latin typeface="Georgia"/>
              </a:rPr>
              <a:t>$2,058</a:t>
            </a:r>
            <a:r>
              <a:rPr sz="1600" b="0" i="1">
                <a:solidFill>
                  <a:srgbClr val="1E3A8A"/>
                </a:solidFill>
                <a:latin typeface="Georgia"/>
              </a:rPr>
              <a:t> /yr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825496"/>
            <a:ext cx="51905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Enhanced STAR credit ($3,147) becomes Basic ($1,089). STAR is state-funded — the saver is Albany, forever.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38728"/>
            <a:ext cx="52088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DTF 2025 FINAL · RVC CLASS 1 · RPTL §1306-A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24447" y="1965960"/>
            <a:ext cx="53003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33127" y="2057400"/>
            <a:ext cx="1691640" cy="201168"/>
          </a:xfrm>
          <a:prstGeom prst="rect">
            <a:avLst/>
          </a:prstGeom>
          <a:solidFill>
            <a:srgbClr val="ECE2C9"/>
          </a:solidFill>
          <a:ln w="9525">
            <a:solidFill>
              <a:srgbClr val="A07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3127" y="2071116"/>
            <a:ext cx="1691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 i="0" spc="160">
                <a:solidFill>
                  <a:srgbClr val="A07A2F"/>
                </a:solidFill>
                <a:latin typeface="Courier New"/>
              </a:rPr>
              <a:t>NY STATE COLLECTS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2057400"/>
            <a:ext cx="52088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02 · ONCE, AT CLOSING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447" y="2295144"/>
            <a:ext cx="52545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E1116"/>
                </a:solidFill>
                <a:latin typeface="Georgia"/>
              </a:rPr>
              <a:t>~$3,300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447" y="2825496"/>
            <a:ext cx="51905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Transfer tax: 0.4% of an ~$820K sale, seller-paid (+1% buyer mansion tax at $1M+).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447" y="3538728"/>
            <a:ext cx="52088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TAX LAW ART. 31 · ACS/ZILLOW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53003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75607" y="4160520"/>
            <a:ext cx="1691640" cy="201168"/>
          </a:xfrm>
          <a:prstGeom prst="rect">
            <a:avLst/>
          </a:prstGeom>
          <a:solidFill>
            <a:srgbClr val="DEE7DC"/>
          </a:solidFill>
          <a:ln w="9525">
            <a:solidFill>
              <a:srgbClr val="4E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75607" y="4174236"/>
            <a:ext cx="1691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 i="0" spc="160">
                <a:solidFill>
                  <a:srgbClr val="4E7A58"/>
                </a:solidFill>
                <a:latin typeface="Courier New"/>
              </a:rPr>
              <a:t>NEIGHBORS RELIEVED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160520"/>
            <a:ext cx="52088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03 · EVERY YEAR AFTER THE SALE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398264"/>
            <a:ext cx="52545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E1116"/>
                </a:solidFill>
                <a:latin typeface="Georgia"/>
              </a:rPr>
              <a:t>5–65</a:t>
            </a:r>
            <a:r>
              <a:rPr sz="1600" b="0" i="1">
                <a:solidFill>
                  <a:srgbClr val="1E3A8A"/>
                </a:solidFill>
                <a:latin typeface="Georgia"/>
              </a:rPr>
              <a:t>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928616"/>
            <a:ext cx="51905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A §467 parcel's school-tax share stops shifting onto every other taxpayer. The levy is fixed; exemptions move it around.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641848"/>
            <a:ext cx="52088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OSC · NASSAU BROCHURE REV. 3-26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4447" y="4069080"/>
            <a:ext cx="530031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33127" y="4160520"/>
            <a:ext cx="1691640" cy="201168"/>
          </a:xfrm>
          <a:prstGeom prst="rect">
            <a:avLst/>
          </a:prstGeom>
          <a:solidFill>
            <a:srgbClr val="EFDCD4"/>
          </a:solidFill>
          <a:ln w="9525">
            <a:solidFill>
              <a:srgbClr val="B05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33127" y="4174236"/>
            <a:ext cx="1691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 i="0" spc="160">
                <a:solidFill>
                  <a:srgbClr val="B05442"/>
                </a:solidFill>
                <a:latin typeface="Courier New"/>
              </a:rPr>
              <a:t>DISTRICT GAINS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447" y="4160520"/>
            <a:ext cx="52088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800" b="1" i="0" spc="160">
                <a:solidFill>
                  <a:srgbClr val="1E3A8A"/>
                </a:solidFill>
                <a:latin typeface="Courier New"/>
              </a:rPr>
              <a:t>04 · AS THE FAMILY INVESTS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447" y="4398264"/>
            <a:ext cx="525459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E1116"/>
                </a:solidFill>
                <a:latin typeface="Georgia"/>
              </a:rPr>
              <a:t>+1.4</a:t>
            </a:r>
            <a:r>
              <a:rPr sz="1600" b="0" i="1">
                <a:solidFill>
                  <a:srgbClr val="1E3A8A"/>
                </a:solidFill>
                <a:latin typeface="Georgia"/>
              </a:rPr>
              <a:t> students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447" y="4928616"/>
            <a:ext cx="519059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Per home (2 children × 70% school-age — stated assumption) into seats emptied by a ~260-student decline; renovations grow the tax base, lawfully raising the levy cap.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447" y="5641848"/>
            <a:ext cx="52088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160">
                <a:solidFill>
                  <a:srgbClr val="6B6B6B"/>
                </a:solidFill>
                <a:latin typeface="Courier New"/>
              </a:rPr>
              <a:t>DTF GROWTH FACTOR · NYSED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FULL PROSE WRITE-UP: RVC-TAXES.JEFFPINTO.COM/FISCAL-MATH.HTML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Math, Done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E1116"/>
                </a:solidFill>
                <a:latin typeface="Georgia"/>
              </a:rPr>
              <a:t>Scale it: per 100 transitions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1057839" cy="178308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828800"/>
            <a:ext cx="23529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1ECE2"/>
                </a:solidFill>
                <a:latin typeface="Georgia"/>
              </a:rPr>
              <a:t>$205.8K</a:t>
            </a:r>
            <a:r>
              <a:rPr sz="1400" b="0" i="1">
                <a:solidFill>
                  <a:srgbClr val="9DB4E8"/>
                </a:solidFill>
                <a:latin typeface="Georgia"/>
              </a:rPr>
              <a:t>/yr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31720"/>
            <a:ext cx="22615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" b="0" i="0" spc="160">
                <a:solidFill>
                  <a:srgbClr val="C9C3B4"/>
                </a:solidFill>
                <a:latin typeface="Courier New"/>
              </a:rPr>
              <a:t>STAR SAVINGS TO NY STATE — RECURRING; FUNDS EVERY CARROT IN THIS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8547" y="1828800"/>
            <a:ext cx="23529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1ECE2"/>
                </a:solidFill>
                <a:latin typeface="Georgia"/>
              </a:rPr>
              <a:t>~$330K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2331720"/>
            <a:ext cx="22615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" b="0" i="0" spc="160">
                <a:solidFill>
                  <a:srgbClr val="C9C3B4"/>
                </a:solidFill>
                <a:latin typeface="Courier New"/>
              </a:rPr>
              <a:t>ONE-TIME TRANSFER-TAX RECEIPTS TO NY 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0127" y="1828800"/>
            <a:ext cx="23529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1ECE2"/>
                </a:solidFill>
                <a:latin typeface="Georgia"/>
              </a:rPr>
              <a:t>n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0127" y="2331720"/>
            <a:ext cx="22615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" b="0" i="0" spc="160">
                <a:solidFill>
                  <a:srgbClr val="C9C3B4"/>
                </a:solidFill>
                <a:latin typeface="Courier New"/>
              </a:rPr>
              <a:t>§467 PARCELS RELIEVED — THE COUNTY DOES NOT PUBLISH THIS. THAT IS ASK 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1707" y="1828800"/>
            <a:ext cx="23529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1ECE2"/>
                </a:solidFill>
                <a:latin typeface="Georgia"/>
              </a:rPr>
              <a:t>~140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1707" y="2331720"/>
            <a:ext cx="22615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" b="0" i="0" spc="160">
                <a:solidFill>
                  <a:srgbClr val="C9C3B4"/>
                </a:solidFill>
                <a:latin typeface="Courier New"/>
              </a:rPr>
              <a:t>STUDENTS INTO EXISTING SEATS AT LOW MARGINAL COST — WHILE SPARE CAPACITY LASTS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57600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947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1000" b="1" i="0" spc="160">
                <a:solidFill>
                  <a:srgbClr val="1E3A8A"/>
                </a:solidFill>
                <a:latin typeface="Courier New"/>
              </a:rPr>
              <a:t>WHAT THIS IS NOT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11480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1116"/>
                </a:solidFill>
                <a:latin typeface="Arial"/>
              </a:rPr>
              <a:t>It is not district revenue. </a:t>
            </a:r>
            <a:r>
              <a:rPr sz="1200" b="0" i="0">
                <a:solidFill>
                  <a:srgbClr val="2A2A2A"/>
                </a:solidFill>
                <a:latin typeface="Arial"/>
              </a:rPr>
              <a:t>NY school districts levy a fixed dollar amount; exemptions shift it, they don't shrink it — “Every exemption granted on a property shifts the tax burden to the non-exempt properties” (NYS Comptroller) — and STAR is reimbursed by the State (RPTL §1306-a). Claims that exemptions “cost the schools millions” or that turnover “recaptures revenue” don't survive contact with the levy mechanics.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A2A2A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2A2A2A"/>
                </a:solidFill>
                <a:latin typeface="Georgia"/>
              </a:rPr>
              <a:t>The district's true gains: growth-factor headroom, students into empty seats, and voters with children in the system.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CAPACITY CAVEAT: ENROLLMENT DECLINE ≠ MEASURED BUILDING CAPACITY; ASSUMPTIONS LABELED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E1116"/>
                </a:solidFill>
                <a:latin typeface="Georgia"/>
              </a:rPr>
              <a:t>The asks — federal &amp;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60">
                <a:solidFill>
                  <a:srgbClr val="1E3A8A"/>
                </a:solidFill>
                <a:latin typeface="Courier New"/>
              </a:rPr>
              <a:t>FEDERAL</a:t>
            </a:r>
          </a:p>
          <a:p>
            <a:pPr algn="l">
              <a:lnSpc>
                <a:spcPct val="130000"/>
              </a:lnSpc>
            </a:pPr>
            <a:r>
              <a:rPr sz="700" b="0" i="0" spc="160">
                <a:solidFill>
                  <a:srgbClr val="6B6B6B"/>
                </a:solidFill>
                <a:latin typeface="Courier New"/>
              </a:rPr>
              <a:t>H.R. 1340 / S. 3332 · IN COMMITTEE · 117+ COSPONSORS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1528" y="16459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1116"/>
                </a:solidFill>
                <a:latin typeface="Georgia"/>
              </a:rPr>
              <a:t>Cosponsor the More Homes on the Market 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1993392"/>
            <a:ext cx="8595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A2A2A"/>
                </a:solidFill>
                <a:latin typeface="Arial"/>
              </a:rPr>
              <a:t>Rep. Laura Gillen (D, NY-4) — lives in RVC, led the SALT fight, not yet on the bill. Sens. Gillibrand (Approps THUD RM; Aging RM) &amp; Schumer (Minority Leader) for the Senate companion. Double &amp; index §121.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44368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0540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60">
                <a:solidFill>
                  <a:srgbClr val="1E3A8A"/>
                </a:solidFill>
                <a:latin typeface="Courier New"/>
              </a:rPr>
              <a:t>STATE</a:t>
            </a:r>
          </a:p>
          <a:p>
            <a:pPr algn="l">
              <a:lnSpc>
                <a:spcPct val="130000"/>
              </a:lnSpc>
            </a:pPr>
            <a:r>
              <a:rPr sz="700" b="0" i="0" spc="160">
                <a:solidFill>
                  <a:srgbClr val="6B6B6B"/>
                </a:solidFill>
                <a:latin typeface="Courier New"/>
              </a:rPr>
              <a:t>S3309 / A5288 · AGING 7–0 · APR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3035808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1116"/>
                </a:solidFill>
                <a:latin typeface="Georgia"/>
              </a:rPr>
              <a:t>Keep a senior's exemption in the year of a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3383280"/>
            <a:ext cx="8595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A2A2A"/>
                </a:solidFill>
                <a:latin typeface="Arial"/>
              </a:rPr>
              <a:t>Sen. Patricia Canzoneri-Fitzpatrick (R, SD-9) — an RVC resident — to champion; Asm. Judy Griffin (D, AD-21) carries the companion. Add S3574 renewal-notice protection.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34256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4398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60">
                <a:solidFill>
                  <a:srgbClr val="1E3A8A"/>
                </a:solidFill>
                <a:latin typeface="Courier New"/>
              </a:rPr>
              <a:t>STATE</a:t>
            </a:r>
          </a:p>
          <a:p>
            <a:pPr algn="l">
              <a:lnSpc>
                <a:spcPct val="130000"/>
              </a:lnSpc>
            </a:pPr>
            <a:r>
              <a:rPr sz="700" b="0" i="0" spc="160">
                <a:solidFill>
                  <a:srgbClr val="6B6B6B"/>
                </a:solidFill>
                <a:latin typeface="Courier New"/>
              </a:rPr>
              <a:t>NEW BILL · MODEL: OR · MA · WA · 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1528" y="4425696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1116"/>
                </a:solidFill>
                <a:latin typeface="Georgia"/>
              </a:rPr>
              <a:t>Senior school-tax deferral enabling 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1528" y="4773168"/>
            <a:ext cx="8595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A2A2A"/>
                </a:solidFill>
                <a:latin typeface="Arial"/>
              </a:rPr>
              <a:t>District opt-in; lien accrues at modest interest; taxes paid in full at sale. The cash-flow lock disappears at zero long-run cost to the levy. Draft with OSC input.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779008"/>
            <a:ext cx="11057839" cy="54864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587959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9DB4E8"/>
                </a:solidFill>
                <a:latin typeface="Courier New"/>
              </a:rPr>
              <a:t>FRAMING THAT WORKS   </a:t>
            </a:r>
            <a:r>
              <a:rPr sz="1150" b="0" i="0">
                <a:solidFill>
                  <a:srgbClr val="F1ECE2"/>
                </a:solidFill>
                <a:latin typeface="Arial"/>
              </a:rPr>
              <a:t>Senior mobility + young-family affordability in one bill — and Albany funds the carrots out of its own STAR savings.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OFFICEHOLDERS &amp; STATUSES VERIFIED JUNE 2026 — CONGRESS.GOV · NYSENATE.GOV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The 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E1116"/>
                </a:solidFill>
                <a:latin typeface="Georgia"/>
              </a:rPr>
              <a:t>The asks — county &amp; local: data before dollars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60">
                <a:solidFill>
                  <a:srgbClr val="1E3A8A"/>
                </a:solidFill>
                <a:latin typeface="Courier New"/>
              </a:rPr>
              <a:t>COUNTY</a:t>
            </a:r>
          </a:p>
          <a:p>
            <a:pPr algn="l">
              <a:lnSpc>
                <a:spcPct val="130000"/>
              </a:lnSpc>
            </a:pPr>
            <a:r>
              <a:rPr sz="700" b="0" i="0" spc="160">
                <a:solidFill>
                  <a:srgbClr val="6B6B6B"/>
                </a:solidFill>
                <a:latin typeface="Courier New"/>
              </a:rPr>
              <a:t>BEFORE THE 65% TIER &amp; THE 2027 $75K 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1528" y="1645920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E1116"/>
                </a:solidFill>
                <a:latin typeface="Georgia"/>
              </a:rPr>
              <a:t>Publish §467 / Enhanced STAR counts &amp; exempted value, by school district, annually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2212848"/>
            <a:ext cx="8595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A2A2A"/>
                </a:solidFill>
                <a:latin typeface="Arial"/>
              </a:rPr>
              <a:t>County Executive Bruce Blakeman, Nassau Legislature, Dept. of Assessment. Require a fiscal note before any exemption expansion; fund a means-tested “Silver-to-Gold” moving-grant pilot ($5–10K).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154680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264408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60">
                <a:solidFill>
                  <a:srgbClr val="1E3A8A"/>
                </a:solidFill>
                <a:latin typeface="Courier New"/>
              </a:rPr>
              <a:t>VILLAGE + BOE</a:t>
            </a:r>
          </a:p>
          <a:p>
            <a:pPr algn="l">
              <a:lnSpc>
                <a:spcPct val="130000"/>
              </a:lnSpc>
            </a:pPr>
            <a:r>
              <a:rPr sz="700" b="0" i="0" spc="160">
                <a:solidFill>
                  <a:srgbClr val="6B6B6B"/>
                </a:solidFill>
                <a:latin typeface="Courier New"/>
              </a:rPr>
              <a:t>ROCKVILLE CENTRE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3246120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E1116"/>
                </a:solidFill>
                <a:latin typeface="Georgia"/>
              </a:rPr>
              <a:t>Confirm the district's own §467 posture; build the downsizing ladder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3813048"/>
            <a:ext cx="8595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A2A2A"/>
                </a:solidFill>
                <a:latin typeface="Arial"/>
              </a:rPr>
              <a:t>Mayor Francis X. Murray; RVC Board of Education (incl. Trustee-elect Mary Beth Joyce, seated July 2026): publish the adopting resolution and current tiers; pilot moving assistance ($25–50K/yr); pursue ADU / right-size supply near the LIRR.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00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1000" b="1" i="0" spc="160">
                <a:solidFill>
                  <a:srgbClr val="1E3A8A"/>
                </a:solidFill>
                <a:latin typeface="Courier New"/>
              </a:rPr>
              <a:t>TWELVE-MONTH SEQUENCING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120640"/>
            <a:ext cx="3503066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212080"/>
            <a:ext cx="35030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NOW–SEPT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68112"/>
            <a:ext cx="35030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County data publication · district §467 confirmation · coalition letters from the 61%-club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4314" y="5120640"/>
            <a:ext cx="3503066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4314" y="5212080"/>
            <a:ext cx="35030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FALL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4314" y="5468112"/>
            <a:ext cx="35030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Deferral bill drafted with OSC · H.R. 1340 cosponsor push pre-election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1700" y="5120640"/>
            <a:ext cx="3503066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1700" y="5212080"/>
            <a:ext cx="35030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2027 SESSION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1700" y="5468112"/>
            <a:ext cx="35030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S3309/A5288 + deferral act pass before the July 2027 $75K-cap decision — relief paired with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COALITION-READY: HEWLETT-WOODMERE · LOCUST VALLEY · OBEN · LONG BEACH · THE REST OF THE 61%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Precedents &amp;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80467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E1116"/>
                </a:solidFill>
                <a:latin typeface="Georgia"/>
              </a:rPr>
              <a:t>Assembled from things that already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1" i="0" spc="160">
                <a:solidFill>
                  <a:srgbClr val="1E3A8A"/>
                </a:solidFill>
                <a:latin typeface="Courier New"/>
              </a:rPr>
              <a:t>DEFERRAL · OR 1963 · MA 41A · WA · 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1608" y="1554480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E1116"/>
                </a:solidFill>
                <a:latin typeface="Georgia"/>
              </a:rPr>
              <a:t>Districts made whole; seniors cash-flow-safe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1608" y="1847088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State pays; a lien — not a subsidy — does the work, repaid with 5–8% interest at sale. Voluntary. Oregon's program is self-financing.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14599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606039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1" i="0" spc="160">
                <a:solidFill>
                  <a:srgbClr val="1E3A8A"/>
                </a:solidFill>
                <a:latin typeface="Courier New"/>
              </a:rPr>
              <a:t>CALIFORNIA · PROP 19 · 2020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587751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E1116"/>
                </a:solidFill>
                <a:latin typeface="Georgia"/>
              </a:rPr>
              <a:t>Senior mobility wins at the ballot 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2880359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Base-transfer for 55+, statewide, up to 3 moves — narrowly approved by voters; LAO scored the package revenue-positive for schools. The lesson for NY is the politics, not the mechanism: NY taxes current value, so our version is benefit-continuity (S3309), not basis-porting.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47870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931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1" i="0" spc="160">
                <a:solidFill>
                  <a:srgbClr val="1E3A8A"/>
                </a:solidFill>
                <a:latin typeface="Courier New"/>
              </a:rPr>
              <a:t>MINNEAPOLIS FED ·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608" y="3621022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E1116"/>
                </a:solidFill>
                <a:latin typeface="Georgia"/>
              </a:rPr>
              <a:t>Property taxes reduce lock-in, shift ownership younger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1608" y="3913630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Recurring taxes capitalize into lower prices and raise turnover toward young families — NY's turnover dividend is unusually large once artificial locks come off.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581141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672581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1" i="0" spc="160">
                <a:solidFill>
                  <a:srgbClr val="1E3A8A"/>
                </a:solidFill>
                <a:latin typeface="Courier New"/>
              </a:rPr>
              <a:t>LEVITTOWN · 1976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4654293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E1116"/>
                </a:solidFill>
                <a:latin typeface="Georgia"/>
              </a:rPr>
              <a:t>The endgame of doing nothing has a local address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1608" y="4946901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When the first postwar suburb aged through its family cycle, it closed Pintail Lane and Cherrywood elementary schools — two generations ago. The cycle is now Rockville Centre's to manage, with better tools.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687564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0E1116"/>
                </a:solidFill>
                <a:latin typeface="Arial"/>
              </a:rPr>
              <a:t>What we are not proposing: </a:t>
            </a:r>
            <a:r>
              <a:rPr sz="1150" b="0" i="0">
                <a:solidFill>
                  <a:srgbClr val="2A2A2A"/>
                </a:solidFill>
                <a:latin typeface="Arial"/>
              </a:rPr>
              <a:t>no benefit cuts, no forced sales, no “empty-nester tax.” Opt-in for the senior; revenue-positive for the 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NBER W25468 EVIDENCE ON EXEMPTION LOCK-IN — SLIDE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60">
                <a:solidFill>
                  <a:srgbClr val="9DB4E8"/>
                </a:solidFill>
                <a:latin typeface="Courier New"/>
              </a:rPr>
              <a:t>THE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14400"/>
            <a:ext cx="2194560" cy="25400"/>
          </a:xfrm>
          <a:prstGeom prst="rect">
            <a:avLst/>
          </a:prstGeom>
          <a:solidFill>
            <a:srgbClr val="9DB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1ECE2"/>
                </a:solidFill>
                <a:latin typeface="Georgia"/>
              </a:rPr>
              <a:t>One county. One data ask.</a:t>
            </a:r>
          </a:p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1ECE2"/>
                </a:solidFill>
                <a:latin typeface="Georgia"/>
              </a:rPr>
              <a:t>One Albany agenda.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2918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D8D3C6"/>
                </a:solidFill>
                <a:latin typeface="Georgia"/>
              </a:rPr>
              <a:t>Each budget cycle under the cap starts ~$2–4M behind. The 2026-27 answer was 62 classroom positions. The 2027-28 question arrives with a higher exemption ceiling, fewer students, and an older electorate — every year of delay makes the carrots more expensive and the politics harder.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9DB4E8"/>
                </a:solidFill>
                <a:latin typeface="Courier New"/>
              </a:rPr>
              <a:t>THE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3492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1ECE2"/>
                </a:solidFill>
                <a:latin typeface="Arial"/>
              </a:rPr>
              <a:t>rvc-taxes.jeffpinto.com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507492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9DB4E8"/>
                </a:solidFill>
                <a:latin typeface="Courier New"/>
              </a:rPr>
              <a:t>THE MECHANICS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53492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1ECE2"/>
                </a:solidFill>
                <a:latin typeface="Arial"/>
              </a:rPr>
              <a:t>/fiscal-math.html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507492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9DB4E8"/>
                </a:solidFill>
                <a:latin typeface="Courier New"/>
              </a:rPr>
              <a:t>THE RECEIPTS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53492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1ECE2"/>
                </a:solidFill>
                <a:latin typeface="Arial"/>
              </a:rPr>
              <a:t>/validation.html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507492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60">
                <a:solidFill>
                  <a:srgbClr val="9DB4E8"/>
                </a:solidFill>
                <a:latin typeface="Courier New"/>
              </a:rPr>
              <a:t>THE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53492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1ECE2"/>
                </a:solidFill>
                <a:latin typeface="Arial"/>
              </a:rPr>
              <a:t>/calculator.html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943600"/>
            <a:ext cx="11057839" cy="12700"/>
          </a:xfrm>
          <a:prstGeom prst="rect">
            <a:avLst/>
          </a:prstGeom>
          <a:solidFill>
            <a:srgbClr val="3A3F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05332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A9A394"/>
                </a:solidFill>
                <a:latin typeface="Courier New"/>
              </a:rPr>
              <a:t>PREPARED BY JEFF PINTO · JUNE 2026 · EVERY FIGURE INDEPENDENTLY FACT-CHECKED AGAINST PRIMARY SOURCES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E3A8A"/>
                </a:solidFill>
                <a:latin typeface="Courier New"/>
              </a:rPr>
              <a:t>■ </a:t>
            </a:r>
            <a:r>
              <a:rPr sz="1000" b="1" i="0" spc="160">
                <a:solidFill>
                  <a:srgbClr val="1E3A8A"/>
                </a:solidFill>
                <a:latin typeface="Courier New"/>
              </a:rPr>
              <a:t>APPENDIX · FOR READING, NOT PRESENTING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0604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E1116"/>
                </a:solidFill>
                <a:latin typeface="Georgia"/>
              </a:rPr>
              <a:t>The receipts.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9476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A2A2A"/>
                </a:solidFill>
                <a:latin typeface="Arial"/>
              </a:rPr>
              <a:t>Every claim in the live deck — and in the project documents behind it — was checked against primary sources on June 9, 2026: NYSED, NYS DTF, OSC, the Census Bureau (ACS), IRS SOI, congress.gov, nysenate.gov, Nassau County, and the named press coverage. Of ~120 claims: roughly half confirmed, a quarter outdated or imprecise, a quarter wrong. The pages that follow summarize what changed and why; the full per-claim verdicts with URLs live at rvc-taxes.jeffpinto.com/validation.html.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METHODOLOGY: CLAIMS TRACED TO STATUTE, AGENCY TABLE, OR NAMED ARTICLE; UNTRACEABLE CLAIMS LABELED, NOT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The Big Four — errors the validation caught (and this deck avoids)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90472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1116"/>
                </a:solidFill>
                <a:latin typeface="Georgia"/>
              </a:rPr>
              <a:t>1 · “Exemptions cost the schools $6.9M/yr”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4567" y="1490472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Wrong kind of money: districts levy a fixed dollar amount; exemptions shift burden to non-exempt neighbors (OSC). STAR — the biggest piece — is state-reimbursed (RPTL §1306-a). “Recapture” framing replaced with the four-channel accounting on slide 10.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87752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660904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1116"/>
                </a:solidFill>
                <a:latin typeface="Georgia"/>
              </a:rPr>
              <a:t>2 · §467 tier table shifted $8,400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7" y="2660904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Claimed 50% at ≤$58,399 sliding to $66,799. Actual: 50% requires ≤$50,000; $58,399 is the 5%-tier ceiling; no $66,799 tier exists. Scale now runs 5–65% (Ch. 581 of 2025); income cap rises to $75,000 on July 1, 2027. RVC's senior median income (~$80K) exceeds eligibility entirely.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758184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83133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1116"/>
                </a:solidFill>
                <a:latin typeface="Georgia"/>
              </a:rPr>
              <a:t>3 · “Prop 19-style portability for NY”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7" y="3831336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Category error: CA taxes acquisition value, NY taxes current value (RPTL §305) — there is no basis to port, Nassau sales don't trigger reassessment, and downsizing already lowers the bill. Replaced with S3309/A5288 (benefit continuity), deferral act, S3574.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928616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00176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E1116"/>
                </a:solidFill>
                <a:latin typeface="Georgia"/>
              </a:rPr>
              <a:t>4 · The deficit story was stale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7" y="5001768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A2A2A"/>
                </a:solidFill>
                <a:latin typeface="Arial"/>
              </a:rPr>
              <a:t>The $3.78M gap closed: $141.32M budget (+1.03%) adopted Apr 16, 2026, ≈22 teaching + 40 TA positions cut, passed 1,915–1,195 on May 19. The cuts are the argument now — not the projection.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FULL CORRECTIONS: RVC-TAXES.JEFFPINTO.COM/VALIDATION.HTML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Corrected numbers — Rockville Centre UFSD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3716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47472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PROJECT DOCUMENTS SAID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VERIFIED (SOURCE)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2025-26 budget / levy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$139.89M / $109.24M (+2.6%) — confirmed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$139,889,187; passed 1,955–970 (district PDF; LI Herald)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2026-27 cap &amp; levy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$111,911,163 (+2.45%)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Superseded Jan projection; final cap ≈2.1%, adopted +2.06% (LI Herald Apr 2026)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2026-27 outcome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“$3.78M deficit projected”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Closed: $141.32M (+1.03%), −22.2 teachers/−40 TAs, passed 1,915–1,195 (May 19, 2026)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State aid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$22M (15.7%)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≈$20–21M (~15%); $19.8M published for 2024-25 (LI Herald)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Enrollment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3,326 (2025-26); 3,548 in 2016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NYSED: 3,533 (2015-16) → 3,276 (2024-25); 3,260 projected (district); 3,326 in no public source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Per-pupil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$42,050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$37,973 NYSED official (2023-24); $40.2K ST-3 actuals; $42.1K = budget÷enrolled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Reserves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“$8M = 8% of budget”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Unappropriated $4.8M (3.5%; 4% max) + appropriated $2.8M→$1.6M + ERS/TRS ≈$4.15M; “$8M/8%” is the Joyce analysis (5.7–5.9% of budget)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Garden City comparison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“$27M reserves, similar $122.7M budget”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GC 2025-26 budget $137.8M ($122.7M ≈ 2023-24 actuals); $27M not independently confirmed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STAR savings (Class 1)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Basic $1,220 / Enhanced $2,680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Exemption $1,068/$2,856 · credit $1,089/$3,147.01 (DTF 2025 final)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RECEIPTS: VALIDATION.HTML → FINDINGS/SCHOOL-FINANCE.MD, EXEMPTIONS.MD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Corrected numbers — demographics &amp; housing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3716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47472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PROJECT DOCUMENTS SAID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VERIFIED (SOURCE)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Senior-owned share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18% (~1,404 parcels)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27.9% — 2,076 of 7,453 owner households (ACS B25007); base undercounted ~48%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Homeownership / owner units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78% / ~7,800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74.5% / 7,453 (ACS; no vintage shows 78%)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Median home value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$735,000 “(ACS)”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ACS 2020-24: $818,700; Zillow 6/2026 ~$807–819K; Redfin $555K is co-op-skewed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“2.073% effective rate”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presented as data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Circular ($15,230 ÷ $735K); plausible magnitude, no public source — labeled estimate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65+ share / median age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19.6% / 42.9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20.1% / 42.9 (ACS)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65+ median HH income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$82,000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$76,815 (2019-23) / $79,722 (2020-24) — ACS B19049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Itemization rates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RVC 68% / Nassau 62% / NY 35% / US 13%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25.7% / ~19.8% / 10.4% / 9.6% (IRS SOI TY2022) — claims were pre-TCJA magnitudes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Large-homes stat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“Minneapolis Fed: 28%/14%”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Redfin (Jan 2024): 28.2%/14.2%; 2026: 28%/16%. Minneapolis Fed piece is the separate lock-in article (real, cited on slide 14)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Nassau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pop 1.36M · budget $3.7B · tax $13,680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~1.40M · $4.2B (FY2025/26) · ATTOM $13,059 (2023); income $146,202 #1 in NY confirmed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RECEIPTS: VALIDATION.HTML → FINDINGS/DEMOGRAPHICS.MD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June 2026 roster &amp; live vehicles (all verified)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3716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663440"/>
              </a:tblGrid>
              <a:tr h="40233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SEAT / VEHICLE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HOLDER / STATUS — JUNE 2026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NY-4 (US House)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Rep. Laura Gillen (D) — RVC resident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SALT-relief record; June 23, 2026 primary (Darling); NOT yet on H.R. 1340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US Senate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Schumer (Minority Leader) · Gillibrand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Gillibrand: Approps THUD Ranking Member; Special Comm. on Aging RM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NY SD-9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Sen. Patricia Canzoneri-Fitzpatrick (R)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RVC resident; seat on the ballot Nov 2026 (project docs said Kaminsky — resigned 2022)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NY AD-21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Asm. Judy Griffin (D)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Covers RVC, Lynbrook, Malverne, Baldwin (docs said Ed Ra, AD-19 — wrong district)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Nassau County Exec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Bruce Blakeman (R)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Re-elected Nov 2025; running for governor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RVC Village / BOE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Mayor Francis X. Murray · Joyce seated July 2026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Village runs its own assessor &amp; tax office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H.R. 1340 / S. 3332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Ways &amp; Means / Senate Finance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Panetta-Kelly · Cornyn-Bennet-Schiff; double &amp; index §121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S3309 / A5288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Reported from Aging 7–0 (Apr 2026)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Exemption continuity in a move year (Palumbo)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Ch. 581 of 2025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LAW — signed Dec 5, 2025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65% §467 tier; income cap $75,000 eff. July 1, 2027 (separate 2025 law)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RECEIPTS: VALIDATION.HTML → FINDINGS/POLITICS.MD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Coalition districts — what's verified (NYSED 2024-25)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37160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828800"/>
                <a:gridCol w="6766560"/>
              </a:tblGrid>
              <a:tr h="4572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DISTRICT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K-12 (NYSED)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VERIFIED FACTS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Hewlett-Woodmere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2,650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11 teaching positions cut for 2025-26; elementary −200 vs 2022-23 (docs said “3,100+” students)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Locust Valley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1,754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2,034 (2018-19) → ~1,818 district count; projects 1,725 by 2027-28; “five homes under $1M” — Supt. Turnow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Oyster Bay-E. Norwich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1,310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−16.5% since 2015-16; Supt. Ianni credits universal pre-K for stabilization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Long Beach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3,265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Year-long East Elementary closure fight — school STAYED OPEN (spring 2025); docs implied closure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Levittown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7,061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Closures (Pintail Lane, Cherrywood) were 1976/mid-70s — historical precedent only; budget $274.1M not $233.8M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Hempstead / Baldwin / Island Trees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5,071 / 4,309 / 2,261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Docs overstated by ~2,000 / ~1,200 / ~740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Massapequa / Lynbrook / Malverne / Great Neck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6,460 / 2,725 / 1,801 / 6,600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All confirmed within 1–4%; Uniondale demographics (65% Hispanic, 32% Black) exact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Roosevelt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3,020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2A2A2A"/>
                          </a:solidFill>
                          <a:latin typeface="Arial"/>
                        </a:rPr>
                        <a:t>GROWING — dropped from the decline list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RECEIPTS: VALIDATION.HTML → FINDINGS/COALITION.MD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A7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Levy mechanics &amp; STAR plumbing — why the framing matters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9047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60">
                <a:solidFill>
                  <a:srgbClr val="1E3A8A"/>
                </a:solidFill>
                <a:latin typeface="Courier New"/>
              </a:rPr>
              <a:t>THE LEVY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7208" y="1472184"/>
            <a:ext cx="88696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980" b="0" i="0">
                <a:solidFill>
                  <a:srgbClr val="2A2A2A"/>
                </a:solidFill>
                <a:latin typeface="Arial"/>
              </a:rPr>
              <a:t>Districts collect a voter-approved, state-capped dollar amount, apportioned over taxable assessed value. Rate = levy ÷ base. Exemptions shrink the base; the rate rises; the district is whole. (OSC: “Every exemption granted on a property shifts the tax burden to the non-exempt properties.”)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68296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4144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60">
                <a:solidFill>
                  <a:srgbClr val="1E3A8A"/>
                </a:solidFill>
                <a:latin typeface="Courier New"/>
              </a:rPr>
              <a:t>STAR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2423160"/>
            <a:ext cx="88696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980" b="0" i="0">
                <a:solidFill>
                  <a:srgbClr val="2A2A2A"/>
                </a:solidFill>
                <a:latin typeface="Arial"/>
              </a:rPr>
              <a:t>RPTL §1306-a makes STAR savings “a state charge” — districts are reimbursed in full. Post-2015 buyers receive a state-paid credit check instead. STAR belongs in no local-loss calculation; Enhanced→Basic deltas accrue to Albany.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19272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92424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60">
                <a:solidFill>
                  <a:srgbClr val="1E3A8A"/>
                </a:solidFill>
                <a:latin typeface="Courier New"/>
              </a:rPr>
              <a:t>THE CAP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3374136"/>
            <a:ext cx="88696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980" b="0" i="0">
                <a:solidFill>
                  <a:srgbClr val="2A2A2A"/>
                </a:solidFill>
                <a:latin typeface="Arial"/>
              </a:rPr>
              <a:t>Allowable levy = prior levy × tax-base growth factor (physical/quantity change only — construction and renovations, never price appreciation) × min(2%, CPI) + exclusions. Turnover-driven renovations are the one lawful district-revenue channel.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270248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60">
                <a:solidFill>
                  <a:srgbClr val="1E3A8A"/>
                </a:solidFill>
                <a:latin typeface="Courier New"/>
              </a:rPr>
              <a:t>ASSESSMENT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7208" y="4325112"/>
            <a:ext cx="88696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980" b="0" i="0">
                <a:solidFill>
                  <a:srgbClr val="2A2A2A"/>
                </a:solidFill>
                <a:latin typeface="Arial"/>
              </a:rPr>
              <a:t>Nassau Class 1 LOA = 0.1%; the roll is frozen for a sixth consecutive year (2026-27 tentative). Sales do NOT trigger reassessment — NY has no acquisition-value system (RPTL §305), which is why Prop-19-style portability has nothing to 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221224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294376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60">
                <a:solidFill>
                  <a:srgbClr val="1E3A8A"/>
                </a:solidFill>
                <a:latin typeface="Courier New"/>
              </a:rPr>
              <a:t>TRANSFER TAXES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7208" y="5276088"/>
            <a:ext cx="88696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980" b="0" i="0">
                <a:solidFill>
                  <a:srgbClr val="2A2A2A"/>
                </a:solidFill>
                <a:latin typeface="Arial"/>
              </a:rPr>
              <a:t>NYS: 0.4% seller-paid ($2/$500) + 1% buyer mansion tax ≥$1M — both state revenue. Nassau's own transfer-tax authorization (Art. 31-E) expired Jan 31, 2001; no county transfer tax exists.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OSC EXEMPTION BRIEF · RPTL §1306-A · OSC TAX-CAP GLOSSARY · DTF TRANSFER-TAX PAGES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The real §467 sliding scale — Nassau County (county · town · school)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371600"/>
          <a:ext cx="5760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017520"/>
              </a:tblGrid>
              <a:tr h="38404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2025 INCOME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EXEMPTION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≤ $47,000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65%  (new — Ch. 581 of 2025)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$47,001 – $47,999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$48,000 – $48,999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$49,000 – $50,000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50%  (statutory base max)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$50,001 – $52,999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45% / 40% / 35%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$53,000 – $55,699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30% / 25% / 20%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$55,700 – $57,499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15% / 10%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$57,500 – $58,399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5%  (floor tier — the ceiling for ANY exemption)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&gt; $58,399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2A2A2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76288" y="1417320"/>
            <a:ext cx="50292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1116"/>
                </a:solidFill>
                <a:latin typeface="Georgia"/>
              </a:rPr>
              <a:t>What the project documents claimed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A2A2A"/>
                </a:solidFill>
                <a:latin typeface="Arial"/>
              </a:rPr>
              <a:t>“50% for incomes up to $58,399, sliding to 5% at $66,799” — every tier shifted up $8,400; the $66,799 tier does not exist in NY law.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A2A2A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1116"/>
                </a:solidFill>
                <a:latin typeface="Georgia"/>
              </a:rPr>
              <a:t>Coming: $75,000 income cap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A2A2A"/>
                </a:solidFill>
                <a:latin typeface="Arial"/>
              </a:rPr>
              <a:t>Effective July 1, 2027 (separate 2025 legislation; local opt-in). Combined with the 65% tier, the exempt pool and the burden shift both grow — which is why the county data ask precedes any local opt-in vote.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A2A2A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1116"/>
                </a:solidFill>
                <a:latin typeface="Georgia"/>
              </a:rPr>
              <a:t>Still unverified locally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A2A2A"/>
                </a:solidFill>
                <a:latin typeface="Arial"/>
              </a:rPr>
              <a:t>RVC UFSD's own adopting resolution and current ceiling — county materials say all Nassau districts participate; confirm with the district clerk (FOIL drafted).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NASSAU DEPT. OF ASSESSMENT BROCHURE REV. 3-26 · DTF SENIOR-EXEMPTION PAGES · DTF 2025 LEG.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A9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Deferral precedents — the model for a NY enabling act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371600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2011680"/>
                <a:gridCol w="4846320"/>
              </a:tblGrid>
              <a:tr h="47548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PROGRAM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INTEREST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REPAID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1ECE2"/>
                          </a:solidFill>
                          <a:latin typeface="Courier New"/>
                        </a:rPr>
                        <a:t>MECHANICS</a:t>
                      </a:r>
                    </a:p>
                  </a:txBody>
                  <a:tcPr marL="54864" marR="54864" marT="18288" marB="18288">
                    <a:solidFill>
                      <a:srgbClr val="0E111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Oregon (ORS 311.666–701, since 1963)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6% simple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Sale / death / move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State DOR pays the county each Nov 15; lien recorded; income cap ~$70K indexed; recertify every 2 years; self-financing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Massachusetts (Cl. 41A)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8% (local option lower)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Sale / death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65+; local income limit; deferral + interest capped at 50% of fair cash value; 16% post-death until paid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Washington (RCW 84.38)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Sale / death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61+/disabled; income threshold indexed to county median; deferral capped at 80% of equity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Texas (Tax Code §33.06)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Sale / estate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65+/disabled; tax collection simply defers; widely used, simple affidavit</a:t>
                      </a:r>
                    </a:p>
                  </a:txBody>
                  <a:tcPr marL="54864" marR="54864" marT="18288" marB="18288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Proposed: New York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OSC-set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At sale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2A2A2A"/>
                          </a:solidFill>
                          <a:latin typeface="Arial"/>
                        </a:rPr>
                        <a:t>District opt-in for the school-tax share; lien accrues; the levy is made whole — the cash-flow lock (slide 7, Lock 03) disappears at zero long-run cost</a:t>
                      </a:r>
                    </a:p>
                  </a:txBody>
                  <a:tcPr marL="54864" marR="54864" marT="18288" marB="18288">
                    <a:solidFill>
                      <a:srgbClr val="FAF6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43484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2A2A2A"/>
                </a:solidFill>
                <a:latin typeface="Georgia"/>
              </a:rPr>
              <a:t>Design note: deferral pairs naturally with S3309/A5288 — continuity for those who move, deferral for those who stay until they're ready. Both are senior-protective; neither costs the district its levy.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OREGON DOR · MASS. DLS GUIDE · RCW 84.38 · TEXAS COMPTROLLER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Sources (1 of 2) — district, demographics, housing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RVC BUDGET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1472184"/>
            <a:ext cx="8503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 i="0">
                <a:solidFill>
                  <a:srgbClr val="2A2A2A"/>
                </a:solidFill>
                <a:latin typeface="Arial"/>
              </a:rPr>
              <a:t>LI Herald: “$3.78M deficit” (Feb 6, 2026) · board-scrutiny (Feb 13) · “$141.3M adopted” (Apr 16) · “Budget passes” (May 19) · M.B. Joyce substack, “Understanding the 2026/2027 budget” (Mar 18)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22576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8658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NYSED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2377440"/>
            <a:ext cx="8503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 i="0">
                <a:solidFill>
                  <a:srgbClr val="2A2A2A"/>
                </a:solidFill>
                <a:latin typeface="Arial"/>
              </a:rPr>
              <a:t>Enrollment (instid 800000049383): 3,533 → 3,276 · grad rate 98% · per-pupil expenditure $37,973 (2023-24) · district pages for all coalition districts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27832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291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CENSUS / ACS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2968" y="3282696"/>
            <a:ext cx="8503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 i="0">
                <a:solidFill>
                  <a:srgbClr val="2A2A2A"/>
                </a:solidFill>
                <a:latin typeface="Arial"/>
              </a:rPr>
              <a:t>B25007 (2,076 senior-owner households) · B19049 (incomes by age) · B19013 ($144,516 → $151,938) · B25077 ($818,700) · B11007 (Nassau 38.9% → 39.6%) · IRS SOI TY2022 (itemization)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33088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19709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HOUSING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187952"/>
            <a:ext cx="8503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 i="0">
                <a:solidFill>
                  <a:srgbClr val="2A2A2A"/>
                </a:solidFill>
                <a:latin typeface="Arial"/>
              </a:rPr>
              <a:t>Zillow RVC home values (June 2026) · Redfin “Empty Nesters” (Jan 2024; 2026 refresh) · ATTOM property-tax reports (2023–2025)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038344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0235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ENROLLMENT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2968" y="5093208"/>
            <a:ext cx="8503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 i="0">
                <a:solidFill>
                  <a:srgbClr val="2A2A2A"/>
                </a:solidFill>
                <a:latin typeface="Arial"/>
              </a:rPr>
              <a:t>Nassau BOCES via LI Herald (61% of 56 districts) · W. Suffolk BOCES bi-county study (LI −6.3% since 2017) · Levittown UFSD history (1976 closures)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CLICKABLE LINKS: RVC-TAXES.JEFFPINTO.COM (DECK P.8) AND /VALIDATION.HTML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1116"/>
                </a:solidFill>
                <a:latin typeface="Georg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4127" y="3108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160">
                <a:solidFill>
                  <a:srgbClr val="6B6B6B"/>
                </a:solidFill>
                <a:latin typeface="Courier New"/>
              </a:rPr>
              <a:t>RVC-TAXES.JEFFPINTO.COM   ·   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03504"/>
            <a:ext cx="11057839" cy="25400"/>
          </a:xfrm>
          <a:prstGeom prst="rect">
            <a:avLst/>
          </a:prstGeom>
          <a:solidFill>
            <a:srgbClr val="23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777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E1116"/>
                </a:solidFill>
                <a:latin typeface="Georgia"/>
              </a:rPr>
              <a:t>Sources (2 of 2) — law, mechanics, research · contact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STATUTE &amp; MECHANICS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1472184"/>
            <a:ext cx="8503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 i="0">
                <a:solidFill>
                  <a:srgbClr val="2A2A2A"/>
                </a:solidFill>
                <a:latin typeface="Arial"/>
              </a:rPr>
              <a:t>26 U.S.C. §121 · NY RPTL §467, §1306-a, §305 · Tax Law Art. 31 (0.4% + mansion tax; Nassau Art. 31-E expired 2001) · OSC “Property Tax Exemptions in NYS” · OSC tax-cap glossary (growth factor) · Nassau §467 brochure (rev. 3-26) · DTF STAR tables (2025 final) &amp; 2025 legislative summary ($75K cap)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86584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BILLS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2441448"/>
            <a:ext cx="8503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 i="0">
                <a:solidFill>
                  <a:srgbClr val="2A2A2A"/>
                </a:solidFill>
                <a:latin typeface="Arial"/>
              </a:rPr>
              <a:t>H.R. 1340 (Panetta/Kelly) · S. 3332 (Cornyn/Bennet/Schiff) · S3309/A5288 (Palumbo — Aging 7–0 Apr 2026) · S3574 · S5175A → Ch. 581 of 2025 (signed Dec 5,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55848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41985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2968" y="3410712"/>
            <a:ext cx="8503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 i="0">
                <a:solidFill>
                  <a:srgbClr val="2A2A2A"/>
                </a:solidFill>
                <a:latin typeface="Arial"/>
              </a:rPr>
              <a:t>AEI Housing Center (Pinto): ~1.9M senior homes, $620B gains · Banzhaf, Mickey &amp; Patrick, NBER w25468 / J. Urban Economics 2021 · Horwich, Minneapolis Fed (Nov 14, 2024) · CA BOE Prop 19 + LAO fiscal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325112"/>
            <a:ext cx="11057839" cy="1270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891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1E3A8A"/>
                </a:solidFill>
                <a:latin typeface="Courier New"/>
              </a:rPr>
              <a:t>DEFERRAL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379976"/>
            <a:ext cx="8503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 i="0">
                <a:solidFill>
                  <a:srgbClr val="2A2A2A"/>
                </a:solidFill>
                <a:latin typeface="Arial"/>
              </a:rPr>
              <a:t>Oregon ORS 311.666–701 · Massachusetts G.L. c.59 §5 Cl. 41A · Washington RCW 84.38 · Texas Tax Code §33.06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340096"/>
            <a:ext cx="11057839" cy="77724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5440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 spc="160">
                <a:solidFill>
                  <a:srgbClr val="9DB4E8"/>
                </a:solidFill>
                <a:latin typeface="Courier New"/>
              </a:rPr>
              <a:t>CONTACT &amp; NEXT STEPS   </a:t>
            </a:r>
            <a:r>
              <a:rPr sz="1100" b="0" i="0">
                <a:solidFill>
                  <a:srgbClr val="F1ECE2"/>
                </a:solidFill>
                <a:latin typeface="Arial"/>
              </a:rPr>
              <a:t>Jeff Pinto · rvc-taxes.jeffpinto.com — FOIL to Nassau Assessment (exemption counts by district) · district-clerk confirmation of RVC's §467 posture · coalition letters from the 61%-club.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419088"/>
            <a:ext cx="11057839" cy="11430"/>
          </a:xfrm>
          <a:prstGeom prst="rect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4922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60">
                <a:solidFill>
                  <a:srgbClr val="6B6B6B"/>
                </a:solidFill>
                <a:latin typeface="Courier New"/>
              </a:rPr>
              <a:t>THIS APPENDIX IS FOR READING; SLIDES 1–15 ARE THE LIVE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5967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160">
                <a:solidFill>
                  <a:srgbClr val="6B6B6B"/>
                </a:solidFill>
                <a:latin typeface="Courier New"/>
              </a:rPr>
              <a:t>A11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