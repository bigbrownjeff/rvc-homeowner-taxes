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8229600" cy="274320"/>
          </a:xfrm>
          <a:prstGeom prst="rect">
            <a:avLst/>
          </a:prstGeom>
          <a:noFill/>
        </p:spPr>
        <p:txBody>
          <a:bodyPr wrap="square" anchor="t" lIns="0" rIns="0" tIns="0" bIns="0">
            <a:spAutoFit/>
          </a:bodyPr>
          <a:lstStyle/>
          <a:p>
            <a:pPr algn="l"/>
            <a:r>
              <a:rPr sz="1500" b="1" i="0">
                <a:solidFill>
                  <a:srgbClr val="0E1116"/>
                </a:solidFill>
                <a:latin typeface="Georgia"/>
              </a:rPr>
              <a:t>Rockville Centre · Housing × Schools</a:t>
            </a:r>
          </a:p>
        </p:txBody>
      </p:sp>
      <p:sp>
        <p:nvSpPr>
          <p:cNvPr id="4" name="TextBox 3"/>
          <p:cNvSpPr txBox="1"/>
          <p:nvPr/>
        </p:nvSpPr>
        <p:spPr>
          <a:xfrm>
            <a:off x="7967167" y="420624"/>
            <a:ext cx="3657600" cy="274320"/>
          </a:xfrm>
          <a:prstGeom prst="rect">
            <a:avLst/>
          </a:prstGeom>
          <a:noFill/>
        </p:spPr>
        <p:txBody>
          <a:bodyPr wrap="square" anchor="t" lIns="0" rIns="0" tIns="0" bIns="0">
            <a:spAutoFit/>
          </a:bodyPr>
          <a:lstStyle/>
          <a:p>
            <a:pPr algn="r"/>
            <a:r>
              <a:rPr sz="850" b="0" i="0" spc="160">
                <a:solidFill>
                  <a:srgbClr val="6B6B6B"/>
                </a:solidFill>
                <a:latin typeface="Courier New"/>
              </a:rPr>
              <a:t>BRIEFING · JUNE 2026</a:t>
            </a:r>
          </a:p>
        </p:txBody>
      </p:sp>
      <p:sp>
        <p:nvSpPr>
          <p:cNvPr id="5" name="Rectangle 4"/>
          <p:cNvSpPr/>
          <p:nvPr/>
        </p:nvSpPr>
        <p:spPr>
          <a:xfrm>
            <a:off x="566928" y="731520"/>
            <a:ext cx="11057839" cy="2794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78992"/>
            <a:ext cx="9144000" cy="274320"/>
          </a:xfrm>
          <a:prstGeom prst="rect">
            <a:avLst/>
          </a:prstGeom>
          <a:noFill/>
        </p:spPr>
        <p:txBody>
          <a:bodyPr wrap="square" anchor="t" lIns="0" rIns="0" tIns="0" bIns="0">
            <a:spAutoFit/>
          </a:bodyPr>
          <a:lstStyle/>
          <a:p>
            <a:pPr algn="l"/>
            <a:r>
              <a:rPr sz="900" b="1" i="0">
                <a:solidFill>
                  <a:srgbClr val="1E3A8A"/>
                </a:solidFill>
                <a:latin typeface="Courier New"/>
              </a:rPr>
              <a:t>■ </a:t>
            </a:r>
            <a:r>
              <a:rPr sz="1000" b="1" i="0" spc="160">
                <a:solidFill>
                  <a:srgbClr val="1E3A8A"/>
                </a:solidFill>
                <a:latin typeface="Courier New"/>
              </a:rPr>
              <a:t>FOR FEDERAL, STATE &amp; COUNTY LEGISLATORS</a:t>
            </a:r>
          </a:p>
        </p:txBody>
      </p:sp>
      <p:sp>
        <p:nvSpPr>
          <p:cNvPr id="7" name="TextBox 6"/>
          <p:cNvSpPr txBox="1"/>
          <p:nvPr/>
        </p:nvSpPr>
        <p:spPr>
          <a:xfrm>
            <a:off x="566928" y="1417320"/>
            <a:ext cx="10515600" cy="2011680"/>
          </a:xfrm>
          <a:prstGeom prst="rect">
            <a:avLst/>
          </a:prstGeom>
          <a:noFill/>
        </p:spPr>
        <p:txBody>
          <a:bodyPr wrap="square" anchor="t" lIns="0" rIns="0" tIns="0" bIns="0">
            <a:spAutoFit/>
          </a:bodyPr>
          <a:lstStyle/>
          <a:p>
            <a:pPr algn="l">
              <a:lnSpc>
                <a:spcPct val="98000"/>
              </a:lnSpc>
            </a:pPr>
            <a:r>
              <a:rPr sz="5800" b="1" i="0">
                <a:solidFill>
                  <a:srgbClr val="0E1116"/>
                </a:solidFill>
                <a:latin typeface="Georgia"/>
              </a:rPr>
              <a:t>Unlock the homes,</a:t>
            </a:r>
          </a:p>
          <a:p>
            <a:pPr algn="l">
              <a:lnSpc>
                <a:spcPct val="98000"/>
              </a:lnSpc>
            </a:pPr>
            <a:r>
              <a:rPr sz="5800" b="1" i="0">
                <a:solidFill>
                  <a:srgbClr val="0E1116"/>
                </a:solidFill>
                <a:latin typeface="Georgia"/>
              </a:rPr>
              <a:t>keep the teachers.</a:t>
            </a:r>
          </a:p>
        </p:txBody>
      </p:sp>
      <p:sp>
        <p:nvSpPr>
          <p:cNvPr id="8" name="TextBox 7"/>
          <p:cNvSpPr txBox="1"/>
          <p:nvPr/>
        </p:nvSpPr>
        <p:spPr>
          <a:xfrm>
            <a:off x="566928" y="3337560"/>
            <a:ext cx="10058400" cy="914400"/>
          </a:xfrm>
          <a:prstGeom prst="rect">
            <a:avLst/>
          </a:prstGeom>
          <a:noFill/>
        </p:spPr>
        <p:txBody>
          <a:bodyPr wrap="square" anchor="t" lIns="0" rIns="0" tIns="0" bIns="0">
            <a:spAutoFit/>
          </a:bodyPr>
          <a:lstStyle/>
          <a:p>
            <a:pPr algn="l">
              <a:lnSpc>
                <a:spcPct val="130000"/>
              </a:lnSpc>
            </a:pPr>
            <a:r>
              <a:rPr sz="1600" b="0" i="1">
                <a:solidFill>
                  <a:srgbClr val="2A2A2A"/>
                </a:solidFill>
                <a:latin typeface="Georgia"/>
              </a:rPr>
              <a:t>This spring Rockville Centre balanced its school budget by cutting ≈22 teaching positions and 40 teaching assistants — in a village whose median household earns $151,938 and whose homes average $819,000.</a:t>
            </a:r>
          </a:p>
        </p:txBody>
      </p:sp>
      <p:sp>
        <p:nvSpPr>
          <p:cNvPr id="9" name="TextBox 8"/>
          <p:cNvSpPr txBox="1"/>
          <p:nvPr/>
        </p:nvSpPr>
        <p:spPr>
          <a:xfrm>
            <a:off x="566928" y="4370832"/>
            <a:ext cx="10424160" cy="1371600"/>
          </a:xfrm>
          <a:prstGeom prst="rect">
            <a:avLst/>
          </a:prstGeom>
          <a:noFill/>
        </p:spPr>
        <p:txBody>
          <a:bodyPr wrap="square" anchor="t" lIns="0" rIns="0" tIns="0" bIns="0">
            <a:spAutoFit/>
          </a:bodyPr>
          <a:lstStyle/>
          <a:p>
            <a:pPr algn="l">
              <a:lnSpc>
                <a:spcPct val="125000"/>
              </a:lnSpc>
            </a:pPr>
            <a:r>
              <a:rPr sz="1250" b="0" i="0">
                <a:solidFill>
                  <a:srgbClr val="2A2A2A"/>
                </a:solidFill>
                <a:latin typeface="Arial"/>
              </a:rPr>
              <a:t>The problem isn't wealth. It's that the homes stopped changing hands: 27.9% of owner households are headed by someone 65+, enrollment is down ~7% in a decade (≈260 students), and the seniors who want to move face federal tax penalties, benefit-timing traps, and missing downsize inventory. </a:t>
            </a:r>
            <a:r>
              <a:rPr sz="1250" b="1" i="0">
                <a:solidFill>
                  <a:srgbClr val="0E1116"/>
                </a:solidFill>
                <a:latin typeface="Arial"/>
              </a:rPr>
              <a:t>Everything proposed here is carrots-only — no senior loses a benefit.</a:t>
            </a:r>
          </a:p>
        </p:txBody>
      </p:sp>
      <p:sp>
        <p:nvSpPr>
          <p:cNvPr id="10" name="Rectangle 9"/>
          <p:cNvSpPr/>
          <p:nvPr/>
        </p:nvSpPr>
        <p:spPr>
          <a:xfrm>
            <a:off x="566928" y="5806440"/>
            <a:ext cx="2194560" cy="279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5989320"/>
            <a:ext cx="10058400" cy="365760"/>
          </a:xfrm>
          <a:prstGeom prst="rect">
            <a:avLst/>
          </a:prstGeom>
          <a:noFill/>
        </p:spPr>
        <p:txBody>
          <a:bodyPr wrap="square" anchor="t" lIns="0" rIns="0" tIns="0" bIns="0">
            <a:spAutoFit/>
          </a:bodyPr>
          <a:lstStyle/>
          <a:p>
            <a:pPr algn="l"/>
            <a:r>
              <a:rPr sz="850" b="0" i="0" spc="160">
                <a:solidFill>
                  <a:srgbClr val="6B6B6B"/>
                </a:solidFill>
                <a:latin typeface="Courier New"/>
              </a:rPr>
              <a:t>PREPARED BY JEFF PINTO · RVC-TAXES.JEFFPINTO.COM · EVERY FIGURE INDEPENDENTLY FACT-CHECKED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Squeeze</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02</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515600" cy="502920"/>
          </a:xfrm>
          <a:prstGeom prst="rect">
            <a:avLst/>
          </a:prstGeom>
          <a:noFill/>
        </p:spPr>
        <p:txBody>
          <a:bodyPr wrap="square" anchor="t" lIns="0" rIns="0" tIns="0" bIns="0">
            <a:spAutoFit/>
          </a:bodyPr>
          <a:lstStyle/>
          <a:p>
            <a:pPr algn="l"/>
            <a:r>
              <a:rPr sz="2700" b="1" i="0">
                <a:solidFill>
                  <a:srgbClr val="0E1116"/>
                </a:solidFill>
                <a:latin typeface="Georgia"/>
              </a:rPr>
              <a:t>What just happened in Rockville Centre's schools</a:t>
            </a:r>
          </a:p>
        </p:txBody>
      </p:sp>
      <p:sp>
        <p:nvSpPr>
          <p:cNvPr id="7" name="TextBox 6"/>
          <p:cNvSpPr txBox="1"/>
          <p:nvPr/>
        </p:nvSpPr>
        <p:spPr>
          <a:xfrm>
            <a:off x="566928" y="1353312"/>
            <a:ext cx="10607040" cy="502920"/>
          </a:xfrm>
          <a:prstGeom prst="rect">
            <a:avLst/>
          </a:prstGeom>
          <a:noFill/>
        </p:spPr>
        <p:txBody>
          <a:bodyPr wrap="square" anchor="t" lIns="0" rIns="0" tIns="0" bIns="0">
            <a:spAutoFit/>
          </a:bodyPr>
          <a:lstStyle/>
          <a:p>
            <a:pPr algn="l">
              <a:lnSpc>
                <a:spcPct val="120000"/>
              </a:lnSpc>
            </a:pPr>
            <a:r>
              <a:rPr sz="1350" b="0" i="1">
                <a:solidFill>
                  <a:srgbClr val="2A2A2A"/>
                </a:solidFill>
                <a:latin typeface="Georgia"/>
              </a:rPr>
              <a:t>An A-rated district — South Side High ranks #611 nationally; graduation 98–99% vs New York's 87% — chose between classrooms and solvency.</a:t>
            </a:r>
          </a:p>
        </p:txBody>
      </p:sp>
      <p:sp>
        <p:nvSpPr>
          <p:cNvPr id="8" name="Rectangle 7"/>
          <p:cNvSpPr/>
          <p:nvPr/>
        </p:nvSpPr>
        <p:spPr>
          <a:xfrm>
            <a:off x="612648" y="2057400"/>
            <a:ext cx="25400" cy="329184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12264"/>
            <a:ext cx="109728"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057400"/>
            <a:ext cx="1828800" cy="274320"/>
          </a:xfrm>
          <a:prstGeom prst="rect">
            <a:avLst/>
          </a:prstGeom>
          <a:noFill/>
        </p:spPr>
        <p:txBody>
          <a:bodyPr wrap="square" anchor="t" lIns="0" rIns="0" tIns="0" bIns="0">
            <a:spAutoFit/>
          </a:bodyPr>
          <a:lstStyle/>
          <a:p>
            <a:pPr algn="l"/>
            <a:r>
              <a:rPr sz="900" b="1" i="0" spc="160">
                <a:solidFill>
                  <a:srgbClr val="1E3A8A"/>
                </a:solidFill>
                <a:latin typeface="Courier New"/>
              </a:rPr>
              <a:t>JAN 29, 2026</a:t>
            </a:r>
          </a:p>
        </p:txBody>
      </p:sp>
      <p:sp>
        <p:nvSpPr>
          <p:cNvPr id="11" name="TextBox 10"/>
          <p:cNvSpPr txBox="1"/>
          <p:nvPr/>
        </p:nvSpPr>
        <p:spPr>
          <a:xfrm>
            <a:off x="2807208" y="2039112"/>
            <a:ext cx="9052560" cy="777240"/>
          </a:xfrm>
          <a:prstGeom prst="rect">
            <a:avLst/>
          </a:prstGeom>
          <a:noFill/>
        </p:spPr>
        <p:txBody>
          <a:bodyPr wrap="square" anchor="t" lIns="0" rIns="0" tIns="0" bIns="0">
            <a:spAutoFit/>
          </a:bodyPr>
          <a:lstStyle/>
          <a:p>
            <a:pPr algn="l">
              <a:lnSpc>
                <a:spcPct val="115000"/>
              </a:lnSpc>
            </a:pPr>
            <a:r>
              <a:rPr sz="1150" b="0" i="0">
                <a:solidFill>
                  <a:srgbClr val="2A2A2A"/>
                </a:solidFill>
                <a:latin typeface="Arial"/>
              </a:rPr>
              <a:t>District projects a $3.78M deficit for 2026-27: health insurance +10% (~$2M), out-of-district special-ed placements projected at $6.38M, total revenue growth only ~1% (~$1.4M).</a:t>
            </a:r>
          </a:p>
        </p:txBody>
      </p:sp>
      <p:sp>
        <p:nvSpPr>
          <p:cNvPr id="12" name="Rectangle 11"/>
          <p:cNvSpPr/>
          <p:nvPr/>
        </p:nvSpPr>
        <p:spPr>
          <a:xfrm>
            <a:off x="566928" y="2953512"/>
            <a:ext cx="109728"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2898648"/>
            <a:ext cx="1828800" cy="274320"/>
          </a:xfrm>
          <a:prstGeom prst="rect">
            <a:avLst/>
          </a:prstGeom>
          <a:noFill/>
        </p:spPr>
        <p:txBody>
          <a:bodyPr wrap="square" anchor="t" lIns="0" rIns="0" tIns="0" bIns="0">
            <a:spAutoFit/>
          </a:bodyPr>
          <a:lstStyle/>
          <a:p>
            <a:pPr algn="l"/>
            <a:r>
              <a:rPr sz="900" b="1" i="0" spc="160">
                <a:solidFill>
                  <a:srgbClr val="1E3A8A"/>
                </a:solidFill>
                <a:latin typeface="Courier New"/>
              </a:rPr>
              <a:t>MAR 2026</a:t>
            </a:r>
          </a:p>
        </p:txBody>
      </p:sp>
      <p:sp>
        <p:nvSpPr>
          <p:cNvPr id="14" name="TextBox 13"/>
          <p:cNvSpPr txBox="1"/>
          <p:nvPr/>
        </p:nvSpPr>
        <p:spPr>
          <a:xfrm>
            <a:off x="2807208" y="2880360"/>
            <a:ext cx="9052560" cy="777240"/>
          </a:xfrm>
          <a:prstGeom prst="rect">
            <a:avLst/>
          </a:prstGeom>
          <a:noFill/>
        </p:spPr>
        <p:txBody>
          <a:bodyPr wrap="square" anchor="t" lIns="0" rIns="0" tIns="0" bIns="0">
            <a:spAutoFit/>
          </a:bodyPr>
          <a:lstStyle/>
          <a:p>
            <a:pPr algn="l">
              <a:lnSpc>
                <a:spcPct val="115000"/>
              </a:lnSpc>
            </a:pPr>
            <a:r>
              <a:rPr sz="1150" b="0" i="0">
                <a:solidFill>
                  <a:srgbClr val="2A2A2A"/>
                </a:solidFill>
                <a:latin typeface="Arial"/>
              </a:rPr>
              <a:t>Final state levy cap lands at ≈2.1%. Reserves are thin: unappropriated fund balance $4.8M — 3.5% of budget against the 4% statutory ceiling; appropriated fund balance falling $2.8M → $1.6M.</a:t>
            </a:r>
          </a:p>
        </p:txBody>
      </p:sp>
      <p:sp>
        <p:nvSpPr>
          <p:cNvPr id="15" name="Rectangle 14"/>
          <p:cNvSpPr/>
          <p:nvPr/>
        </p:nvSpPr>
        <p:spPr>
          <a:xfrm>
            <a:off x="566928" y="3794760"/>
            <a:ext cx="109728"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739896"/>
            <a:ext cx="1828800" cy="274320"/>
          </a:xfrm>
          <a:prstGeom prst="rect">
            <a:avLst/>
          </a:prstGeom>
          <a:noFill/>
        </p:spPr>
        <p:txBody>
          <a:bodyPr wrap="square" anchor="t" lIns="0" rIns="0" tIns="0" bIns="0">
            <a:spAutoFit/>
          </a:bodyPr>
          <a:lstStyle/>
          <a:p>
            <a:pPr algn="l"/>
            <a:r>
              <a:rPr sz="900" b="1" i="0" spc="160">
                <a:solidFill>
                  <a:srgbClr val="1E3A8A"/>
                </a:solidFill>
                <a:latin typeface="Courier New"/>
              </a:rPr>
              <a:t>APR 16, 2026</a:t>
            </a:r>
          </a:p>
        </p:txBody>
      </p:sp>
      <p:sp>
        <p:nvSpPr>
          <p:cNvPr id="17" name="TextBox 16"/>
          <p:cNvSpPr txBox="1"/>
          <p:nvPr/>
        </p:nvSpPr>
        <p:spPr>
          <a:xfrm>
            <a:off x="2807208" y="3721608"/>
            <a:ext cx="9052560" cy="777240"/>
          </a:xfrm>
          <a:prstGeom prst="rect">
            <a:avLst/>
          </a:prstGeom>
          <a:noFill/>
        </p:spPr>
        <p:txBody>
          <a:bodyPr wrap="square" anchor="t" lIns="0" rIns="0" tIns="0" bIns="0">
            <a:spAutoFit/>
          </a:bodyPr>
          <a:lstStyle/>
          <a:p>
            <a:pPr algn="l">
              <a:lnSpc>
                <a:spcPct val="115000"/>
              </a:lnSpc>
            </a:pPr>
            <a:r>
              <a:rPr sz="1150" b="0" i="0">
                <a:solidFill>
                  <a:srgbClr val="2A2A2A"/>
                </a:solidFill>
                <a:latin typeface="Arial"/>
              </a:rPr>
              <a:t>Board adopts a $141.32M budget (+1.03%) closing the gap chiefly by eliminating ≈22.2 teaching positions and 40 teaching-assistant positions.</a:t>
            </a:r>
          </a:p>
        </p:txBody>
      </p:sp>
      <p:sp>
        <p:nvSpPr>
          <p:cNvPr id="18" name="Rectangle 17"/>
          <p:cNvSpPr/>
          <p:nvPr/>
        </p:nvSpPr>
        <p:spPr>
          <a:xfrm>
            <a:off x="566928" y="4636008"/>
            <a:ext cx="109728" cy="109728"/>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581144"/>
            <a:ext cx="1828800" cy="274320"/>
          </a:xfrm>
          <a:prstGeom prst="rect">
            <a:avLst/>
          </a:prstGeom>
          <a:noFill/>
        </p:spPr>
        <p:txBody>
          <a:bodyPr wrap="square" anchor="t" lIns="0" rIns="0" tIns="0" bIns="0">
            <a:spAutoFit/>
          </a:bodyPr>
          <a:lstStyle/>
          <a:p>
            <a:pPr algn="l"/>
            <a:r>
              <a:rPr sz="900" b="1" i="0" spc="160">
                <a:solidFill>
                  <a:srgbClr val="1E3A8A"/>
                </a:solidFill>
                <a:latin typeface="Courier New"/>
              </a:rPr>
              <a:t>MAY 19, 2026</a:t>
            </a:r>
          </a:p>
        </p:txBody>
      </p:sp>
      <p:sp>
        <p:nvSpPr>
          <p:cNvPr id="20" name="TextBox 19"/>
          <p:cNvSpPr txBox="1"/>
          <p:nvPr/>
        </p:nvSpPr>
        <p:spPr>
          <a:xfrm>
            <a:off x="2807208" y="4562856"/>
            <a:ext cx="9052560" cy="777240"/>
          </a:xfrm>
          <a:prstGeom prst="rect">
            <a:avLst/>
          </a:prstGeom>
          <a:noFill/>
        </p:spPr>
        <p:txBody>
          <a:bodyPr wrap="square" anchor="t" lIns="0" rIns="0" tIns="0" bIns="0">
            <a:spAutoFit/>
          </a:bodyPr>
          <a:lstStyle/>
          <a:p>
            <a:pPr algn="l">
              <a:lnSpc>
                <a:spcPct val="115000"/>
              </a:lnSpc>
            </a:pPr>
            <a:r>
              <a:rPr sz="1150" b="0" i="0">
                <a:solidFill>
                  <a:srgbClr val="2A2A2A"/>
                </a:solidFill>
                <a:latin typeface="Arial"/>
              </a:rPr>
              <a:t>Voters approve it 1,915–1,195.</a:t>
            </a:r>
          </a:p>
        </p:txBody>
      </p:sp>
      <p:sp>
        <p:nvSpPr>
          <p:cNvPr id="21" name="Rectangle 20"/>
          <p:cNvSpPr/>
          <p:nvPr/>
        </p:nvSpPr>
        <p:spPr>
          <a:xfrm>
            <a:off x="566928" y="5504688"/>
            <a:ext cx="11057839" cy="749808"/>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5614416"/>
            <a:ext cx="10607040" cy="548640"/>
          </a:xfrm>
          <a:prstGeom prst="rect">
            <a:avLst/>
          </a:prstGeom>
          <a:noFill/>
        </p:spPr>
        <p:txBody>
          <a:bodyPr wrap="square" anchor="t" lIns="0" rIns="0" tIns="0" bIns="0">
            <a:spAutoFit/>
          </a:bodyPr>
          <a:lstStyle/>
          <a:p>
            <a:pPr algn="l">
              <a:lnSpc>
                <a:spcPct val="115000"/>
              </a:lnSpc>
            </a:pPr>
            <a:r>
              <a:rPr sz="850" b="1" i="0" spc="160">
                <a:solidFill>
                  <a:srgbClr val="9DB4E8"/>
                </a:solidFill>
                <a:latin typeface="Courier New"/>
              </a:rPr>
              <a:t>STRUCTURAL, NOT CYCLICAL   </a:t>
            </a:r>
            <a:r>
              <a:rPr sz="1150" b="0" i="0">
                <a:solidFill>
                  <a:srgbClr val="F1ECE2"/>
                </a:solidFill>
                <a:latin typeface="Arial"/>
              </a:rPr>
              <a:t>Costs compound faster than the ~2% levy cap + ~15% state aid. A district can cut its way through one year, not a decade. The 2026-27 cuts are what “do nothing about housing” looks like.</a:t>
            </a:r>
          </a:p>
        </p:txBody>
      </p:sp>
      <p:sp>
        <p:nvSpPr>
          <p:cNvPr id="23" name="Rectangle 22"/>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SOURCES: LI HERALD JAN–MAY 2026 · NYSED · OSC — FULL CITATIONS IN APPENDIX</a:t>
            </a:r>
          </a:p>
        </p:txBody>
      </p:sp>
      <p:sp>
        <p:nvSpPr>
          <p:cNvPr id="25" name="TextBox 24"/>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Squeeze</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03</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515600" cy="502920"/>
          </a:xfrm>
          <a:prstGeom prst="rect">
            <a:avLst/>
          </a:prstGeom>
          <a:noFill/>
        </p:spPr>
        <p:txBody>
          <a:bodyPr wrap="square" anchor="t" lIns="0" rIns="0" tIns="0" bIns="0">
            <a:spAutoFit/>
          </a:bodyPr>
          <a:lstStyle/>
          <a:p>
            <a:pPr algn="l"/>
            <a:r>
              <a:rPr sz="2700" b="1" i="0">
                <a:solidFill>
                  <a:srgbClr val="0E1116"/>
                </a:solidFill>
                <a:latin typeface="Georgia"/>
              </a:rPr>
              <a:t>The squeeze, in four numbers</a:t>
            </a:r>
          </a:p>
        </p:txBody>
      </p:sp>
      <p:sp>
        <p:nvSpPr>
          <p:cNvPr id="7" name="Rectangle 6"/>
          <p:cNvSpPr/>
          <p:nvPr/>
        </p:nvSpPr>
        <p:spPr>
          <a:xfrm>
            <a:off x="566928" y="160020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9164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01 · POSITIONS CUT</a:t>
            </a:r>
          </a:p>
        </p:txBody>
      </p:sp>
      <p:sp>
        <p:nvSpPr>
          <p:cNvPr id="9" name="TextBox 8"/>
          <p:cNvSpPr txBox="1"/>
          <p:nvPr/>
        </p:nvSpPr>
        <p:spPr>
          <a:xfrm>
            <a:off x="566928" y="1929384"/>
            <a:ext cx="2512999" cy="566928"/>
          </a:xfrm>
          <a:prstGeom prst="rect">
            <a:avLst/>
          </a:prstGeom>
          <a:noFill/>
        </p:spPr>
        <p:txBody>
          <a:bodyPr wrap="square" anchor="t" lIns="0" rIns="0" tIns="0" bIns="0">
            <a:spAutoFit/>
          </a:bodyPr>
          <a:lstStyle/>
          <a:p>
            <a:pPr algn="l"/>
            <a:r>
              <a:rPr sz="3400" b="1" i="0">
                <a:solidFill>
                  <a:srgbClr val="0E1116"/>
                </a:solidFill>
                <a:latin typeface="Georgia"/>
              </a:rPr>
              <a:t>−62</a:t>
            </a:r>
          </a:p>
        </p:txBody>
      </p:sp>
      <p:sp>
        <p:nvSpPr>
          <p:cNvPr id="10" name="TextBox 9"/>
          <p:cNvSpPr txBox="1"/>
          <p:nvPr/>
        </p:nvSpPr>
        <p:spPr>
          <a:xfrm>
            <a:off x="566928" y="245973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Teaching + TA positions eliminated to balance the 2026-27 budget</a:t>
            </a:r>
          </a:p>
        </p:txBody>
      </p:sp>
      <p:sp>
        <p:nvSpPr>
          <p:cNvPr id="11" name="TextBox 10"/>
          <p:cNvSpPr txBox="1"/>
          <p:nvPr/>
        </p:nvSpPr>
        <p:spPr>
          <a:xfrm>
            <a:off x="566928" y="317296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LI HERALD · APR 2026</a:t>
            </a:r>
          </a:p>
        </p:txBody>
      </p:sp>
      <p:sp>
        <p:nvSpPr>
          <p:cNvPr id="12" name="Rectangle 11"/>
          <p:cNvSpPr/>
          <p:nvPr/>
        </p:nvSpPr>
        <p:spPr>
          <a:xfrm>
            <a:off x="3399967" y="160020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9967" y="169164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02 · ENROLLMENT</a:t>
            </a:r>
          </a:p>
        </p:txBody>
      </p:sp>
      <p:sp>
        <p:nvSpPr>
          <p:cNvPr id="14" name="TextBox 13"/>
          <p:cNvSpPr txBox="1"/>
          <p:nvPr/>
        </p:nvSpPr>
        <p:spPr>
          <a:xfrm>
            <a:off x="3399967" y="1929384"/>
            <a:ext cx="2512999" cy="566928"/>
          </a:xfrm>
          <a:prstGeom prst="rect">
            <a:avLst/>
          </a:prstGeom>
          <a:noFill/>
        </p:spPr>
        <p:txBody>
          <a:bodyPr wrap="square" anchor="t" lIns="0" rIns="0" tIns="0" bIns="0">
            <a:spAutoFit/>
          </a:bodyPr>
          <a:lstStyle/>
          <a:p>
            <a:pPr algn="l"/>
            <a:r>
              <a:rPr sz="3400" b="1" i="0">
                <a:solidFill>
                  <a:srgbClr val="0E1116"/>
                </a:solidFill>
                <a:latin typeface="Georgia"/>
              </a:rPr>
              <a:t>−7</a:t>
            </a:r>
            <a:r>
              <a:rPr sz="1700" b="0" i="1">
                <a:solidFill>
                  <a:srgbClr val="1E3A8A"/>
                </a:solidFill>
                <a:latin typeface="Georgia"/>
              </a:rPr>
              <a:t> %</a:t>
            </a:r>
          </a:p>
        </p:txBody>
      </p:sp>
      <p:sp>
        <p:nvSpPr>
          <p:cNvPr id="15" name="TextBox 14"/>
          <p:cNvSpPr txBox="1"/>
          <p:nvPr/>
        </p:nvSpPr>
        <p:spPr>
          <a:xfrm>
            <a:off x="3399967" y="245973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K-12 since 2015-16 (3,533 → 3,276; 3,260 projected for 2026-27)</a:t>
            </a:r>
          </a:p>
        </p:txBody>
      </p:sp>
      <p:sp>
        <p:nvSpPr>
          <p:cNvPr id="16" name="TextBox 15"/>
          <p:cNvSpPr txBox="1"/>
          <p:nvPr/>
        </p:nvSpPr>
        <p:spPr>
          <a:xfrm>
            <a:off x="3399967" y="317296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NYSED</a:t>
            </a:r>
          </a:p>
        </p:txBody>
      </p:sp>
      <p:sp>
        <p:nvSpPr>
          <p:cNvPr id="17" name="Rectangle 16"/>
          <p:cNvSpPr/>
          <p:nvPr/>
        </p:nvSpPr>
        <p:spPr>
          <a:xfrm>
            <a:off x="6233007" y="160020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3007" y="169164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03 · REVENUE</a:t>
            </a:r>
          </a:p>
        </p:txBody>
      </p:sp>
      <p:sp>
        <p:nvSpPr>
          <p:cNvPr id="19" name="TextBox 18"/>
          <p:cNvSpPr txBox="1"/>
          <p:nvPr/>
        </p:nvSpPr>
        <p:spPr>
          <a:xfrm>
            <a:off x="6233007" y="1929384"/>
            <a:ext cx="2512999" cy="566928"/>
          </a:xfrm>
          <a:prstGeom prst="rect">
            <a:avLst/>
          </a:prstGeom>
          <a:noFill/>
        </p:spPr>
        <p:txBody>
          <a:bodyPr wrap="square" anchor="t" lIns="0" rIns="0" tIns="0" bIns="0">
            <a:spAutoFit/>
          </a:bodyPr>
          <a:lstStyle/>
          <a:p>
            <a:pPr algn="l"/>
            <a:r>
              <a:rPr sz="3400" b="1" i="0">
                <a:solidFill>
                  <a:srgbClr val="0E1116"/>
                </a:solidFill>
                <a:latin typeface="Georgia"/>
              </a:rPr>
              <a:t>+1</a:t>
            </a:r>
            <a:r>
              <a:rPr sz="1700" b="0" i="1">
                <a:solidFill>
                  <a:srgbClr val="1E3A8A"/>
                </a:solidFill>
                <a:latin typeface="Georgia"/>
              </a:rPr>
              <a:t> %</a:t>
            </a:r>
          </a:p>
        </p:txBody>
      </p:sp>
      <p:sp>
        <p:nvSpPr>
          <p:cNvPr id="20" name="TextBox 19"/>
          <p:cNvSpPr txBox="1"/>
          <p:nvPr/>
        </p:nvSpPr>
        <p:spPr>
          <a:xfrm>
            <a:off x="6233007" y="245973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Total revenue growth — against +$2M for health insurance alone</a:t>
            </a:r>
          </a:p>
        </p:txBody>
      </p:sp>
      <p:sp>
        <p:nvSpPr>
          <p:cNvPr id="21" name="TextBox 20"/>
          <p:cNvSpPr txBox="1"/>
          <p:nvPr/>
        </p:nvSpPr>
        <p:spPr>
          <a:xfrm>
            <a:off x="6233007" y="317296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DISTRICT · MAR 2026</a:t>
            </a:r>
          </a:p>
        </p:txBody>
      </p:sp>
      <p:sp>
        <p:nvSpPr>
          <p:cNvPr id="22" name="Rectangle 21"/>
          <p:cNvSpPr/>
          <p:nvPr/>
        </p:nvSpPr>
        <p:spPr>
          <a:xfrm>
            <a:off x="9066047" y="160020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66047" y="169164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04 · RESERVES</a:t>
            </a:r>
          </a:p>
        </p:txBody>
      </p:sp>
      <p:sp>
        <p:nvSpPr>
          <p:cNvPr id="24" name="TextBox 23"/>
          <p:cNvSpPr txBox="1"/>
          <p:nvPr/>
        </p:nvSpPr>
        <p:spPr>
          <a:xfrm>
            <a:off x="9066047" y="1929384"/>
            <a:ext cx="2512999" cy="566928"/>
          </a:xfrm>
          <a:prstGeom prst="rect">
            <a:avLst/>
          </a:prstGeom>
          <a:noFill/>
        </p:spPr>
        <p:txBody>
          <a:bodyPr wrap="square" anchor="t" lIns="0" rIns="0" tIns="0" bIns="0">
            <a:spAutoFit/>
          </a:bodyPr>
          <a:lstStyle/>
          <a:p>
            <a:pPr algn="l"/>
            <a:r>
              <a:rPr sz="3400" b="1" i="0">
                <a:solidFill>
                  <a:srgbClr val="0E1116"/>
                </a:solidFill>
                <a:latin typeface="Georgia"/>
              </a:rPr>
              <a:t>3.5</a:t>
            </a:r>
            <a:r>
              <a:rPr sz="1700" b="0" i="1">
                <a:solidFill>
                  <a:srgbClr val="1E3A8A"/>
                </a:solidFill>
                <a:latin typeface="Georgia"/>
              </a:rPr>
              <a:t> %</a:t>
            </a:r>
          </a:p>
        </p:txBody>
      </p:sp>
      <p:sp>
        <p:nvSpPr>
          <p:cNvPr id="25" name="TextBox 24"/>
          <p:cNvSpPr txBox="1"/>
          <p:nvPr/>
        </p:nvSpPr>
        <p:spPr>
          <a:xfrm>
            <a:off x="9066047" y="245973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Unappropriated fund balance; the statutory ceiling is 4%</a:t>
            </a:r>
          </a:p>
        </p:txBody>
      </p:sp>
      <p:sp>
        <p:nvSpPr>
          <p:cNvPr id="26" name="TextBox 25"/>
          <p:cNvSpPr txBox="1"/>
          <p:nvPr/>
        </p:nvSpPr>
        <p:spPr>
          <a:xfrm>
            <a:off x="9066047" y="317296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ASST. SUPT. · FEB 2026</a:t>
            </a:r>
          </a:p>
        </p:txBody>
      </p:sp>
      <p:sp>
        <p:nvSpPr>
          <p:cNvPr id="27" name="TextBox 26"/>
          <p:cNvSpPr txBox="1"/>
          <p:nvPr/>
        </p:nvSpPr>
        <p:spPr>
          <a:xfrm>
            <a:off x="566928" y="3767328"/>
            <a:ext cx="10789920" cy="685800"/>
          </a:xfrm>
          <a:prstGeom prst="rect">
            <a:avLst/>
          </a:prstGeom>
          <a:noFill/>
        </p:spPr>
        <p:txBody>
          <a:bodyPr wrap="square" anchor="t" lIns="0" rIns="0" tIns="0" bIns="0">
            <a:spAutoFit/>
          </a:bodyPr>
          <a:lstStyle/>
          <a:p>
            <a:pPr algn="l">
              <a:lnSpc>
                <a:spcPct val="125000"/>
              </a:lnSpc>
            </a:pPr>
            <a:r>
              <a:rPr sz="1200" b="0" i="0">
                <a:solidFill>
                  <a:srgbClr val="2A2A2A"/>
                </a:solidFill>
                <a:latin typeface="Arial"/>
              </a:rPr>
              <a:t>Quality is not the question — NYSED's official per-pupil expenditure is $37,973 (2023-24), near the top of the peer set, and the results show it. </a:t>
            </a:r>
            <a:r>
              <a:rPr sz="1200" b="1" i="0">
                <a:solidFill>
                  <a:srgbClr val="0E1116"/>
                </a:solidFill>
                <a:latin typeface="Arial"/>
              </a:rPr>
              <a:t>The question is whether a shrinking, aging base of families can keep voting for it.</a:t>
            </a:r>
          </a:p>
        </p:txBody>
      </p:sp>
      <p:sp>
        <p:nvSpPr>
          <p:cNvPr id="28" name="Rectangle 27"/>
          <p:cNvSpPr/>
          <p:nvPr/>
        </p:nvSpPr>
        <p:spPr>
          <a:xfrm>
            <a:off x="566928" y="4617720"/>
            <a:ext cx="11057839" cy="155448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4773168"/>
            <a:ext cx="10698480" cy="320040"/>
          </a:xfrm>
          <a:prstGeom prst="rect">
            <a:avLst/>
          </a:prstGeom>
          <a:noFill/>
        </p:spPr>
        <p:txBody>
          <a:bodyPr wrap="square" anchor="t" lIns="0" rIns="0" tIns="0" bIns="0">
            <a:spAutoFit/>
          </a:bodyPr>
          <a:lstStyle/>
          <a:p>
            <a:pPr algn="l"/>
            <a:r>
              <a:rPr sz="950" b="1" i="0" spc="160">
                <a:solidFill>
                  <a:srgbClr val="9DB4E8"/>
                </a:solidFill>
                <a:latin typeface="Courier New"/>
              </a:rPr>
              <a:t>THE BURNING PLATFORM</a:t>
            </a:r>
          </a:p>
        </p:txBody>
      </p:sp>
      <p:sp>
        <p:nvSpPr>
          <p:cNvPr id="30" name="TextBox 29"/>
          <p:cNvSpPr txBox="1"/>
          <p:nvPr/>
        </p:nvSpPr>
        <p:spPr>
          <a:xfrm>
            <a:off x="795528" y="5102352"/>
            <a:ext cx="10698480" cy="960120"/>
          </a:xfrm>
          <a:prstGeom prst="rect">
            <a:avLst/>
          </a:prstGeom>
          <a:noFill/>
        </p:spPr>
        <p:txBody>
          <a:bodyPr wrap="square" anchor="t" lIns="0" rIns="0" tIns="0" bIns="0">
            <a:spAutoFit/>
          </a:bodyPr>
          <a:lstStyle/>
          <a:p>
            <a:pPr algn="l">
              <a:lnSpc>
                <a:spcPct val="120000"/>
              </a:lnSpc>
            </a:pPr>
            <a:r>
              <a:rPr sz="1700" b="1" i="0">
                <a:solidFill>
                  <a:srgbClr val="F1ECE2"/>
                </a:solidFill>
                <a:latin typeface="Georgia"/>
              </a:rPr>
              <a:t>Nassau's school districts were built and staffed for more young families per capita than the population has aged into.</a:t>
            </a:r>
          </a:p>
          <a:p>
            <a:pPr algn="l">
              <a:lnSpc>
                <a:spcPct val="120000"/>
              </a:lnSpc>
            </a:pPr>
            <a:r>
              <a:rPr sz="1150" b="0" i="0">
                <a:solidFill>
                  <a:srgbClr val="D8D3C6"/>
                </a:solidFill>
                <a:latin typeface="Arial"/>
              </a:rPr>
              <a:t>Under a 2% levy cap, that mismatch balances only three ways: override votes, recurring cuts, or a bigger physical tax base. There is no fourth option.</a:t>
            </a:r>
          </a:p>
        </p:txBody>
      </p:sp>
      <p:sp>
        <p:nvSpPr>
          <p:cNvPr id="31" name="Rectangle 30"/>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NYSED FINANCIAL TRANSPARENCY 2023-24 · LI HERALD VOTE RESULTS</a:t>
            </a:r>
          </a:p>
        </p:txBody>
      </p:sp>
      <p:sp>
        <p:nvSpPr>
          <p:cNvPr id="33" name="TextBox 32"/>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Squeeze</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04</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515600" cy="502920"/>
          </a:xfrm>
          <a:prstGeom prst="rect">
            <a:avLst/>
          </a:prstGeom>
          <a:noFill/>
        </p:spPr>
        <p:txBody>
          <a:bodyPr wrap="square" anchor="t" lIns="0" rIns="0" tIns="0" bIns="0">
            <a:spAutoFit/>
          </a:bodyPr>
          <a:lstStyle/>
          <a:p>
            <a:pPr algn="l"/>
            <a:r>
              <a:rPr sz="2700" b="1" i="0">
                <a:solidFill>
                  <a:srgbClr val="0E1116"/>
                </a:solidFill>
                <a:latin typeface="Georgia"/>
              </a:rPr>
              <a:t>Rockville Centre is the rule, not the exception</a:t>
            </a:r>
          </a:p>
        </p:txBody>
      </p:sp>
      <p:sp>
        <p:nvSpPr>
          <p:cNvPr id="7" name="Rectangle 6"/>
          <p:cNvSpPr/>
          <p:nvPr/>
        </p:nvSpPr>
        <p:spPr>
          <a:xfrm>
            <a:off x="566928" y="1554480"/>
            <a:ext cx="3383280"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45920"/>
            <a:ext cx="3291840"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NASSAU BOCES</a:t>
            </a:r>
          </a:p>
        </p:txBody>
      </p:sp>
      <p:sp>
        <p:nvSpPr>
          <p:cNvPr id="9" name="TextBox 8"/>
          <p:cNvSpPr txBox="1"/>
          <p:nvPr/>
        </p:nvSpPr>
        <p:spPr>
          <a:xfrm>
            <a:off x="566928" y="1883664"/>
            <a:ext cx="3337560" cy="566928"/>
          </a:xfrm>
          <a:prstGeom prst="rect">
            <a:avLst/>
          </a:prstGeom>
          <a:noFill/>
        </p:spPr>
        <p:txBody>
          <a:bodyPr wrap="square" anchor="t" lIns="0" rIns="0" tIns="0" bIns="0">
            <a:spAutoFit/>
          </a:bodyPr>
          <a:lstStyle/>
          <a:p>
            <a:pPr algn="l"/>
            <a:r>
              <a:rPr sz="4000" b="1" i="0">
                <a:solidFill>
                  <a:srgbClr val="0E1116"/>
                </a:solidFill>
                <a:latin typeface="Georgia"/>
              </a:rPr>
              <a:t>61</a:t>
            </a:r>
            <a:r>
              <a:rPr sz="2000" b="0" i="1">
                <a:solidFill>
                  <a:srgbClr val="1E3A8A"/>
                </a:solidFill>
                <a:latin typeface="Georgia"/>
              </a:rPr>
              <a:t> %</a:t>
            </a:r>
          </a:p>
        </p:txBody>
      </p:sp>
      <p:sp>
        <p:nvSpPr>
          <p:cNvPr id="10" name="TextBox 9"/>
          <p:cNvSpPr txBox="1"/>
          <p:nvPr/>
        </p:nvSpPr>
        <p:spPr>
          <a:xfrm>
            <a:off x="566928" y="2414016"/>
            <a:ext cx="3273552"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Of Nassau's 56 school districts lost enrollment over the past decade</a:t>
            </a:r>
          </a:p>
        </p:txBody>
      </p:sp>
      <p:sp>
        <p:nvSpPr>
          <p:cNvPr id="11" name="TextBox 10"/>
          <p:cNvSpPr txBox="1"/>
          <p:nvPr/>
        </p:nvSpPr>
        <p:spPr>
          <a:xfrm>
            <a:off x="566928" y="3127248"/>
            <a:ext cx="3291840" cy="201168"/>
          </a:xfrm>
          <a:prstGeom prst="rect">
            <a:avLst/>
          </a:prstGeom>
          <a:noFill/>
        </p:spPr>
        <p:txBody>
          <a:bodyPr wrap="square" anchor="t" lIns="0" rIns="0" tIns="0" bIns="0">
            <a:spAutoFit/>
          </a:bodyPr>
          <a:lstStyle/>
          <a:p>
            <a:pPr algn="l"/>
            <a:r>
              <a:rPr sz="700" b="0" i="0" spc="160">
                <a:solidFill>
                  <a:srgbClr val="6B6B6B"/>
                </a:solidFill>
                <a:latin typeface="Courier New"/>
              </a:rPr>
              <a:t>LI HERALD · APR 2025</a:t>
            </a:r>
          </a:p>
        </p:txBody>
      </p:sp>
      <p:sp>
        <p:nvSpPr>
          <p:cNvPr id="12" name="Rectangle 11"/>
          <p:cNvSpPr/>
          <p:nvPr/>
        </p:nvSpPr>
        <p:spPr>
          <a:xfrm>
            <a:off x="4224528" y="1554480"/>
            <a:ext cx="3383280"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24528" y="1645920"/>
            <a:ext cx="3291840"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W. SUFFOLK BOCES</a:t>
            </a:r>
          </a:p>
        </p:txBody>
      </p:sp>
      <p:sp>
        <p:nvSpPr>
          <p:cNvPr id="14" name="TextBox 13"/>
          <p:cNvSpPr txBox="1"/>
          <p:nvPr/>
        </p:nvSpPr>
        <p:spPr>
          <a:xfrm>
            <a:off x="4224528" y="1883664"/>
            <a:ext cx="3337560" cy="566928"/>
          </a:xfrm>
          <a:prstGeom prst="rect">
            <a:avLst/>
          </a:prstGeom>
          <a:noFill/>
        </p:spPr>
        <p:txBody>
          <a:bodyPr wrap="square" anchor="t" lIns="0" rIns="0" tIns="0" bIns="0">
            <a:spAutoFit/>
          </a:bodyPr>
          <a:lstStyle/>
          <a:p>
            <a:pPr algn="l"/>
            <a:r>
              <a:rPr sz="4000" b="1" i="0">
                <a:solidFill>
                  <a:srgbClr val="0E1116"/>
                </a:solidFill>
                <a:latin typeface="Georgia"/>
              </a:rPr>
              <a:t>−6.3</a:t>
            </a:r>
            <a:r>
              <a:rPr sz="2000" b="0" i="1">
                <a:solidFill>
                  <a:srgbClr val="1E3A8A"/>
                </a:solidFill>
                <a:latin typeface="Georgia"/>
              </a:rPr>
              <a:t> %</a:t>
            </a:r>
          </a:p>
        </p:txBody>
      </p:sp>
      <p:sp>
        <p:nvSpPr>
          <p:cNvPr id="15" name="TextBox 14"/>
          <p:cNvSpPr txBox="1"/>
          <p:nvPr/>
        </p:nvSpPr>
        <p:spPr>
          <a:xfrm>
            <a:off x="4224528" y="2414016"/>
            <a:ext cx="3273552"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Long Island public-school enrollment since 2017 (Nassau −4.0%)</a:t>
            </a:r>
          </a:p>
        </p:txBody>
      </p:sp>
      <p:sp>
        <p:nvSpPr>
          <p:cNvPr id="16" name="TextBox 15"/>
          <p:cNvSpPr txBox="1"/>
          <p:nvPr/>
        </p:nvSpPr>
        <p:spPr>
          <a:xfrm>
            <a:off x="4224528" y="3127248"/>
            <a:ext cx="3291840" cy="201168"/>
          </a:xfrm>
          <a:prstGeom prst="rect">
            <a:avLst/>
          </a:prstGeom>
          <a:noFill/>
        </p:spPr>
        <p:txBody>
          <a:bodyPr wrap="square" anchor="t" lIns="0" rIns="0" tIns="0" bIns="0">
            <a:spAutoFit/>
          </a:bodyPr>
          <a:lstStyle/>
          <a:p>
            <a:pPr algn="l"/>
            <a:r>
              <a:rPr sz="700" b="0" i="0" spc="160">
                <a:solidFill>
                  <a:srgbClr val="6B6B6B"/>
                </a:solidFill>
                <a:latin typeface="Courier New"/>
              </a:rPr>
              <a:t>BI-COUNTY STUDY · 2024</a:t>
            </a:r>
          </a:p>
        </p:txBody>
      </p:sp>
      <p:sp>
        <p:nvSpPr>
          <p:cNvPr id="17" name="Rectangle 16"/>
          <p:cNvSpPr/>
          <p:nvPr/>
        </p:nvSpPr>
        <p:spPr>
          <a:xfrm>
            <a:off x="7882128" y="1554480"/>
            <a:ext cx="3703320"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82128" y="1645920"/>
            <a:ext cx="3611880"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NEXT DOOR</a:t>
            </a:r>
          </a:p>
        </p:txBody>
      </p:sp>
      <p:sp>
        <p:nvSpPr>
          <p:cNvPr id="19" name="TextBox 18"/>
          <p:cNvSpPr txBox="1"/>
          <p:nvPr/>
        </p:nvSpPr>
        <p:spPr>
          <a:xfrm>
            <a:off x="7882128" y="1883664"/>
            <a:ext cx="3657600" cy="566928"/>
          </a:xfrm>
          <a:prstGeom prst="rect">
            <a:avLst/>
          </a:prstGeom>
          <a:noFill/>
        </p:spPr>
        <p:txBody>
          <a:bodyPr wrap="square" anchor="t" lIns="0" rIns="0" tIns="0" bIns="0">
            <a:spAutoFit/>
          </a:bodyPr>
          <a:lstStyle/>
          <a:p>
            <a:pPr algn="l"/>
            <a:r>
              <a:rPr sz="4000" b="1" i="0">
                <a:solidFill>
                  <a:srgbClr val="0E1116"/>
                </a:solidFill>
                <a:latin typeface="Georgia"/>
              </a:rPr>
              <a:t>−16.5</a:t>
            </a:r>
            <a:r>
              <a:rPr sz="2000" b="0" i="1">
                <a:solidFill>
                  <a:srgbClr val="1E3A8A"/>
                </a:solidFill>
                <a:latin typeface="Georgia"/>
              </a:rPr>
              <a:t> %</a:t>
            </a:r>
          </a:p>
        </p:txBody>
      </p:sp>
      <p:sp>
        <p:nvSpPr>
          <p:cNvPr id="20" name="TextBox 19"/>
          <p:cNvSpPr txBox="1"/>
          <p:nvPr/>
        </p:nvSpPr>
        <p:spPr>
          <a:xfrm>
            <a:off x="7882128" y="2414016"/>
            <a:ext cx="3593592"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Oyster Bay–East Norwich enrollment since 2015-16; Hewlett-Woodmere cut 11 teaching positions for 2025-26</a:t>
            </a:r>
          </a:p>
        </p:txBody>
      </p:sp>
      <p:sp>
        <p:nvSpPr>
          <p:cNvPr id="21" name="TextBox 20"/>
          <p:cNvSpPr txBox="1"/>
          <p:nvPr/>
        </p:nvSpPr>
        <p:spPr>
          <a:xfrm>
            <a:off x="7882128" y="3127248"/>
            <a:ext cx="3611880" cy="201168"/>
          </a:xfrm>
          <a:prstGeom prst="rect">
            <a:avLst/>
          </a:prstGeom>
          <a:noFill/>
        </p:spPr>
        <p:txBody>
          <a:bodyPr wrap="square" anchor="t" lIns="0" rIns="0" tIns="0" bIns="0">
            <a:spAutoFit/>
          </a:bodyPr>
          <a:lstStyle/>
          <a:p>
            <a:pPr algn="l"/>
            <a:r>
              <a:rPr sz="700" b="0" i="0" spc="160">
                <a:solidFill>
                  <a:srgbClr val="6B6B6B"/>
                </a:solidFill>
                <a:latin typeface="Courier New"/>
              </a:rPr>
              <a:t>NYSED · LI HERALD</a:t>
            </a:r>
          </a:p>
        </p:txBody>
      </p:sp>
      <p:sp>
        <p:nvSpPr>
          <p:cNvPr id="22" name="TextBox 21"/>
          <p:cNvSpPr txBox="1"/>
          <p:nvPr/>
        </p:nvSpPr>
        <p:spPr>
          <a:xfrm>
            <a:off x="566928" y="3657600"/>
            <a:ext cx="10058400" cy="274320"/>
          </a:xfrm>
          <a:prstGeom prst="rect">
            <a:avLst/>
          </a:prstGeom>
          <a:noFill/>
        </p:spPr>
        <p:txBody>
          <a:bodyPr wrap="square" anchor="t" lIns="0" rIns="0" tIns="0" bIns="0">
            <a:spAutoFit/>
          </a:bodyPr>
          <a:lstStyle/>
          <a:p>
            <a:pPr algn="l"/>
            <a:r>
              <a:rPr sz="900" b="1" i="0">
                <a:solidFill>
                  <a:srgbClr val="1E3A8A"/>
                </a:solidFill>
                <a:latin typeface="Courier New"/>
              </a:rPr>
              <a:t>■ </a:t>
            </a:r>
            <a:r>
              <a:rPr sz="1000" b="1" i="0" spc="160">
                <a:solidFill>
                  <a:srgbClr val="1E3A8A"/>
                </a:solidFill>
                <a:latin typeface="Courier New"/>
              </a:rPr>
              <a:t>IF THE BENCHMARKS ARE MISSED, THE SEQUENCE IS ALREADY WRITTEN</a:t>
            </a:r>
          </a:p>
        </p:txBody>
      </p:sp>
      <p:sp>
        <p:nvSpPr>
          <p:cNvPr id="23" name="Rectangle 22"/>
          <p:cNvSpPr/>
          <p:nvPr/>
        </p:nvSpPr>
        <p:spPr>
          <a:xfrm>
            <a:off x="566928" y="4023360"/>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114800"/>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1 · OVERRIDES OR CUTS</a:t>
            </a:r>
          </a:p>
        </p:txBody>
      </p:sp>
      <p:sp>
        <p:nvSpPr>
          <p:cNvPr id="25" name="TextBox 24"/>
          <p:cNvSpPr txBox="1"/>
          <p:nvPr/>
        </p:nvSpPr>
        <p:spPr>
          <a:xfrm>
            <a:off x="566928" y="4389120"/>
            <a:ext cx="3503066" cy="146304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A 60% supermajority override on some of America's highest property taxes — or annual position cuts. Already happening: −62 (RVC), −11 (Hewlett-Woodmere).</a:t>
            </a:r>
          </a:p>
        </p:txBody>
      </p:sp>
      <p:sp>
        <p:nvSpPr>
          <p:cNvPr id="26" name="Rectangle 25"/>
          <p:cNvSpPr/>
          <p:nvPr/>
        </p:nvSpPr>
        <p:spPr>
          <a:xfrm>
            <a:off x="4344314" y="4023360"/>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4314" y="4114800"/>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2 · EROSION &amp; CLOSURES</a:t>
            </a:r>
          </a:p>
        </p:txBody>
      </p:sp>
      <p:sp>
        <p:nvSpPr>
          <p:cNvPr id="28" name="TextBox 27"/>
          <p:cNvSpPr txBox="1"/>
          <p:nvPr/>
        </p:nvSpPr>
        <p:spPr>
          <a:xfrm>
            <a:off x="4344314" y="4389120"/>
            <a:ext cx="3503066" cy="146304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Larger classes, fewer electives, consolidations — then buildings. Northport closed two elementaries in 2021 (−10.6% enrollment); Long Beach parents fought one off in Jan 2025; Locust Valley's 2026-27 budget failed outright (revote June 16).</a:t>
            </a:r>
          </a:p>
        </p:txBody>
      </p:sp>
      <p:sp>
        <p:nvSpPr>
          <p:cNvPr id="29" name="Rectangle 28"/>
          <p:cNvSpPr/>
          <p:nvPr/>
        </p:nvSpPr>
        <p:spPr>
          <a:xfrm>
            <a:off x="8121700" y="4023360"/>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21700" y="4114800"/>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3 · HOME-VALUE RISK</a:t>
            </a:r>
          </a:p>
        </p:txBody>
      </p:sp>
      <p:sp>
        <p:nvSpPr>
          <p:cNvPr id="31" name="TextBox 30"/>
          <p:cNvSpPr txBox="1"/>
          <p:nvPr/>
        </p:nvSpPr>
        <p:spPr>
          <a:xfrm>
            <a:off x="8121700" y="4389120"/>
            <a:ext cx="3503066" cy="146304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School quality capitalizes into prices (Black 1999, QJE, and a large successor literature) — the premium that justifies RVC's taxes erodes with the schools.</a:t>
            </a:r>
          </a:p>
        </p:txBody>
      </p:sp>
      <p:sp>
        <p:nvSpPr>
          <p:cNvPr id="32" name="Rectangle 31"/>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A COUNTY-WIDE COALITION EXISTS FOR THE ASKING — SLIDE 15</a:t>
            </a:r>
          </a:p>
        </p:txBody>
      </p:sp>
      <p:sp>
        <p:nvSpPr>
          <p:cNvPr id="34" name="TextBox 33"/>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Cause</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05</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972800" cy="502920"/>
          </a:xfrm>
          <a:prstGeom prst="rect">
            <a:avLst/>
          </a:prstGeom>
          <a:noFill/>
        </p:spPr>
        <p:txBody>
          <a:bodyPr wrap="square" anchor="t" lIns="0" rIns="0" tIns="0" bIns="0">
            <a:spAutoFit/>
          </a:bodyPr>
          <a:lstStyle/>
          <a:p>
            <a:pPr algn="l"/>
            <a:r>
              <a:rPr sz="2600" b="1" i="0">
                <a:solidFill>
                  <a:srgbClr val="0E1116"/>
                </a:solidFill>
                <a:latin typeface="Georgia"/>
              </a:rPr>
              <a:t>The village aged in place — the homes stopped turning over</a:t>
            </a:r>
          </a:p>
        </p:txBody>
      </p:sp>
      <p:sp>
        <p:nvSpPr>
          <p:cNvPr id="7" name="Rectangle 6"/>
          <p:cNvSpPr/>
          <p:nvPr/>
        </p:nvSpPr>
        <p:spPr>
          <a:xfrm>
            <a:off x="566928" y="155448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4592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01 · SENIOR-OWNED</a:t>
            </a:r>
          </a:p>
        </p:txBody>
      </p:sp>
      <p:sp>
        <p:nvSpPr>
          <p:cNvPr id="9" name="TextBox 8"/>
          <p:cNvSpPr txBox="1"/>
          <p:nvPr/>
        </p:nvSpPr>
        <p:spPr>
          <a:xfrm>
            <a:off x="566928" y="1883664"/>
            <a:ext cx="2512999" cy="566928"/>
          </a:xfrm>
          <a:prstGeom prst="rect">
            <a:avLst/>
          </a:prstGeom>
          <a:noFill/>
        </p:spPr>
        <p:txBody>
          <a:bodyPr wrap="square" anchor="t" lIns="0" rIns="0" tIns="0" bIns="0">
            <a:spAutoFit/>
          </a:bodyPr>
          <a:lstStyle/>
          <a:p>
            <a:pPr algn="l"/>
            <a:r>
              <a:rPr sz="3400" b="1" i="0">
                <a:solidFill>
                  <a:srgbClr val="0E1116"/>
                </a:solidFill>
                <a:latin typeface="Georgia"/>
              </a:rPr>
              <a:t>27.9</a:t>
            </a:r>
            <a:r>
              <a:rPr sz="1700" b="0" i="1">
                <a:solidFill>
                  <a:srgbClr val="1E3A8A"/>
                </a:solidFill>
                <a:latin typeface="Georgia"/>
              </a:rPr>
              <a:t> %</a:t>
            </a:r>
          </a:p>
        </p:txBody>
      </p:sp>
      <p:sp>
        <p:nvSpPr>
          <p:cNvPr id="10" name="TextBox 9"/>
          <p:cNvSpPr txBox="1"/>
          <p:nvPr/>
        </p:nvSpPr>
        <p:spPr>
          <a:xfrm>
            <a:off x="566928" y="241401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Owner households headed by someone 65+ — 2,076 of 7,453</a:t>
            </a:r>
          </a:p>
        </p:txBody>
      </p:sp>
      <p:sp>
        <p:nvSpPr>
          <p:cNvPr id="11" name="TextBox 10"/>
          <p:cNvSpPr txBox="1"/>
          <p:nvPr/>
        </p:nvSpPr>
        <p:spPr>
          <a:xfrm>
            <a:off x="566928" y="312724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ACS B25007</a:t>
            </a:r>
          </a:p>
        </p:txBody>
      </p:sp>
      <p:sp>
        <p:nvSpPr>
          <p:cNvPr id="12" name="Rectangle 11"/>
          <p:cNvSpPr/>
          <p:nvPr/>
        </p:nvSpPr>
        <p:spPr>
          <a:xfrm>
            <a:off x="3399967" y="155448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9967" y="164592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02 · SENIOR SHARE</a:t>
            </a:r>
          </a:p>
        </p:txBody>
      </p:sp>
      <p:sp>
        <p:nvSpPr>
          <p:cNvPr id="14" name="TextBox 13"/>
          <p:cNvSpPr txBox="1"/>
          <p:nvPr/>
        </p:nvSpPr>
        <p:spPr>
          <a:xfrm>
            <a:off x="3399967" y="1883664"/>
            <a:ext cx="2512999" cy="566928"/>
          </a:xfrm>
          <a:prstGeom prst="rect">
            <a:avLst/>
          </a:prstGeom>
          <a:noFill/>
        </p:spPr>
        <p:txBody>
          <a:bodyPr wrap="square" anchor="t" lIns="0" rIns="0" tIns="0" bIns="0">
            <a:spAutoFit/>
          </a:bodyPr>
          <a:lstStyle/>
          <a:p>
            <a:pPr algn="l"/>
            <a:r>
              <a:rPr sz="3400" b="1" i="0">
                <a:solidFill>
                  <a:srgbClr val="0E1116"/>
                </a:solidFill>
                <a:latin typeface="Georgia"/>
              </a:rPr>
              <a:t>20.1</a:t>
            </a:r>
            <a:r>
              <a:rPr sz="1700" b="0" i="1">
                <a:solidFill>
                  <a:srgbClr val="1E3A8A"/>
                </a:solidFill>
                <a:latin typeface="Georgia"/>
              </a:rPr>
              <a:t> %</a:t>
            </a:r>
          </a:p>
        </p:txBody>
      </p:sp>
      <p:sp>
        <p:nvSpPr>
          <p:cNvPr id="15" name="TextBox 14"/>
          <p:cNvSpPr txBox="1"/>
          <p:nvPr/>
        </p:nvSpPr>
        <p:spPr>
          <a:xfrm>
            <a:off x="3399967" y="241401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Of all RVC residents are 65 or older</a:t>
            </a:r>
          </a:p>
        </p:txBody>
      </p:sp>
      <p:sp>
        <p:nvSpPr>
          <p:cNvPr id="16" name="TextBox 15"/>
          <p:cNvSpPr txBox="1"/>
          <p:nvPr/>
        </p:nvSpPr>
        <p:spPr>
          <a:xfrm>
            <a:off x="3399967" y="312724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ACS S0101</a:t>
            </a:r>
          </a:p>
        </p:txBody>
      </p:sp>
      <p:sp>
        <p:nvSpPr>
          <p:cNvPr id="17" name="Rectangle 16"/>
          <p:cNvSpPr/>
          <p:nvPr/>
        </p:nvSpPr>
        <p:spPr>
          <a:xfrm>
            <a:off x="6233007" y="155448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3007" y="164592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03 · HOME VALUE</a:t>
            </a:r>
          </a:p>
        </p:txBody>
      </p:sp>
      <p:sp>
        <p:nvSpPr>
          <p:cNvPr id="19" name="TextBox 18"/>
          <p:cNvSpPr txBox="1"/>
          <p:nvPr/>
        </p:nvSpPr>
        <p:spPr>
          <a:xfrm>
            <a:off x="6233007" y="1883664"/>
            <a:ext cx="2512999" cy="566928"/>
          </a:xfrm>
          <a:prstGeom prst="rect">
            <a:avLst/>
          </a:prstGeom>
          <a:noFill/>
        </p:spPr>
        <p:txBody>
          <a:bodyPr wrap="square" anchor="t" lIns="0" rIns="0" tIns="0" bIns="0">
            <a:spAutoFit/>
          </a:bodyPr>
          <a:lstStyle/>
          <a:p>
            <a:pPr algn="l"/>
            <a:r>
              <a:rPr sz="3400" b="1" i="0">
                <a:solidFill>
                  <a:srgbClr val="0E1116"/>
                </a:solidFill>
                <a:latin typeface="Georgia"/>
              </a:rPr>
              <a:t>$819</a:t>
            </a:r>
            <a:r>
              <a:rPr sz="1700" b="0" i="1">
                <a:solidFill>
                  <a:srgbClr val="1E3A8A"/>
                </a:solidFill>
                <a:latin typeface="Georgia"/>
              </a:rPr>
              <a:t> K</a:t>
            </a:r>
          </a:p>
        </p:txBody>
      </p:sp>
      <p:sp>
        <p:nvSpPr>
          <p:cNvPr id="20" name="TextBox 19"/>
          <p:cNvSpPr txBox="1"/>
          <p:nvPr/>
        </p:nvSpPr>
        <p:spPr>
          <a:xfrm>
            <a:off x="6233007" y="241401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Average RVC home, June 2026 (ACS 2020-24: $818.7K)</a:t>
            </a:r>
          </a:p>
        </p:txBody>
      </p:sp>
      <p:sp>
        <p:nvSpPr>
          <p:cNvPr id="21" name="TextBox 20"/>
          <p:cNvSpPr txBox="1"/>
          <p:nvPr/>
        </p:nvSpPr>
        <p:spPr>
          <a:xfrm>
            <a:off x="6233007" y="312724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ZILLOW · ACS B25077</a:t>
            </a:r>
          </a:p>
        </p:txBody>
      </p:sp>
      <p:sp>
        <p:nvSpPr>
          <p:cNvPr id="22" name="Rectangle 21"/>
          <p:cNvSpPr/>
          <p:nvPr/>
        </p:nvSpPr>
        <p:spPr>
          <a:xfrm>
            <a:off x="9066047" y="155448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66047" y="164592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04 · SENIOR INCOME</a:t>
            </a:r>
          </a:p>
        </p:txBody>
      </p:sp>
      <p:sp>
        <p:nvSpPr>
          <p:cNvPr id="24" name="TextBox 23"/>
          <p:cNvSpPr txBox="1"/>
          <p:nvPr/>
        </p:nvSpPr>
        <p:spPr>
          <a:xfrm>
            <a:off x="9066047" y="1883664"/>
            <a:ext cx="2512999" cy="566928"/>
          </a:xfrm>
          <a:prstGeom prst="rect">
            <a:avLst/>
          </a:prstGeom>
          <a:noFill/>
        </p:spPr>
        <p:txBody>
          <a:bodyPr wrap="square" anchor="t" lIns="0" rIns="0" tIns="0" bIns="0">
            <a:spAutoFit/>
          </a:bodyPr>
          <a:lstStyle/>
          <a:p>
            <a:pPr algn="l"/>
            <a:r>
              <a:rPr sz="3400" b="1" i="0">
                <a:solidFill>
                  <a:srgbClr val="0E1116"/>
                </a:solidFill>
                <a:latin typeface="Georgia"/>
              </a:rPr>
              <a:t>~$80</a:t>
            </a:r>
            <a:r>
              <a:rPr sz="1700" b="0" i="1">
                <a:solidFill>
                  <a:srgbClr val="1E3A8A"/>
                </a:solidFill>
                <a:latin typeface="Georgia"/>
              </a:rPr>
              <a:t> K</a:t>
            </a:r>
          </a:p>
        </p:txBody>
      </p:sp>
      <p:sp>
        <p:nvSpPr>
          <p:cNvPr id="25" name="TextBox 24"/>
          <p:cNvSpPr txBox="1"/>
          <p:nvPr/>
        </p:nvSpPr>
        <p:spPr>
          <a:xfrm>
            <a:off x="9066047" y="241401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Median 65+ household income, vs $151.9K village-wide</a:t>
            </a:r>
          </a:p>
        </p:txBody>
      </p:sp>
      <p:sp>
        <p:nvSpPr>
          <p:cNvPr id="26" name="TextBox 25"/>
          <p:cNvSpPr txBox="1"/>
          <p:nvPr/>
        </p:nvSpPr>
        <p:spPr>
          <a:xfrm>
            <a:off x="9066047" y="312724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ACS B19049</a:t>
            </a:r>
          </a:p>
        </p:txBody>
      </p:sp>
      <p:sp>
        <p:nvSpPr>
          <p:cNvPr id="27" name="TextBox 26"/>
          <p:cNvSpPr txBox="1"/>
          <p:nvPr/>
        </p:nvSpPr>
        <p:spPr>
          <a:xfrm>
            <a:off x="566928" y="3703320"/>
            <a:ext cx="10789920" cy="731520"/>
          </a:xfrm>
          <a:prstGeom prst="rect">
            <a:avLst/>
          </a:prstGeom>
          <a:noFill/>
        </p:spPr>
        <p:txBody>
          <a:bodyPr wrap="square" anchor="t" lIns="0" rIns="0" tIns="0" bIns="0">
            <a:spAutoFit/>
          </a:bodyPr>
          <a:lstStyle/>
          <a:p>
            <a:pPr algn="l">
              <a:lnSpc>
                <a:spcPct val="125000"/>
              </a:lnSpc>
            </a:pPr>
            <a:r>
              <a:rPr sz="1200" b="0" i="0">
                <a:solidFill>
                  <a:srgbClr val="2A2A2A"/>
                </a:solidFill>
                <a:latin typeface="Arial"/>
              </a:rPr>
              <a:t>Two thousand of the village's ~7,450 owner-occupied homes — the three- and four-bedroom houses that built the school system — are held by households past child-rearing age. Nationally, empty-nest boomers own </a:t>
            </a:r>
            <a:r>
              <a:rPr sz="1200" b="1" i="0">
                <a:solidFill>
                  <a:srgbClr val="0E1116"/>
                </a:solidFill>
                <a:latin typeface="Arial"/>
              </a:rPr>
              <a:t>28% of large homes; millennials raising children own 14–16%</a:t>
            </a:r>
            <a:r>
              <a:rPr sz="1200" b="0" i="0">
                <a:solidFill>
                  <a:srgbClr val="2A2A2A"/>
                </a:solidFill>
                <a:latin typeface="Arial"/>
              </a:rPr>
              <a:t> (Redfin 2024/2026).</a:t>
            </a:r>
          </a:p>
        </p:txBody>
      </p:sp>
      <p:sp>
        <p:nvSpPr>
          <p:cNvPr id="28" name="TextBox 27"/>
          <p:cNvSpPr txBox="1"/>
          <p:nvPr/>
        </p:nvSpPr>
        <p:spPr>
          <a:xfrm>
            <a:off x="566928" y="4617720"/>
            <a:ext cx="10058400" cy="274320"/>
          </a:xfrm>
          <a:prstGeom prst="rect">
            <a:avLst/>
          </a:prstGeom>
          <a:noFill/>
        </p:spPr>
        <p:txBody>
          <a:bodyPr wrap="square" anchor="t" lIns="0" rIns="0" tIns="0" bIns="0">
            <a:spAutoFit/>
          </a:bodyPr>
          <a:lstStyle/>
          <a:p>
            <a:pPr algn="l"/>
            <a:r>
              <a:rPr sz="900" b="1" i="0">
                <a:solidFill>
                  <a:srgbClr val="1E3A8A"/>
                </a:solidFill>
                <a:latin typeface="Courier New"/>
              </a:rPr>
              <a:t>■ </a:t>
            </a:r>
            <a:r>
              <a:rPr sz="1000" b="1" i="0" spc="160">
                <a:solidFill>
                  <a:srgbClr val="1E3A8A"/>
                </a:solidFill>
                <a:latin typeface="Courier New"/>
              </a:rPr>
              <a:t>NASSAU HOUSEHOLDS INCLUDING SOMEONE 65+ (ACS B11007)</a:t>
            </a:r>
          </a:p>
        </p:txBody>
      </p:sp>
      <p:sp>
        <p:nvSpPr>
          <p:cNvPr id="29" name="TextBox 28"/>
          <p:cNvSpPr txBox="1"/>
          <p:nvPr/>
        </p:nvSpPr>
        <p:spPr>
          <a:xfrm>
            <a:off x="566928" y="4956048"/>
            <a:ext cx="1005840" cy="274320"/>
          </a:xfrm>
          <a:prstGeom prst="rect">
            <a:avLst/>
          </a:prstGeom>
          <a:noFill/>
        </p:spPr>
        <p:txBody>
          <a:bodyPr wrap="square" anchor="t" lIns="0" rIns="0" tIns="0" bIns="0">
            <a:spAutoFit/>
          </a:bodyPr>
          <a:lstStyle/>
          <a:p>
            <a:pPr algn="l"/>
            <a:r>
              <a:rPr sz="800" b="0" i="0" spc="160">
                <a:solidFill>
                  <a:srgbClr val="6B6B6B"/>
                </a:solidFill>
                <a:latin typeface="Courier New"/>
              </a:rPr>
              <a:t>2014-18</a:t>
            </a:r>
          </a:p>
        </p:txBody>
      </p:sp>
      <p:sp>
        <p:nvSpPr>
          <p:cNvPr id="30" name="Rectangle 29"/>
          <p:cNvSpPr/>
          <p:nvPr/>
        </p:nvSpPr>
        <p:spPr>
          <a:xfrm>
            <a:off x="1709928" y="4974336"/>
            <a:ext cx="8412480" cy="219456"/>
          </a:xfrm>
          <a:prstGeom prst="rect">
            <a:avLst/>
          </a:prstGeom>
          <a:solidFill>
            <a:srgbClr val="FAF6EC"/>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09928" y="4974336"/>
            <a:ext cx="6748678" cy="219456"/>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50046" y="4974336"/>
            <a:ext cx="914400" cy="228600"/>
          </a:xfrm>
          <a:prstGeom prst="rect">
            <a:avLst/>
          </a:prstGeom>
          <a:noFill/>
        </p:spPr>
        <p:txBody>
          <a:bodyPr wrap="square" anchor="t" lIns="0" rIns="0" tIns="0" bIns="0">
            <a:spAutoFit/>
          </a:bodyPr>
          <a:lstStyle/>
          <a:p>
            <a:pPr algn="l"/>
            <a:r>
              <a:rPr sz="850" b="1" i="0" spc="160">
                <a:solidFill>
                  <a:srgbClr val="0E1116"/>
                </a:solidFill>
                <a:latin typeface="Courier New"/>
              </a:rPr>
              <a:t>36.1%</a:t>
            </a:r>
          </a:p>
        </p:txBody>
      </p:sp>
      <p:sp>
        <p:nvSpPr>
          <p:cNvPr id="33" name="TextBox 32"/>
          <p:cNvSpPr txBox="1"/>
          <p:nvPr/>
        </p:nvSpPr>
        <p:spPr>
          <a:xfrm>
            <a:off x="566928" y="5321808"/>
            <a:ext cx="1005840" cy="274320"/>
          </a:xfrm>
          <a:prstGeom prst="rect">
            <a:avLst/>
          </a:prstGeom>
          <a:noFill/>
        </p:spPr>
        <p:txBody>
          <a:bodyPr wrap="square" anchor="t" lIns="0" rIns="0" tIns="0" bIns="0">
            <a:spAutoFit/>
          </a:bodyPr>
          <a:lstStyle/>
          <a:p>
            <a:pPr algn="l"/>
            <a:r>
              <a:rPr sz="800" b="0" i="0" spc="160">
                <a:solidFill>
                  <a:srgbClr val="6B6B6B"/>
                </a:solidFill>
                <a:latin typeface="Courier New"/>
              </a:rPr>
              <a:t>2019-23</a:t>
            </a:r>
          </a:p>
        </p:txBody>
      </p:sp>
      <p:sp>
        <p:nvSpPr>
          <p:cNvPr id="34" name="Rectangle 33"/>
          <p:cNvSpPr/>
          <p:nvPr/>
        </p:nvSpPr>
        <p:spPr>
          <a:xfrm>
            <a:off x="1709928" y="5340096"/>
            <a:ext cx="8412480" cy="219456"/>
          </a:xfrm>
          <a:prstGeom prst="rect">
            <a:avLst/>
          </a:prstGeom>
          <a:solidFill>
            <a:srgbClr val="FAF6EC"/>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709928" y="5340096"/>
            <a:ext cx="7272121" cy="219456"/>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73489" y="5340096"/>
            <a:ext cx="914400" cy="228600"/>
          </a:xfrm>
          <a:prstGeom prst="rect">
            <a:avLst/>
          </a:prstGeom>
          <a:noFill/>
        </p:spPr>
        <p:txBody>
          <a:bodyPr wrap="square" anchor="t" lIns="0" rIns="0" tIns="0" bIns="0">
            <a:spAutoFit/>
          </a:bodyPr>
          <a:lstStyle/>
          <a:p>
            <a:pPr algn="l"/>
            <a:r>
              <a:rPr sz="850" b="1" i="0" spc="160">
                <a:solidFill>
                  <a:srgbClr val="0E1116"/>
                </a:solidFill>
                <a:latin typeface="Courier New"/>
              </a:rPr>
              <a:t>38.9%</a:t>
            </a:r>
          </a:p>
        </p:txBody>
      </p:sp>
      <p:sp>
        <p:nvSpPr>
          <p:cNvPr id="37" name="TextBox 36"/>
          <p:cNvSpPr txBox="1"/>
          <p:nvPr/>
        </p:nvSpPr>
        <p:spPr>
          <a:xfrm>
            <a:off x="566928" y="5687568"/>
            <a:ext cx="1005840" cy="274320"/>
          </a:xfrm>
          <a:prstGeom prst="rect">
            <a:avLst/>
          </a:prstGeom>
          <a:noFill/>
        </p:spPr>
        <p:txBody>
          <a:bodyPr wrap="square" anchor="t" lIns="0" rIns="0" tIns="0" bIns="0">
            <a:spAutoFit/>
          </a:bodyPr>
          <a:lstStyle/>
          <a:p>
            <a:pPr algn="l"/>
            <a:r>
              <a:rPr sz="800" b="0" i="0" spc="160">
                <a:solidFill>
                  <a:srgbClr val="6B6B6B"/>
                </a:solidFill>
                <a:latin typeface="Courier New"/>
              </a:rPr>
              <a:t>2020-24</a:t>
            </a:r>
          </a:p>
        </p:txBody>
      </p:sp>
      <p:sp>
        <p:nvSpPr>
          <p:cNvPr id="38" name="Rectangle 37"/>
          <p:cNvSpPr/>
          <p:nvPr/>
        </p:nvSpPr>
        <p:spPr>
          <a:xfrm>
            <a:off x="1709928" y="5705856"/>
            <a:ext cx="8412480" cy="219456"/>
          </a:xfrm>
          <a:prstGeom prst="rect">
            <a:avLst/>
          </a:prstGeom>
          <a:solidFill>
            <a:srgbClr val="FAF6EC"/>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709928" y="5705856"/>
            <a:ext cx="7402982" cy="219456"/>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04350" y="5705856"/>
            <a:ext cx="914400" cy="228600"/>
          </a:xfrm>
          <a:prstGeom prst="rect">
            <a:avLst/>
          </a:prstGeom>
          <a:noFill/>
        </p:spPr>
        <p:txBody>
          <a:bodyPr wrap="square" anchor="t" lIns="0" rIns="0" tIns="0" bIns="0">
            <a:spAutoFit/>
          </a:bodyPr>
          <a:lstStyle/>
          <a:p>
            <a:pPr algn="l"/>
            <a:r>
              <a:rPr sz="850" b="1" i="0" spc="160">
                <a:solidFill>
                  <a:srgbClr val="0E1116"/>
                </a:solidFill>
                <a:latin typeface="Courier New"/>
              </a:rPr>
              <a:t>39.6%</a:t>
            </a:r>
          </a:p>
        </p:txBody>
      </p:sp>
      <p:sp>
        <p:nvSpPr>
          <p:cNvPr id="41" name="TextBox 40"/>
          <p:cNvSpPr txBox="1"/>
          <p:nvPr/>
        </p:nvSpPr>
        <p:spPr>
          <a:xfrm>
            <a:off x="566928" y="6053328"/>
            <a:ext cx="10789920" cy="274320"/>
          </a:xfrm>
          <a:prstGeom prst="rect">
            <a:avLst/>
          </a:prstGeom>
          <a:noFill/>
        </p:spPr>
        <p:txBody>
          <a:bodyPr wrap="square" anchor="t" lIns="0" rIns="0" tIns="0" bIns="0">
            <a:spAutoFit/>
          </a:bodyPr>
          <a:lstStyle/>
          <a:p>
            <a:pPr algn="l"/>
            <a:r>
              <a:rPr sz="800" b="0" i="0" spc="160">
                <a:solidFill>
                  <a:srgbClr val="6B6B6B"/>
                </a:solidFill>
                <a:latin typeface="Courier New"/>
              </a:rPr>
              <a:t>HOUSEHOLDS WITH OWN CHILDREN UNDER 18 OVER THE SAME SPAN: 35.5% → 34.7%</a:t>
            </a:r>
          </a:p>
        </p:txBody>
      </p:sp>
      <p:sp>
        <p:nvSpPr>
          <p:cNvPr id="42" name="Rectangle 41"/>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ACS = AMERICAN COMMUNITY SURVEY 5-YEAR ESTIMATES, ROCKVILLE CENTRE VILLAGE &amp; NASSAU COUNTY</a:t>
            </a:r>
          </a:p>
        </p:txBody>
      </p:sp>
      <p:sp>
        <p:nvSpPr>
          <p:cNvPr id="44" name="TextBox 43"/>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57200"/>
            <a:ext cx="10058400" cy="274320"/>
          </a:xfrm>
          <a:prstGeom prst="rect">
            <a:avLst/>
          </a:prstGeom>
          <a:noFill/>
        </p:spPr>
        <p:txBody>
          <a:bodyPr wrap="square" anchor="t" lIns="0" rIns="0" tIns="0" bIns="0">
            <a:spAutoFit/>
          </a:bodyPr>
          <a:lstStyle/>
          <a:p>
            <a:pPr algn="l"/>
            <a:r>
              <a:rPr sz="1000" b="1" i="0" spc="160">
                <a:solidFill>
                  <a:srgbClr val="9DB4E8"/>
                </a:solidFill>
                <a:latin typeface="Courier New"/>
              </a:rPr>
              <a:t>THE PIPELINE IS INVENTORY-STARVED, NOT DEMAND-STARVED</a:t>
            </a:r>
          </a:p>
        </p:txBody>
      </p:sp>
      <p:sp>
        <p:nvSpPr>
          <p:cNvPr id="4" name="Rectangle 3"/>
          <p:cNvSpPr/>
          <p:nvPr/>
        </p:nvSpPr>
        <p:spPr>
          <a:xfrm>
            <a:off x="566928" y="868680"/>
            <a:ext cx="2194560" cy="25400"/>
          </a:xfrm>
          <a:prstGeom prst="rect">
            <a:avLst/>
          </a:prstGeom>
          <a:solidFill>
            <a:srgbClr val="9DB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54480"/>
            <a:ext cx="1097280" cy="1828800"/>
          </a:xfrm>
          <a:prstGeom prst="rect">
            <a:avLst/>
          </a:prstGeom>
          <a:noFill/>
        </p:spPr>
        <p:txBody>
          <a:bodyPr wrap="square" anchor="t" lIns="0" rIns="0" tIns="0" bIns="0">
            <a:spAutoFit/>
          </a:bodyPr>
          <a:lstStyle/>
          <a:p>
            <a:pPr algn="l"/>
            <a:r>
              <a:rPr sz="11000" b="1" i="0">
                <a:solidFill>
                  <a:srgbClr val="9DB4E8"/>
                </a:solidFill>
                <a:latin typeface="Georgia"/>
              </a:rPr>
              <a:t>“</a:t>
            </a:r>
          </a:p>
        </p:txBody>
      </p:sp>
      <p:sp>
        <p:nvSpPr>
          <p:cNvPr id="6" name="TextBox 5"/>
          <p:cNvSpPr txBox="1"/>
          <p:nvPr/>
        </p:nvSpPr>
        <p:spPr>
          <a:xfrm>
            <a:off x="1755648" y="1737360"/>
            <a:ext cx="9601200" cy="2194560"/>
          </a:xfrm>
          <a:prstGeom prst="rect">
            <a:avLst/>
          </a:prstGeom>
          <a:noFill/>
        </p:spPr>
        <p:txBody>
          <a:bodyPr wrap="square" anchor="t" lIns="0" rIns="0" tIns="0" bIns="0">
            <a:spAutoFit/>
          </a:bodyPr>
          <a:lstStyle/>
          <a:p>
            <a:pPr algn="l">
              <a:lnSpc>
                <a:spcPct val="105000"/>
              </a:lnSpc>
            </a:pPr>
            <a:r>
              <a:rPr sz="3800" b="1" i="0">
                <a:solidFill>
                  <a:srgbClr val="F1ECE2"/>
                </a:solidFill>
                <a:latin typeface="Georgia"/>
              </a:rPr>
              <a:t>Five houses under a million dollars. In the whole district.</a:t>
            </a:r>
          </a:p>
        </p:txBody>
      </p:sp>
      <p:sp>
        <p:nvSpPr>
          <p:cNvPr id="7" name="TextBox 6"/>
          <p:cNvSpPr txBox="1"/>
          <p:nvPr/>
        </p:nvSpPr>
        <p:spPr>
          <a:xfrm>
            <a:off x="1755648" y="3657600"/>
            <a:ext cx="9418320" cy="1463040"/>
          </a:xfrm>
          <a:prstGeom prst="rect">
            <a:avLst/>
          </a:prstGeom>
          <a:noFill/>
        </p:spPr>
        <p:txBody>
          <a:bodyPr wrap="square" anchor="t" lIns="0" rIns="0" tIns="0" bIns="0">
            <a:spAutoFit/>
          </a:bodyPr>
          <a:lstStyle/>
          <a:p>
            <a:pPr algn="l">
              <a:lnSpc>
                <a:spcPct val="130000"/>
              </a:lnSpc>
            </a:pPr>
            <a:r>
              <a:rPr sz="1300" b="0" i="0">
                <a:solidFill>
                  <a:srgbClr val="D8D3C6"/>
                </a:solidFill>
                <a:latin typeface="Arial"/>
              </a:rPr>
              <a:t>Supt. Kristen Turnow, Locust Valley — “this is a Long Island problem, not a Locust Valley problem” — explaining a projected −15% enrollment slide (2,034 → 1,725 by 2027-28). Three weeks ago hers became the only Nassau district whose 2026-27 budget failed (850–765; revote June 16). Young families bid on the few large homes that list; the rest never list. Rockville Centre's version: 2,076 senior-owned homes, a frozen assessment roll, and a federal tax code that charges six figures for selling.</a:t>
            </a:r>
          </a:p>
        </p:txBody>
      </p:sp>
      <p:sp>
        <p:nvSpPr>
          <p:cNvPr id="8" name="TextBox 7"/>
          <p:cNvSpPr txBox="1"/>
          <p:nvPr/>
        </p:nvSpPr>
        <p:spPr>
          <a:xfrm>
            <a:off x="1755648" y="5715000"/>
            <a:ext cx="9144000" cy="274320"/>
          </a:xfrm>
          <a:prstGeom prst="rect">
            <a:avLst/>
          </a:prstGeom>
          <a:noFill/>
        </p:spPr>
        <p:txBody>
          <a:bodyPr wrap="square" anchor="t" lIns="0" rIns="0" tIns="0" bIns="0">
            <a:spAutoFit/>
          </a:bodyPr>
          <a:lstStyle/>
          <a:p>
            <a:pPr algn="l"/>
            <a:r>
              <a:rPr sz="800" b="0" i="0" spc="160">
                <a:solidFill>
                  <a:srgbClr val="A9A394"/>
                </a:solidFill>
                <a:latin typeface="Courier New"/>
              </a:rPr>
              <a:t>LI HERALD · APR 2025 &amp; MAY 2026 · NYSED · ACS B25007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Voices</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07</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515600" cy="502920"/>
          </a:xfrm>
          <a:prstGeom prst="rect">
            <a:avLst/>
          </a:prstGeom>
          <a:noFill/>
        </p:spPr>
        <p:txBody>
          <a:bodyPr wrap="square" anchor="t" lIns="0" rIns="0" tIns="0" bIns="0">
            <a:spAutoFit/>
          </a:bodyPr>
          <a:lstStyle/>
          <a:p>
            <a:pPr algn="l"/>
            <a:r>
              <a:rPr sz="2700" b="1" i="0">
                <a:solidFill>
                  <a:srgbClr val="0E1116"/>
                </a:solidFill>
                <a:latin typeface="Georgia"/>
              </a:rPr>
              <a:t>The rooms are telling you</a:t>
            </a:r>
          </a:p>
        </p:txBody>
      </p:sp>
      <p:sp>
        <p:nvSpPr>
          <p:cNvPr id="7" name="Rectangle 6"/>
          <p:cNvSpPr/>
          <p:nvPr/>
        </p:nvSpPr>
        <p:spPr>
          <a:xfrm>
            <a:off x="566928" y="1554480"/>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82496"/>
            <a:ext cx="365760" cy="548640"/>
          </a:xfrm>
          <a:prstGeom prst="rect">
            <a:avLst/>
          </a:prstGeom>
          <a:noFill/>
        </p:spPr>
        <p:txBody>
          <a:bodyPr wrap="square" anchor="t" lIns="0" rIns="0" tIns="0" bIns="0">
            <a:spAutoFit/>
          </a:bodyPr>
          <a:lstStyle/>
          <a:p>
            <a:pPr algn="l"/>
            <a:r>
              <a:rPr sz="3000" b="1" i="0">
                <a:solidFill>
                  <a:srgbClr val="1E3A8A"/>
                </a:solidFill>
                <a:latin typeface="Georgia"/>
              </a:rPr>
              <a:t>“</a:t>
            </a:r>
          </a:p>
        </p:txBody>
      </p:sp>
      <p:sp>
        <p:nvSpPr>
          <p:cNvPr id="9" name="TextBox 8"/>
          <p:cNvSpPr txBox="1"/>
          <p:nvPr/>
        </p:nvSpPr>
        <p:spPr>
          <a:xfrm>
            <a:off x="978408" y="1664208"/>
            <a:ext cx="10332720" cy="685800"/>
          </a:xfrm>
          <a:prstGeom prst="rect">
            <a:avLst/>
          </a:prstGeom>
          <a:noFill/>
        </p:spPr>
        <p:txBody>
          <a:bodyPr wrap="square" anchor="t" lIns="0" rIns="0" tIns="0" bIns="0">
            <a:spAutoFit/>
          </a:bodyPr>
          <a:lstStyle/>
          <a:p>
            <a:pPr algn="l">
              <a:lnSpc>
                <a:spcPct val="122000"/>
              </a:lnSpc>
            </a:pPr>
            <a:r>
              <a:rPr sz="1450" b="0" i="1">
                <a:solidFill>
                  <a:srgbClr val="0E1116"/>
                </a:solidFill>
                <a:latin typeface="Georgia"/>
              </a:rPr>
              <a:t>You look at the students in senior year, and then you look at the incoming kindergarten, and it's like half. You can really see it going down.</a:t>
            </a:r>
          </a:p>
        </p:txBody>
      </p:sp>
      <p:sp>
        <p:nvSpPr>
          <p:cNvPr id="10" name="TextBox 9"/>
          <p:cNvSpPr txBox="1"/>
          <p:nvPr/>
        </p:nvSpPr>
        <p:spPr>
          <a:xfrm>
            <a:off x="978408" y="2505456"/>
            <a:ext cx="10332720" cy="228600"/>
          </a:xfrm>
          <a:prstGeom prst="rect">
            <a:avLst/>
          </a:prstGeom>
          <a:noFill/>
        </p:spPr>
        <p:txBody>
          <a:bodyPr wrap="square" anchor="t" lIns="0" rIns="0" tIns="0" bIns="0">
            <a:spAutoFit/>
          </a:bodyPr>
          <a:lstStyle/>
          <a:p>
            <a:pPr algn="l"/>
            <a:r>
              <a:rPr sz="800" b="1" i="0" spc="160">
                <a:solidFill>
                  <a:srgbClr val="6B6B6B"/>
                </a:solidFill>
                <a:latin typeface="Courier New"/>
              </a:rPr>
              <a:t>CHRIS ZUBLIONIS · SUPT., NORTH SHORE CSD · APR 2025</a:t>
            </a:r>
          </a:p>
        </p:txBody>
      </p:sp>
      <p:sp>
        <p:nvSpPr>
          <p:cNvPr id="11" name="Rectangle 10"/>
          <p:cNvSpPr/>
          <p:nvPr/>
        </p:nvSpPr>
        <p:spPr>
          <a:xfrm>
            <a:off x="566928" y="2889504"/>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017520"/>
            <a:ext cx="365760" cy="548640"/>
          </a:xfrm>
          <a:prstGeom prst="rect">
            <a:avLst/>
          </a:prstGeom>
          <a:noFill/>
        </p:spPr>
        <p:txBody>
          <a:bodyPr wrap="square" anchor="t" lIns="0" rIns="0" tIns="0" bIns="0">
            <a:spAutoFit/>
          </a:bodyPr>
          <a:lstStyle/>
          <a:p>
            <a:pPr algn="l"/>
            <a:r>
              <a:rPr sz="3000" b="1" i="0">
                <a:solidFill>
                  <a:srgbClr val="1E3A8A"/>
                </a:solidFill>
                <a:latin typeface="Georgia"/>
              </a:rPr>
              <a:t>“</a:t>
            </a:r>
          </a:p>
        </p:txBody>
      </p:sp>
      <p:sp>
        <p:nvSpPr>
          <p:cNvPr id="13" name="TextBox 12"/>
          <p:cNvSpPr txBox="1"/>
          <p:nvPr/>
        </p:nvSpPr>
        <p:spPr>
          <a:xfrm>
            <a:off x="978408" y="2999232"/>
            <a:ext cx="10332720" cy="685800"/>
          </a:xfrm>
          <a:prstGeom prst="rect">
            <a:avLst/>
          </a:prstGeom>
          <a:noFill/>
        </p:spPr>
        <p:txBody>
          <a:bodyPr wrap="square" anchor="t" lIns="0" rIns="0" tIns="0" bIns="0">
            <a:spAutoFit/>
          </a:bodyPr>
          <a:lstStyle/>
          <a:p>
            <a:pPr algn="l">
              <a:lnSpc>
                <a:spcPct val="122000"/>
              </a:lnSpc>
            </a:pPr>
            <a:r>
              <a:rPr sz="1450" b="0" i="1">
                <a:solidFill>
                  <a:srgbClr val="0E1116"/>
                </a:solidFill>
                <a:latin typeface="Georgia"/>
              </a:rPr>
              <a:t>The strength of this district is its teachers, staff and programs that support students. Cutting these is not the best practice. It is actively damaging to students and the community.</a:t>
            </a:r>
          </a:p>
        </p:txBody>
      </p:sp>
      <p:sp>
        <p:nvSpPr>
          <p:cNvPr id="14" name="TextBox 13"/>
          <p:cNvSpPr txBox="1"/>
          <p:nvPr/>
        </p:nvSpPr>
        <p:spPr>
          <a:xfrm>
            <a:off x="978408" y="3840480"/>
            <a:ext cx="10332720" cy="228600"/>
          </a:xfrm>
          <a:prstGeom prst="rect">
            <a:avLst/>
          </a:prstGeom>
          <a:noFill/>
        </p:spPr>
        <p:txBody>
          <a:bodyPr wrap="square" anchor="t" lIns="0" rIns="0" tIns="0" bIns="0">
            <a:spAutoFit/>
          </a:bodyPr>
          <a:lstStyle/>
          <a:p>
            <a:pPr algn="l"/>
            <a:r>
              <a:rPr sz="800" b="1" i="0" spc="160">
                <a:solidFill>
                  <a:srgbClr val="6B6B6B"/>
                </a:solidFill>
                <a:latin typeface="Courier New"/>
              </a:rPr>
              <a:t>LESLI DENINNO · PRESIDENT, RVC TEACHERS' ASSN. · MAR 2026</a:t>
            </a:r>
          </a:p>
        </p:txBody>
      </p:sp>
      <p:sp>
        <p:nvSpPr>
          <p:cNvPr id="15" name="Rectangle 14"/>
          <p:cNvSpPr/>
          <p:nvPr/>
        </p:nvSpPr>
        <p:spPr>
          <a:xfrm>
            <a:off x="566928" y="4224528"/>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352544"/>
            <a:ext cx="365760" cy="548640"/>
          </a:xfrm>
          <a:prstGeom prst="rect">
            <a:avLst/>
          </a:prstGeom>
          <a:noFill/>
        </p:spPr>
        <p:txBody>
          <a:bodyPr wrap="square" anchor="t" lIns="0" rIns="0" tIns="0" bIns="0">
            <a:spAutoFit/>
          </a:bodyPr>
          <a:lstStyle/>
          <a:p>
            <a:pPr algn="l"/>
            <a:r>
              <a:rPr sz="3000" b="1" i="0">
                <a:solidFill>
                  <a:srgbClr val="1E3A8A"/>
                </a:solidFill>
                <a:latin typeface="Georgia"/>
              </a:rPr>
              <a:t>“</a:t>
            </a:r>
          </a:p>
        </p:txBody>
      </p:sp>
      <p:sp>
        <p:nvSpPr>
          <p:cNvPr id="17" name="TextBox 16"/>
          <p:cNvSpPr txBox="1"/>
          <p:nvPr/>
        </p:nvSpPr>
        <p:spPr>
          <a:xfrm>
            <a:off x="978408" y="4334256"/>
            <a:ext cx="10332720" cy="685800"/>
          </a:xfrm>
          <a:prstGeom prst="rect">
            <a:avLst/>
          </a:prstGeom>
          <a:noFill/>
        </p:spPr>
        <p:txBody>
          <a:bodyPr wrap="square" anchor="t" lIns="0" rIns="0" tIns="0" bIns="0">
            <a:spAutoFit/>
          </a:bodyPr>
          <a:lstStyle/>
          <a:p>
            <a:pPr algn="l">
              <a:lnSpc>
                <a:spcPct val="122000"/>
              </a:lnSpc>
            </a:pPr>
            <a:r>
              <a:rPr sz="1450" b="0" i="1">
                <a:solidFill>
                  <a:srgbClr val="0E1116"/>
                </a:solidFill>
                <a:latin typeface="Georgia"/>
              </a:rPr>
              <a:t>It's probably one of the worst budget situations that I've seen in all those years. … You lost the confidence of the community as shepherds and stewards of our money.</a:t>
            </a:r>
          </a:p>
        </p:txBody>
      </p:sp>
      <p:sp>
        <p:nvSpPr>
          <p:cNvPr id="18" name="TextBox 17"/>
          <p:cNvSpPr txBox="1"/>
          <p:nvPr/>
        </p:nvSpPr>
        <p:spPr>
          <a:xfrm>
            <a:off x="978408" y="5175504"/>
            <a:ext cx="10332720" cy="228600"/>
          </a:xfrm>
          <a:prstGeom prst="rect">
            <a:avLst/>
          </a:prstGeom>
          <a:noFill/>
        </p:spPr>
        <p:txBody>
          <a:bodyPr wrap="square" anchor="t" lIns="0" rIns="0" tIns="0" bIns="0">
            <a:spAutoFit/>
          </a:bodyPr>
          <a:lstStyle/>
          <a:p>
            <a:pPr algn="l"/>
            <a:r>
              <a:rPr sz="800" b="1" i="0" spc="160">
                <a:solidFill>
                  <a:srgbClr val="6B6B6B"/>
                </a:solidFill>
                <a:latin typeface="Courier New"/>
              </a:rPr>
              <a:t>JEFF GREENFIELD · RVC RESIDENT, 56TH YEAR OF BUDGET HEARINGS · APR 2026</a:t>
            </a:r>
          </a:p>
        </p:txBody>
      </p:sp>
      <p:sp>
        <p:nvSpPr>
          <p:cNvPr id="19" name="Rectangle 18"/>
          <p:cNvSpPr/>
          <p:nvPr/>
        </p:nvSpPr>
        <p:spPr>
          <a:xfrm>
            <a:off x="566928" y="5632704"/>
            <a:ext cx="11057839" cy="566928"/>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742432"/>
            <a:ext cx="10607040" cy="365760"/>
          </a:xfrm>
          <a:prstGeom prst="rect">
            <a:avLst/>
          </a:prstGeom>
          <a:noFill/>
        </p:spPr>
        <p:txBody>
          <a:bodyPr wrap="square" anchor="t" lIns="0" rIns="0" tIns="0" bIns="0">
            <a:spAutoFit/>
          </a:bodyPr>
          <a:lstStyle/>
          <a:p>
            <a:pPr algn="l"/>
            <a:r>
              <a:rPr sz="850" b="1" i="0" spc="160">
                <a:solidFill>
                  <a:srgbClr val="9DB4E8"/>
                </a:solidFill>
                <a:latin typeface="Courier New"/>
              </a:rPr>
              <a:t>THE LIBRARY   </a:t>
            </a:r>
            <a:r>
              <a:rPr sz="1150" b="0" i="0">
                <a:solidFill>
                  <a:srgbClr val="F1ECE2"/>
                </a:solidFill>
                <a:latin typeface="Arial"/>
              </a:rPr>
              <a:t>30+ verbatim, sourced quotes — parents, teachers, superintendents, trustees — at rvc-taxes.jeffpinto.com/voices.html. Built for reuse: testimony, letters, op-eds.</a:t>
            </a:r>
          </a:p>
        </p:txBody>
      </p:sp>
      <p:sp>
        <p:nvSpPr>
          <p:cNvPr id="21" name="Rectangle 20"/>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ALL QUOTES VERBATIM FROM LINKED SOURCES — LI HERALD · NEWS 12 · PATCH · NORTHPORT JOURNAL</a:t>
            </a:r>
          </a:p>
        </p:txBody>
      </p:sp>
      <p:sp>
        <p:nvSpPr>
          <p:cNvPr id="23" name="TextBox 22"/>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Lock-In</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08</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515600" cy="502920"/>
          </a:xfrm>
          <a:prstGeom prst="rect">
            <a:avLst/>
          </a:prstGeom>
          <a:noFill/>
        </p:spPr>
        <p:txBody>
          <a:bodyPr wrap="square" anchor="t" lIns="0" rIns="0" tIns="0" bIns="0">
            <a:spAutoFit/>
          </a:bodyPr>
          <a:lstStyle/>
          <a:p>
            <a:pPr algn="l"/>
            <a:r>
              <a:rPr sz="2700" b="1" i="0">
                <a:solidFill>
                  <a:srgbClr val="0E1116"/>
                </a:solidFill>
                <a:latin typeface="Georgia"/>
              </a:rPr>
              <a:t>Four locks on the front door</a:t>
            </a:r>
          </a:p>
        </p:txBody>
      </p:sp>
      <p:sp>
        <p:nvSpPr>
          <p:cNvPr id="7" name="Rectangle 6"/>
          <p:cNvSpPr/>
          <p:nvPr/>
        </p:nvSpPr>
        <p:spPr>
          <a:xfrm>
            <a:off x="566928" y="1554480"/>
            <a:ext cx="53003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45920"/>
            <a:ext cx="5300319" cy="228600"/>
          </a:xfrm>
          <a:prstGeom prst="rect">
            <a:avLst/>
          </a:prstGeom>
          <a:noFill/>
        </p:spPr>
        <p:txBody>
          <a:bodyPr wrap="square" anchor="t" lIns="0" rIns="0" tIns="0" bIns="0">
            <a:spAutoFit/>
          </a:bodyPr>
          <a:lstStyle/>
          <a:p>
            <a:pPr algn="l"/>
            <a:r>
              <a:rPr sz="800" b="1" i="0" spc="160">
                <a:solidFill>
                  <a:srgbClr val="1E3A8A"/>
                </a:solidFill>
                <a:latin typeface="Courier New"/>
              </a:rPr>
              <a:t>LOCK 01 · FEDERAL · CAP GAINS</a:t>
            </a:r>
          </a:p>
        </p:txBody>
      </p:sp>
      <p:sp>
        <p:nvSpPr>
          <p:cNvPr id="9" name="TextBox 8"/>
          <p:cNvSpPr txBox="1"/>
          <p:nvPr/>
        </p:nvSpPr>
        <p:spPr>
          <a:xfrm>
            <a:off x="566928" y="1901952"/>
            <a:ext cx="5300319" cy="320040"/>
          </a:xfrm>
          <a:prstGeom prst="rect">
            <a:avLst/>
          </a:prstGeom>
          <a:noFill/>
        </p:spPr>
        <p:txBody>
          <a:bodyPr wrap="square" anchor="t" lIns="0" rIns="0" tIns="0" bIns="0">
            <a:spAutoFit/>
          </a:bodyPr>
          <a:lstStyle/>
          <a:p>
            <a:pPr algn="l"/>
            <a:r>
              <a:rPr sz="1700" b="1" i="0">
                <a:solidFill>
                  <a:srgbClr val="0E1116"/>
                </a:solidFill>
                <a:latin typeface="Georgia"/>
              </a:rPr>
              <a:t>§121 frozen since 1997</a:t>
            </a:r>
          </a:p>
        </p:txBody>
      </p:sp>
      <p:sp>
        <p:nvSpPr>
          <p:cNvPr id="10" name="TextBox 9"/>
          <p:cNvSpPr txBox="1"/>
          <p:nvPr/>
        </p:nvSpPr>
        <p:spPr>
          <a:xfrm>
            <a:off x="566928" y="2286000"/>
            <a:ext cx="5300319" cy="91440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A 1990s buyer selling at ~$900K clears the $500K joint exclusion; a widowed senior filing single hits $250K twice as fast. AEI: ~1.9M senior-owned homes locked, $620B in gains.</a:t>
            </a:r>
          </a:p>
        </p:txBody>
      </p:sp>
      <p:sp>
        <p:nvSpPr>
          <p:cNvPr id="11" name="TextBox 10"/>
          <p:cNvSpPr txBox="1"/>
          <p:nvPr/>
        </p:nvSpPr>
        <p:spPr>
          <a:xfrm>
            <a:off x="566928" y="3337560"/>
            <a:ext cx="5300319" cy="274320"/>
          </a:xfrm>
          <a:prstGeom prst="rect">
            <a:avLst/>
          </a:prstGeom>
          <a:noFill/>
        </p:spPr>
        <p:txBody>
          <a:bodyPr wrap="square" anchor="t" lIns="0" rIns="0" tIns="0" bIns="0">
            <a:spAutoFit/>
          </a:bodyPr>
          <a:lstStyle/>
          <a:p>
            <a:pPr algn="l"/>
            <a:r>
              <a:rPr sz="800" b="1" i="0" spc="160">
                <a:solidFill>
                  <a:srgbClr val="0E1116"/>
                </a:solidFill>
                <a:latin typeface="Courier New"/>
              </a:rPr>
              <a:t>FIX: H.R. 1340 / S. 3332 — DOUBLE &amp; INDEX</a:t>
            </a:r>
          </a:p>
        </p:txBody>
      </p:sp>
      <p:sp>
        <p:nvSpPr>
          <p:cNvPr id="12" name="Rectangle 11"/>
          <p:cNvSpPr/>
          <p:nvPr/>
        </p:nvSpPr>
        <p:spPr>
          <a:xfrm>
            <a:off x="6324447" y="1554480"/>
            <a:ext cx="53003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4447" y="1645920"/>
            <a:ext cx="5300319" cy="228600"/>
          </a:xfrm>
          <a:prstGeom prst="rect">
            <a:avLst/>
          </a:prstGeom>
          <a:noFill/>
        </p:spPr>
        <p:txBody>
          <a:bodyPr wrap="square" anchor="t" lIns="0" rIns="0" tIns="0" bIns="0">
            <a:spAutoFit/>
          </a:bodyPr>
          <a:lstStyle/>
          <a:p>
            <a:pPr algn="l"/>
            <a:r>
              <a:rPr sz="800" b="1" i="0" spc="160">
                <a:solidFill>
                  <a:srgbClr val="1E3A8A"/>
                </a:solidFill>
                <a:latin typeface="Courier New"/>
              </a:rPr>
              <a:t>LOCK 02 · STATE · TIMING TRAP</a:t>
            </a:r>
          </a:p>
        </p:txBody>
      </p:sp>
      <p:sp>
        <p:nvSpPr>
          <p:cNvPr id="14" name="TextBox 13"/>
          <p:cNvSpPr txBox="1"/>
          <p:nvPr/>
        </p:nvSpPr>
        <p:spPr>
          <a:xfrm>
            <a:off x="6324447" y="1901952"/>
            <a:ext cx="5300319" cy="320040"/>
          </a:xfrm>
          <a:prstGeom prst="rect">
            <a:avLst/>
          </a:prstGeom>
          <a:noFill/>
        </p:spPr>
        <p:txBody>
          <a:bodyPr wrap="square" anchor="t" lIns="0" rIns="0" tIns="0" bIns="0">
            <a:spAutoFit/>
          </a:bodyPr>
          <a:lstStyle/>
          <a:p>
            <a:pPr algn="l"/>
            <a:r>
              <a:rPr sz="1700" b="1" i="0">
                <a:solidFill>
                  <a:srgbClr val="0E1116"/>
                </a:solidFill>
                <a:latin typeface="Georgia"/>
              </a:rPr>
              <a:t>Move wrong, lose a year's exemption</a:t>
            </a:r>
          </a:p>
        </p:txBody>
      </p:sp>
      <p:sp>
        <p:nvSpPr>
          <p:cNvPr id="15" name="TextBox 14"/>
          <p:cNvSpPr txBox="1"/>
          <p:nvPr/>
        </p:nvSpPr>
        <p:spPr>
          <a:xfrm>
            <a:off x="6324447" y="2286000"/>
            <a:ext cx="5300319" cy="91440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Close at the wrong point in the assessment calendar and the senior exemption lapses for the year — a real, documented penalty for moving.</a:t>
            </a:r>
          </a:p>
        </p:txBody>
      </p:sp>
      <p:sp>
        <p:nvSpPr>
          <p:cNvPr id="16" name="TextBox 15"/>
          <p:cNvSpPr txBox="1"/>
          <p:nvPr/>
        </p:nvSpPr>
        <p:spPr>
          <a:xfrm>
            <a:off x="6324447" y="3337560"/>
            <a:ext cx="5300319" cy="274320"/>
          </a:xfrm>
          <a:prstGeom prst="rect">
            <a:avLst/>
          </a:prstGeom>
          <a:noFill/>
        </p:spPr>
        <p:txBody>
          <a:bodyPr wrap="square" anchor="t" lIns="0" rIns="0" tIns="0" bIns="0">
            <a:spAutoFit/>
          </a:bodyPr>
          <a:lstStyle/>
          <a:p>
            <a:pPr algn="l"/>
            <a:r>
              <a:rPr sz="800" b="1" i="0" spc="160">
                <a:solidFill>
                  <a:srgbClr val="0E1116"/>
                </a:solidFill>
                <a:latin typeface="Courier New"/>
              </a:rPr>
              <a:t>FIX: S3309/A5288 — OUT OF AGING 7–0</a:t>
            </a:r>
          </a:p>
        </p:txBody>
      </p:sp>
      <p:sp>
        <p:nvSpPr>
          <p:cNvPr id="17" name="Rectangle 16"/>
          <p:cNvSpPr/>
          <p:nvPr/>
        </p:nvSpPr>
        <p:spPr>
          <a:xfrm>
            <a:off x="566928" y="3794760"/>
            <a:ext cx="53003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886200"/>
            <a:ext cx="5300319" cy="228600"/>
          </a:xfrm>
          <a:prstGeom prst="rect">
            <a:avLst/>
          </a:prstGeom>
          <a:noFill/>
        </p:spPr>
        <p:txBody>
          <a:bodyPr wrap="square" anchor="t" lIns="0" rIns="0" tIns="0" bIns="0">
            <a:spAutoFit/>
          </a:bodyPr>
          <a:lstStyle/>
          <a:p>
            <a:pPr algn="l"/>
            <a:r>
              <a:rPr sz="800" b="1" i="0" spc="160">
                <a:solidFill>
                  <a:srgbClr val="1E3A8A"/>
                </a:solidFill>
                <a:latin typeface="Courier New"/>
              </a:rPr>
              <a:t>LOCK 03 · STATE · CASH FLOW</a:t>
            </a:r>
          </a:p>
        </p:txBody>
      </p:sp>
      <p:sp>
        <p:nvSpPr>
          <p:cNvPr id="19" name="TextBox 18"/>
          <p:cNvSpPr txBox="1"/>
          <p:nvPr/>
        </p:nvSpPr>
        <p:spPr>
          <a:xfrm>
            <a:off x="566928" y="4142232"/>
            <a:ext cx="5300319" cy="320040"/>
          </a:xfrm>
          <a:prstGeom prst="rect">
            <a:avLst/>
          </a:prstGeom>
          <a:noFill/>
        </p:spPr>
        <p:txBody>
          <a:bodyPr wrap="square" anchor="t" lIns="0" rIns="0" tIns="0" bIns="0">
            <a:spAutoFit/>
          </a:bodyPr>
          <a:lstStyle/>
          <a:p>
            <a:pPr algn="l"/>
            <a:r>
              <a:rPr sz="1700" b="1" i="0">
                <a:solidFill>
                  <a:srgbClr val="0E1116"/>
                </a:solidFill>
                <a:latin typeface="Georgia"/>
              </a:rPr>
              <a:t>Fixed incomes hoard equity</a:t>
            </a:r>
          </a:p>
        </p:txBody>
      </p:sp>
      <p:sp>
        <p:nvSpPr>
          <p:cNvPr id="20" name="TextBox 19"/>
          <p:cNvSpPr txBox="1"/>
          <p:nvPr/>
        </p:nvSpPr>
        <p:spPr>
          <a:xfrm>
            <a:off x="566928" y="4526280"/>
            <a:ext cx="5300319" cy="91440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Seniors guard cash against carrying costs. Four states fix this with deferral: state pays, lien accrues at 5–8%, settled in full at sale (OR · MA · WA · TX).</a:t>
            </a:r>
          </a:p>
        </p:txBody>
      </p:sp>
      <p:sp>
        <p:nvSpPr>
          <p:cNvPr id="21" name="TextBox 20"/>
          <p:cNvSpPr txBox="1"/>
          <p:nvPr/>
        </p:nvSpPr>
        <p:spPr>
          <a:xfrm>
            <a:off x="566928" y="5577840"/>
            <a:ext cx="5300319" cy="274320"/>
          </a:xfrm>
          <a:prstGeom prst="rect">
            <a:avLst/>
          </a:prstGeom>
          <a:noFill/>
        </p:spPr>
        <p:txBody>
          <a:bodyPr wrap="square" anchor="t" lIns="0" rIns="0" tIns="0" bIns="0">
            <a:spAutoFit/>
          </a:bodyPr>
          <a:lstStyle/>
          <a:p>
            <a:pPr algn="l"/>
            <a:r>
              <a:rPr sz="800" b="1" i="0" spc="160">
                <a:solidFill>
                  <a:srgbClr val="0E1116"/>
                </a:solidFill>
                <a:latin typeface="Courier New"/>
              </a:rPr>
              <a:t>FIX: NY DEFERRAL ENABLING ACT</a:t>
            </a:r>
          </a:p>
        </p:txBody>
      </p:sp>
      <p:sp>
        <p:nvSpPr>
          <p:cNvPr id="22" name="Rectangle 21"/>
          <p:cNvSpPr/>
          <p:nvPr/>
        </p:nvSpPr>
        <p:spPr>
          <a:xfrm>
            <a:off x="6324447" y="3794760"/>
            <a:ext cx="53003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4447" y="3886200"/>
            <a:ext cx="5300319" cy="228600"/>
          </a:xfrm>
          <a:prstGeom prst="rect">
            <a:avLst/>
          </a:prstGeom>
          <a:noFill/>
        </p:spPr>
        <p:txBody>
          <a:bodyPr wrap="square" anchor="t" lIns="0" rIns="0" tIns="0" bIns="0">
            <a:spAutoFit/>
          </a:bodyPr>
          <a:lstStyle/>
          <a:p>
            <a:pPr algn="l"/>
            <a:r>
              <a:rPr sz="800" b="1" i="0" spc="160">
                <a:solidFill>
                  <a:srgbClr val="1E3A8A"/>
                </a:solidFill>
                <a:latin typeface="Courier New"/>
              </a:rPr>
              <a:t>LOCK 04 · LOCAL · INVENTORY</a:t>
            </a:r>
          </a:p>
        </p:txBody>
      </p:sp>
      <p:sp>
        <p:nvSpPr>
          <p:cNvPr id="24" name="TextBox 23"/>
          <p:cNvSpPr txBox="1"/>
          <p:nvPr/>
        </p:nvSpPr>
        <p:spPr>
          <a:xfrm>
            <a:off x="6324447" y="4142232"/>
            <a:ext cx="5300319" cy="320040"/>
          </a:xfrm>
          <a:prstGeom prst="rect">
            <a:avLst/>
          </a:prstGeom>
          <a:noFill/>
        </p:spPr>
        <p:txBody>
          <a:bodyPr wrap="square" anchor="t" lIns="0" rIns="0" tIns="0" bIns="0">
            <a:spAutoFit/>
          </a:bodyPr>
          <a:lstStyle/>
          <a:p>
            <a:pPr algn="l"/>
            <a:r>
              <a:rPr sz="1700" b="1" i="0">
                <a:solidFill>
                  <a:srgbClr val="0E1116"/>
                </a:solidFill>
                <a:latin typeface="Georgia"/>
              </a:rPr>
              <a:t>Nothing to move into</a:t>
            </a:r>
          </a:p>
        </p:txBody>
      </p:sp>
      <p:sp>
        <p:nvSpPr>
          <p:cNvPr id="25" name="TextBox 24"/>
          <p:cNvSpPr txBox="1"/>
          <p:nvPr/>
        </p:nvSpPr>
        <p:spPr>
          <a:xfrm>
            <a:off x="6324447" y="4526280"/>
            <a:ext cx="5300319" cy="91440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RVC is overwhelmingly single-family; the condo/ADU rungs of the ladder are missing, so selling means leaving the village after 40 years.</a:t>
            </a:r>
          </a:p>
        </p:txBody>
      </p:sp>
      <p:sp>
        <p:nvSpPr>
          <p:cNvPr id="26" name="TextBox 25"/>
          <p:cNvSpPr txBox="1"/>
          <p:nvPr/>
        </p:nvSpPr>
        <p:spPr>
          <a:xfrm>
            <a:off x="6324447" y="5577840"/>
            <a:ext cx="5300319" cy="274320"/>
          </a:xfrm>
          <a:prstGeom prst="rect">
            <a:avLst/>
          </a:prstGeom>
          <a:noFill/>
        </p:spPr>
        <p:txBody>
          <a:bodyPr wrap="square" anchor="t" lIns="0" rIns="0" tIns="0" bIns="0">
            <a:spAutoFit/>
          </a:bodyPr>
          <a:lstStyle/>
          <a:p>
            <a:pPr algn="l"/>
            <a:r>
              <a:rPr sz="800" b="1" i="0" spc="160">
                <a:solidFill>
                  <a:srgbClr val="0E1116"/>
                </a:solidFill>
                <a:latin typeface="Courier New"/>
              </a:rPr>
              <a:t>FIX: ADUS, RIGHT-SIZE ZONING NEAR THE LIRR</a:t>
            </a:r>
          </a:p>
        </p:txBody>
      </p:sp>
      <p:sp>
        <p:nvSpPr>
          <p:cNvPr id="27" name="Rectangle 26"/>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§121 = 26 U.S.C. §121 · §467 = NY RPTL §467 INCOME-TESTED SENIOR EXEMPTION</a:t>
            </a:r>
          </a:p>
        </p:txBody>
      </p:sp>
      <p:sp>
        <p:nvSpPr>
          <p:cNvPr id="29" name="TextBox 28"/>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57200"/>
            <a:ext cx="10058400" cy="274320"/>
          </a:xfrm>
          <a:prstGeom prst="rect">
            <a:avLst/>
          </a:prstGeom>
          <a:noFill/>
        </p:spPr>
        <p:txBody>
          <a:bodyPr wrap="square" anchor="t" lIns="0" rIns="0" tIns="0" bIns="0">
            <a:spAutoFit/>
          </a:bodyPr>
          <a:lstStyle/>
          <a:p>
            <a:pPr algn="l"/>
            <a:r>
              <a:rPr sz="1000" b="1" i="0" spc="160">
                <a:solidFill>
                  <a:srgbClr val="9DB4E8"/>
                </a:solidFill>
                <a:latin typeface="Courier New"/>
              </a:rPr>
              <a:t>MYTH-BUSTER FOR SENIOR CONSTITUENTS</a:t>
            </a:r>
          </a:p>
        </p:txBody>
      </p:sp>
      <p:sp>
        <p:nvSpPr>
          <p:cNvPr id="4" name="Rectangle 3"/>
          <p:cNvSpPr/>
          <p:nvPr/>
        </p:nvSpPr>
        <p:spPr>
          <a:xfrm>
            <a:off x="566928" y="868680"/>
            <a:ext cx="2194560" cy="25400"/>
          </a:xfrm>
          <a:prstGeom prst="rect">
            <a:avLst/>
          </a:prstGeom>
          <a:solidFill>
            <a:srgbClr val="9DB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234440"/>
            <a:ext cx="10789920" cy="1097280"/>
          </a:xfrm>
          <a:prstGeom prst="rect">
            <a:avLst/>
          </a:prstGeom>
          <a:noFill/>
        </p:spPr>
        <p:txBody>
          <a:bodyPr wrap="square" anchor="t" lIns="0" rIns="0" tIns="0" bIns="0">
            <a:spAutoFit/>
          </a:bodyPr>
          <a:lstStyle/>
          <a:p>
            <a:pPr algn="l">
              <a:lnSpc>
                <a:spcPct val="105000"/>
              </a:lnSpc>
            </a:pPr>
            <a:r>
              <a:rPr sz="3400" b="1" i="0">
                <a:solidFill>
                  <a:srgbClr val="F1ECE2"/>
                </a:solidFill>
                <a:latin typeface="Georgia"/>
              </a:rPr>
              <a:t>Moving within New York does not forfeit your benefits.</a:t>
            </a:r>
          </a:p>
        </p:txBody>
      </p:sp>
      <p:sp>
        <p:nvSpPr>
          <p:cNvPr id="6" name="Rectangle 5"/>
          <p:cNvSpPr/>
          <p:nvPr/>
        </p:nvSpPr>
        <p:spPr>
          <a:xfrm>
            <a:off x="566928" y="2697480"/>
            <a:ext cx="109728" cy="109728"/>
          </a:xfrm>
          <a:prstGeom prst="rect">
            <a:avLst/>
          </a:prstGeom>
          <a:solidFill>
            <a:srgbClr val="9DB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651760"/>
            <a:ext cx="2651760" cy="457200"/>
          </a:xfrm>
          <a:prstGeom prst="rect">
            <a:avLst/>
          </a:prstGeom>
          <a:noFill/>
        </p:spPr>
        <p:txBody>
          <a:bodyPr wrap="square" anchor="t" lIns="0" rIns="0" tIns="0" bIns="0">
            <a:spAutoFit/>
          </a:bodyPr>
          <a:lstStyle/>
          <a:p>
            <a:pPr algn="l"/>
            <a:r>
              <a:rPr sz="950" b="1" i="0" spc="160">
                <a:solidFill>
                  <a:srgbClr val="9DB4E8"/>
                </a:solidFill>
                <a:latin typeface="Courier New"/>
              </a:rPr>
              <a:t>ENHANCED STAR</a:t>
            </a:r>
          </a:p>
        </p:txBody>
      </p:sp>
      <p:sp>
        <p:nvSpPr>
          <p:cNvPr id="8" name="TextBox 7"/>
          <p:cNvSpPr txBox="1"/>
          <p:nvPr/>
        </p:nvSpPr>
        <p:spPr>
          <a:xfrm>
            <a:off x="3675888" y="2624328"/>
            <a:ext cx="8321040" cy="777240"/>
          </a:xfrm>
          <a:prstGeom prst="rect">
            <a:avLst/>
          </a:prstGeom>
          <a:noFill/>
        </p:spPr>
        <p:txBody>
          <a:bodyPr wrap="square" anchor="t" lIns="0" rIns="0" tIns="0" bIns="0">
            <a:spAutoFit/>
          </a:bodyPr>
          <a:lstStyle/>
          <a:p>
            <a:pPr algn="l">
              <a:lnSpc>
                <a:spcPct val="120000"/>
              </a:lnSpc>
            </a:pPr>
            <a:r>
              <a:rPr sz="1300" b="0" i="0">
                <a:solidFill>
                  <a:srgbClr val="F1ECE2"/>
                </a:solidFill>
                <a:latin typeface="Arial"/>
              </a:rPr>
              <a:t>Follows you to any new NY primary residence — re-register, income-qualified, same credit.</a:t>
            </a:r>
          </a:p>
        </p:txBody>
      </p:sp>
      <p:sp>
        <p:nvSpPr>
          <p:cNvPr id="9" name="Rectangle 8"/>
          <p:cNvSpPr/>
          <p:nvPr/>
        </p:nvSpPr>
        <p:spPr>
          <a:xfrm>
            <a:off x="566928" y="3630168"/>
            <a:ext cx="109728" cy="109728"/>
          </a:xfrm>
          <a:prstGeom prst="rect">
            <a:avLst/>
          </a:prstGeom>
          <a:solidFill>
            <a:srgbClr val="9DB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3584448"/>
            <a:ext cx="2651760" cy="457200"/>
          </a:xfrm>
          <a:prstGeom prst="rect">
            <a:avLst/>
          </a:prstGeom>
          <a:noFill/>
        </p:spPr>
        <p:txBody>
          <a:bodyPr wrap="square" anchor="t" lIns="0" rIns="0" tIns="0" bIns="0">
            <a:spAutoFit/>
          </a:bodyPr>
          <a:lstStyle/>
          <a:p>
            <a:pPr algn="l"/>
            <a:r>
              <a:rPr sz="950" b="1" i="0" spc="160">
                <a:solidFill>
                  <a:srgbClr val="9DB4E8"/>
                </a:solidFill>
                <a:latin typeface="Courier New"/>
              </a:rPr>
              <a:t>§467 SENIOR EXEMPTION</a:t>
            </a:r>
          </a:p>
        </p:txBody>
      </p:sp>
      <p:sp>
        <p:nvSpPr>
          <p:cNvPr id="11" name="TextBox 10"/>
          <p:cNvSpPr txBox="1"/>
          <p:nvPr/>
        </p:nvSpPr>
        <p:spPr>
          <a:xfrm>
            <a:off x="3675888" y="3557016"/>
            <a:ext cx="8321040" cy="777240"/>
          </a:xfrm>
          <a:prstGeom prst="rect">
            <a:avLst/>
          </a:prstGeom>
          <a:noFill/>
        </p:spPr>
        <p:txBody>
          <a:bodyPr wrap="square" anchor="t" lIns="0" rIns="0" tIns="0" bIns="0">
            <a:spAutoFit/>
          </a:bodyPr>
          <a:lstStyle/>
          <a:p>
            <a:pPr algn="l">
              <a:lnSpc>
                <a:spcPct val="120000"/>
              </a:lnSpc>
            </a:pPr>
            <a:r>
              <a:rPr sz="1300" b="0" i="0">
                <a:solidFill>
                  <a:srgbClr val="F1ECE2"/>
                </a:solidFill>
                <a:latin typeface="Arial"/>
              </a:rPr>
              <a:t>Applies at the new home wherever local jurisdictions adopted it — and Nassau waives its 12-month ownership wait for prior holders.</a:t>
            </a:r>
          </a:p>
        </p:txBody>
      </p:sp>
      <p:sp>
        <p:nvSpPr>
          <p:cNvPr id="12" name="Rectangle 11"/>
          <p:cNvSpPr/>
          <p:nvPr/>
        </p:nvSpPr>
        <p:spPr>
          <a:xfrm>
            <a:off x="566928" y="4562856"/>
            <a:ext cx="109728" cy="109728"/>
          </a:xfrm>
          <a:prstGeom prst="rect">
            <a:avLst/>
          </a:prstGeom>
          <a:solidFill>
            <a:srgbClr val="9DB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4517136"/>
            <a:ext cx="2651760" cy="457200"/>
          </a:xfrm>
          <a:prstGeom prst="rect">
            <a:avLst/>
          </a:prstGeom>
          <a:noFill/>
        </p:spPr>
        <p:txBody>
          <a:bodyPr wrap="square" anchor="t" lIns="0" rIns="0" tIns="0" bIns="0">
            <a:spAutoFit/>
          </a:bodyPr>
          <a:lstStyle/>
          <a:p>
            <a:pPr algn="l"/>
            <a:r>
              <a:rPr sz="950" b="1" i="0" spc="160">
                <a:solidFill>
                  <a:srgbClr val="9DB4E8"/>
                </a:solidFill>
                <a:latin typeface="Courier New"/>
              </a:rPr>
              <a:t>YOUR TAX BILL</a:t>
            </a:r>
          </a:p>
        </p:txBody>
      </p:sp>
      <p:sp>
        <p:nvSpPr>
          <p:cNvPr id="14" name="TextBox 13"/>
          <p:cNvSpPr txBox="1"/>
          <p:nvPr/>
        </p:nvSpPr>
        <p:spPr>
          <a:xfrm>
            <a:off x="3675888" y="4489704"/>
            <a:ext cx="8321040" cy="777240"/>
          </a:xfrm>
          <a:prstGeom prst="rect">
            <a:avLst/>
          </a:prstGeom>
          <a:noFill/>
        </p:spPr>
        <p:txBody>
          <a:bodyPr wrap="square" anchor="t" lIns="0" rIns="0" tIns="0" bIns="0">
            <a:spAutoFit/>
          </a:bodyPr>
          <a:lstStyle/>
          <a:p>
            <a:pPr algn="l">
              <a:lnSpc>
                <a:spcPct val="120000"/>
              </a:lnSpc>
            </a:pPr>
            <a:r>
              <a:rPr sz="1300" b="0" i="0">
                <a:solidFill>
                  <a:srgbClr val="F1ECE2"/>
                </a:solidFill>
                <a:latin typeface="Arial"/>
              </a:rPr>
              <a:t>New York taxes current value, not purchase price (unlike California). Downsize to a smaller home and the bill falls with it — no Prop-13-style reset.</a:t>
            </a:r>
          </a:p>
        </p:txBody>
      </p:sp>
      <p:sp>
        <p:nvSpPr>
          <p:cNvPr id="15" name="TextBox 14"/>
          <p:cNvSpPr txBox="1"/>
          <p:nvPr/>
        </p:nvSpPr>
        <p:spPr>
          <a:xfrm>
            <a:off x="566928" y="5806440"/>
            <a:ext cx="10789920" cy="548640"/>
          </a:xfrm>
          <a:prstGeom prst="rect">
            <a:avLst/>
          </a:prstGeom>
          <a:noFill/>
        </p:spPr>
        <p:txBody>
          <a:bodyPr wrap="square" anchor="t" lIns="0" rIns="0" tIns="0" bIns="0">
            <a:spAutoFit/>
          </a:bodyPr>
          <a:lstStyle/>
          <a:p>
            <a:pPr algn="l"/>
            <a:r>
              <a:rPr sz="1450" b="0" i="1">
                <a:solidFill>
                  <a:srgbClr val="D8D3C6"/>
                </a:solidFill>
                <a:latin typeface="Georgia"/>
              </a:rPr>
              <a:t>The one real timing penalty — losing the exemption in the year of a move — is exactly what S3309/A5288 repairs.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Lock-In</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10</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972800" cy="502920"/>
          </a:xfrm>
          <a:prstGeom prst="rect">
            <a:avLst/>
          </a:prstGeom>
          <a:noFill/>
        </p:spPr>
        <p:txBody>
          <a:bodyPr wrap="square" anchor="t" lIns="0" rIns="0" tIns="0" bIns="0">
            <a:spAutoFit/>
          </a:bodyPr>
          <a:lstStyle/>
          <a:p>
            <a:pPr algn="l"/>
            <a:r>
              <a:rPr sz="2500" b="1" i="0">
                <a:solidFill>
                  <a:srgbClr val="0E1116"/>
                </a:solidFill>
                <a:latin typeface="Georgia"/>
              </a:rPr>
              <a:t>More “stay” incentives are coming — with nothing for “go”</a:t>
            </a:r>
          </a:p>
        </p:txBody>
      </p:sp>
      <p:sp>
        <p:nvSpPr>
          <p:cNvPr id="7" name="Rectangle 6"/>
          <p:cNvSpPr/>
          <p:nvPr/>
        </p:nvSpPr>
        <p:spPr>
          <a:xfrm>
            <a:off x="566928" y="1517904"/>
            <a:ext cx="3383280"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09344"/>
            <a:ext cx="3291840"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CH. 581 OF 2025</a:t>
            </a:r>
          </a:p>
        </p:txBody>
      </p:sp>
      <p:sp>
        <p:nvSpPr>
          <p:cNvPr id="9" name="TextBox 8"/>
          <p:cNvSpPr txBox="1"/>
          <p:nvPr/>
        </p:nvSpPr>
        <p:spPr>
          <a:xfrm>
            <a:off x="566928" y="1847088"/>
            <a:ext cx="3337560" cy="566928"/>
          </a:xfrm>
          <a:prstGeom prst="rect">
            <a:avLst/>
          </a:prstGeom>
          <a:noFill/>
        </p:spPr>
        <p:txBody>
          <a:bodyPr wrap="square" anchor="t" lIns="0" rIns="0" tIns="0" bIns="0">
            <a:spAutoFit/>
          </a:bodyPr>
          <a:lstStyle/>
          <a:p>
            <a:pPr algn="l"/>
            <a:r>
              <a:rPr sz="4000" b="1" i="0">
                <a:solidFill>
                  <a:srgbClr val="0E1116"/>
                </a:solidFill>
                <a:latin typeface="Georgia"/>
              </a:rPr>
              <a:t>65</a:t>
            </a:r>
            <a:r>
              <a:rPr sz="2000" b="0" i="1">
                <a:solidFill>
                  <a:srgbClr val="1E3A8A"/>
                </a:solidFill>
                <a:latin typeface="Georgia"/>
              </a:rPr>
              <a:t> %</a:t>
            </a:r>
          </a:p>
        </p:txBody>
      </p:sp>
      <p:sp>
        <p:nvSpPr>
          <p:cNvPr id="10" name="TextBox 9"/>
          <p:cNvSpPr txBox="1"/>
          <p:nvPr/>
        </p:nvSpPr>
        <p:spPr>
          <a:xfrm>
            <a:off x="566928" y="2377440"/>
            <a:ext cx="3273552"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New maximum §467 exemption tier (income ≤ $47,000) — signed Dec 5, 2025; Nassau already applies it</a:t>
            </a:r>
          </a:p>
        </p:txBody>
      </p:sp>
      <p:sp>
        <p:nvSpPr>
          <p:cNvPr id="11" name="TextBox 10"/>
          <p:cNvSpPr txBox="1"/>
          <p:nvPr/>
        </p:nvSpPr>
        <p:spPr>
          <a:xfrm>
            <a:off x="566928" y="3090672"/>
            <a:ext cx="3291840" cy="201168"/>
          </a:xfrm>
          <a:prstGeom prst="rect">
            <a:avLst/>
          </a:prstGeom>
          <a:noFill/>
        </p:spPr>
        <p:txBody>
          <a:bodyPr wrap="square" anchor="t" lIns="0" rIns="0" tIns="0" bIns="0">
            <a:spAutoFit/>
          </a:bodyPr>
          <a:lstStyle/>
          <a:p>
            <a:pPr algn="l"/>
            <a:r>
              <a:rPr sz="700" b="0" i="0" spc="160">
                <a:solidFill>
                  <a:srgbClr val="6B6B6B"/>
                </a:solidFill>
                <a:latin typeface="Courier New"/>
              </a:rPr>
              <a:t>NYSENATE.GOV · NASSAU BROCHURE</a:t>
            </a:r>
          </a:p>
        </p:txBody>
      </p:sp>
      <p:sp>
        <p:nvSpPr>
          <p:cNvPr id="12" name="Rectangle 11"/>
          <p:cNvSpPr/>
          <p:nvPr/>
        </p:nvSpPr>
        <p:spPr>
          <a:xfrm>
            <a:off x="4224528" y="1517904"/>
            <a:ext cx="3383280"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24528" y="1609344"/>
            <a:ext cx="3291840"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SEPARATE 2025 LAW</a:t>
            </a:r>
          </a:p>
        </p:txBody>
      </p:sp>
      <p:sp>
        <p:nvSpPr>
          <p:cNvPr id="14" name="TextBox 13"/>
          <p:cNvSpPr txBox="1"/>
          <p:nvPr/>
        </p:nvSpPr>
        <p:spPr>
          <a:xfrm>
            <a:off x="4224528" y="1847088"/>
            <a:ext cx="3337560" cy="566928"/>
          </a:xfrm>
          <a:prstGeom prst="rect">
            <a:avLst/>
          </a:prstGeom>
          <a:noFill/>
        </p:spPr>
        <p:txBody>
          <a:bodyPr wrap="square" anchor="t" lIns="0" rIns="0" tIns="0" bIns="0">
            <a:spAutoFit/>
          </a:bodyPr>
          <a:lstStyle/>
          <a:p>
            <a:pPr algn="l"/>
            <a:r>
              <a:rPr sz="4000" b="1" i="0">
                <a:solidFill>
                  <a:srgbClr val="0E1116"/>
                </a:solidFill>
                <a:latin typeface="Georgia"/>
              </a:rPr>
              <a:t>$75</a:t>
            </a:r>
            <a:r>
              <a:rPr sz="2000" b="0" i="1">
                <a:solidFill>
                  <a:srgbClr val="1E3A8A"/>
                </a:solidFill>
                <a:latin typeface="Georgia"/>
              </a:rPr>
              <a:t> K</a:t>
            </a:r>
          </a:p>
        </p:txBody>
      </p:sp>
      <p:sp>
        <p:nvSpPr>
          <p:cNvPr id="15" name="TextBox 14"/>
          <p:cNvSpPr txBox="1"/>
          <p:nvPr/>
        </p:nvSpPr>
        <p:spPr>
          <a:xfrm>
            <a:off x="4224528" y="2377440"/>
            <a:ext cx="3273552"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§467 income ceiling from July 1, 2027 — a major expansion of the eligible pool, if localities opt in</a:t>
            </a:r>
          </a:p>
        </p:txBody>
      </p:sp>
      <p:sp>
        <p:nvSpPr>
          <p:cNvPr id="16" name="TextBox 15"/>
          <p:cNvSpPr txBox="1"/>
          <p:nvPr/>
        </p:nvSpPr>
        <p:spPr>
          <a:xfrm>
            <a:off x="4224528" y="3090672"/>
            <a:ext cx="3291840" cy="201168"/>
          </a:xfrm>
          <a:prstGeom prst="rect">
            <a:avLst/>
          </a:prstGeom>
          <a:noFill/>
        </p:spPr>
        <p:txBody>
          <a:bodyPr wrap="square" anchor="t" lIns="0" rIns="0" tIns="0" bIns="0">
            <a:spAutoFit/>
          </a:bodyPr>
          <a:lstStyle/>
          <a:p>
            <a:pPr algn="l"/>
            <a:r>
              <a:rPr sz="700" b="0" i="0" spc="160">
                <a:solidFill>
                  <a:srgbClr val="6B6B6B"/>
                </a:solidFill>
                <a:latin typeface="Courier New"/>
              </a:rPr>
              <a:t>DTF 2025 LEGISLATIVE SUMMARY</a:t>
            </a:r>
          </a:p>
        </p:txBody>
      </p:sp>
      <p:sp>
        <p:nvSpPr>
          <p:cNvPr id="17" name="Rectangle 16"/>
          <p:cNvSpPr/>
          <p:nvPr/>
        </p:nvSpPr>
        <p:spPr>
          <a:xfrm>
            <a:off x="7882128" y="1517904"/>
            <a:ext cx="3703320"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82128" y="1609344"/>
            <a:ext cx="3611880"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NBER W25468</a:t>
            </a:r>
          </a:p>
        </p:txBody>
      </p:sp>
      <p:sp>
        <p:nvSpPr>
          <p:cNvPr id="19" name="TextBox 18"/>
          <p:cNvSpPr txBox="1"/>
          <p:nvPr/>
        </p:nvSpPr>
        <p:spPr>
          <a:xfrm>
            <a:off x="7882128" y="1847088"/>
            <a:ext cx="3657600" cy="566928"/>
          </a:xfrm>
          <a:prstGeom prst="rect">
            <a:avLst/>
          </a:prstGeom>
          <a:noFill/>
        </p:spPr>
        <p:txBody>
          <a:bodyPr wrap="square" anchor="t" lIns="0" rIns="0" tIns="0" bIns="0">
            <a:spAutoFit/>
          </a:bodyPr>
          <a:lstStyle/>
          <a:p>
            <a:pPr algn="l"/>
            <a:r>
              <a:rPr sz="4000" b="1" i="0">
                <a:solidFill>
                  <a:srgbClr val="0E1116"/>
                </a:solidFill>
                <a:latin typeface="Georgia"/>
              </a:rPr>
              <a:t>100</a:t>
            </a:r>
            <a:r>
              <a:rPr sz="2000" b="0" i="1">
                <a:solidFill>
                  <a:srgbClr val="1E3A8A"/>
                </a:solidFill>
                <a:latin typeface="Georgia"/>
              </a:rPr>
              <a:t> yrs</a:t>
            </a:r>
          </a:p>
        </p:txBody>
      </p:sp>
      <p:sp>
        <p:nvSpPr>
          <p:cNvPr id="20" name="TextBox 19"/>
          <p:cNvSpPr txBox="1"/>
          <p:nvPr/>
        </p:nvSpPr>
        <p:spPr>
          <a:xfrm>
            <a:off x="7882128" y="2377440"/>
            <a:ext cx="3593592"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Of Georgia exemptions, quadruple-difference design: age-based relief measurably increases seniors staying put</a:t>
            </a:r>
          </a:p>
        </p:txBody>
      </p:sp>
      <p:sp>
        <p:nvSpPr>
          <p:cNvPr id="21" name="TextBox 20"/>
          <p:cNvSpPr txBox="1"/>
          <p:nvPr/>
        </p:nvSpPr>
        <p:spPr>
          <a:xfrm>
            <a:off x="7882128" y="3090672"/>
            <a:ext cx="3611880" cy="201168"/>
          </a:xfrm>
          <a:prstGeom prst="rect">
            <a:avLst/>
          </a:prstGeom>
          <a:noFill/>
        </p:spPr>
        <p:txBody>
          <a:bodyPr wrap="square" anchor="t" lIns="0" rIns="0" tIns="0" bIns="0">
            <a:spAutoFit/>
          </a:bodyPr>
          <a:lstStyle/>
          <a:p>
            <a:pPr algn="l"/>
            <a:r>
              <a:rPr sz="700" b="0" i="0" spc="160">
                <a:solidFill>
                  <a:srgbClr val="6B6B6B"/>
                </a:solidFill>
                <a:latin typeface="Courier New"/>
              </a:rPr>
              <a:t>BANZHAF, MICKEY &amp; PATRICK · JUE 2021</a:t>
            </a:r>
          </a:p>
        </p:txBody>
      </p:sp>
      <p:sp>
        <p:nvSpPr>
          <p:cNvPr id="22" name="TextBox 21"/>
          <p:cNvSpPr txBox="1"/>
          <p:nvPr/>
        </p:nvSpPr>
        <p:spPr>
          <a:xfrm>
            <a:off x="566928" y="3611880"/>
            <a:ext cx="10058400" cy="274320"/>
          </a:xfrm>
          <a:prstGeom prst="rect">
            <a:avLst/>
          </a:prstGeom>
          <a:noFill/>
        </p:spPr>
        <p:txBody>
          <a:bodyPr wrap="square" anchor="t" lIns="0" rIns="0" tIns="0" bIns="0">
            <a:spAutoFit/>
          </a:bodyPr>
          <a:lstStyle/>
          <a:p>
            <a:pPr algn="l"/>
            <a:r>
              <a:rPr sz="900" b="1" i="0">
                <a:solidFill>
                  <a:srgbClr val="1E3A8A"/>
                </a:solidFill>
                <a:latin typeface="Courier New"/>
              </a:rPr>
              <a:t>■ </a:t>
            </a:r>
            <a:r>
              <a:rPr sz="1000" b="1" i="0" spc="160">
                <a:solidFill>
                  <a:srgbClr val="1E3A8A"/>
                </a:solidFill>
                <a:latin typeface="Courier New"/>
              </a:rPr>
              <a:t>EACH UNPAIRED EXPANSION MAKES THREE THINGS HARDER</a:t>
            </a:r>
          </a:p>
        </p:txBody>
      </p:sp>
      <p:sp>
        <p:nvSpPr>
          <p:cNvPr id="23" name="Rectangle 22"/>
          <p:cNvSpPr/>
          <p:nvPr/>
        </p:nvSpPr>
        <p:spPr>
          <a:xfrm>
            <a:off x="566928" y="3977639"/>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069079"/>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FOR YOUNG FAMILIES</a:t>
            </a:r>
          </a:p>
        </p:txBody>
      </p:sp>
      <p:sp>
        <p:nvSpPr>
          <p:cNvPr id="25" name="TextBox 24"/>
          <p:cNvSpPr txBox="1"/>
          <p:nvPr/>
        </p:nvSpPr>
        <p:spPr>
          <a:xfrm>
            <a:off x="566928" y="4343399"/>
            <a:ext cx="3503066" cy="128016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Even fewer listings — relief raises the financial pull of staying, so fewer of the 2,076 senior-owned homes ever reach the market.</a:t>
            </a:r>
          </a:p>
        </p:txBody>
      </p:sp>
      <p:sp>
        <p:nvSpPr>
          <p:cNvPr id="26" name="Rectangle 25"/>
          <p:cNvSpPr/>
          <p:nvPr/>
        </p:nvSpPr>
        <p:spPr>
          <a:xfrm>
            <a:off x="4344314" y="3977639"/>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4314" y="4069079"/>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FOR CURRENT TAXPAYERS</a:t>
            </a:r>
          </a:p>
        </p:txBody>
      </p:sp>
      <p:sp>
        <p:nvSpPr>
          <p:cNvPr id="28" name="TextBox 27"/>
          <p:cNvSpPr txBox="1"/>
          <p:nvPr/>
        </p:nvSpPr>
        <p:spPr>
          <a:xfrm>
            <a:off x="4344314" y="4343399"/>
            <a:ext cx="3503066" cy="128016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A larger §467 pool shifts a larger share of the fixed levy onto everyone else — working families most of all.</a:t>
            </a:r>
          </a:p>
        </p:txBody>
      </p:sp>
      <p:sp>
        <p:nvSpPr>
          <p:cNvPr id="29" name="Rectangle 28"/>
          <p:cNvSpPr/>
          <p:nvPr/>
        </p:nvSpPr>
        <p:spPr>
          <a:xfrm>
            <a:off x="8121700" y="3977639"/>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21700" y="4069079"/>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FOR SCHOOL DISTRICTS</a:t>
            </a:r>
          </a:p>
        </p:txBody>
      </p:sp>
      <p:sp>
        <p:nvSpPr>
          <p:cNvPr id="31" name="TextBox 30"/>
          <p:cNvSpPr txBox="1"/>
          <p:nvPr/>
        </p:nvSpPr>
        <p:spPr>
          <a:xfrm>
            <a:off x="8121700" y="4343399"/>
            <a:ext cx="3503066" cy="1280160"/>
          </a:xfrm>
          <a:prstGeom prst="rect">
            <a:avLst/>
          </a:prstGeom>
          <a:noFill/>
        </p:spPr>
        <p:txBody>
          <a:bodyPr wrap="square" anchor="t" lIns="0" rIns="0" tIns="0" bIns="0">
            <a:spAutoFit/>
          </a:bodyPr>
          <a:lstStyle/>
          <a:p>
            <a:pPr algn="l">
              <a:lnSpc>
                <a:spcPct val="118000"/>
              </a:lnSpc>
            </a:pPr>
            <a:r>
              <a:rPr sz="1050" b="0" i="0">
                <a:solidFill>
                  <a:srgbClr val="2A2A2A"/>
                </a:solidFill>
                <a:latin typeface="Arial"/>
              </a:rPr>
              <a:t>Slower turnover means faster enrollment decline — and the cuts-or-override arithmetic of slide 4 arrives sooner.</a:t>
            </a:r>
          </a:p>
        </p:txBody>
      </p:sp>
      <p:sp>
        <p:nvSpPr>
          <p:cNvPr id="32" name="TextBox 31"/>
          <p:cNvSpPr txBox="1"/>
          <p:nvPr/>
        </p:nvSpPr>
        <p:spPr>
          <a:xfrm>
            <a:off x="566928" y="5715000"/>
            <a:ext cx="10789920" cy="548640"/>
          </a:xfrm>
          <a:prstGeom prst="rect">
            <a:avLst/>
          </a:prstGeom>
          <a:noFill/>
        </p:spPr>
        <p:txBody>
          <a:bodyPr wrap="square" anchor="t" lIns="0" rIns="0" tIns="0" bIns="0">
            <a:spAutoFit/>
          </a:bodyPr>
          <a:lstStyle/>
          <a:p>
            <a:pPr algn="l"/>
            <a:r>
              <a:rPr sz="1500" b="0" i="1">
                <a:solidFill>
                  <a:srgbClr val="2A2A2A"/>
                </a:solidFill>
                <a:latin typeface="Georgia"/>
              </a:rPr>
              <a:t>The ask is not to oppose relief — it is to pair every expansion with a fiscal note and a mobility counterpart.</a:t>
            </a:r>
          </a:p>
        </p:txBody>
      </p:sp>
      <p:sp>
        <p:nvSpPr>
          <p:cNvPr id="33" name="Rectangle 32"/>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EVERY §467 EXPANSION DECISION IS NOW PENDING LOCALLY — THE DATA ASK (SLIDE 15) COMES FIRST</a:t>
            </a:r>
          </a:p>
        </p:txBody>
      </p:sp>
      <p:sp>
        <p:nvSpPr>
          <p:cNvPr id="35" name="TextBox 34"/>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Math, Done Honestly</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11</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058400" cy="502920"/>
          </a:xfrm>
          <a:prstGeom prst="rect">
            <a:avLst/>
          </a:prstGeom>
          <a:noFill/>
        </p:spPr>
        <p:txBody>
          <a:bodyPr wrap="square" anchor="t" lIns="0" rIns="0" tIns="0" bIns="0">
            <a:spAutoFit/>
          </a:bodyPr>
          <a:lstStyle/>
          <a:p>
            <a:pPr algn="l"/>
            <a:r>
              <a:rPr sz="2800" b="1" i="0">
                <a:solidFill>
                  <a:srgbClr val="0E1116"/>
                </a:solidFill>
                <a:latin typeface="Georgia"/>
              </a:rPr>
              <a:t>Follow one home.</a:t>
            </a:r>
          </a:p>
        </p:txBody>
      </p:sp>
      <p:sp>
        <p:nvSpPr>
          <p:cNvPr id="7" name="TextBox 6"/>
          <p:cNvSpPr txBox="1"/>
          <p:nvPr/>
        </p:nvSpPr>
        <p:spPr>
          <a:xfrm>
            <a:off x="566928" y="1335024"/>
            <a:ext cx="10789920" cy="457200"/>
          </a:xfrm>
          <a:prstGeom prst="rect">
            <a:avLst/>
          </a:prstGeom>
          <a:noFill/>
        </p:spPr>
        <p:txBody>
          <a:bodyPr wrap="square" anchor="t" lIns="0" rIns="0" tIns="0" bIns="0">
            <a:spAutoFit/>
          </a:bodyPr>
          <a:lstStyle/>
          <a:p>
            <a:pPr algn="l">
              <a:lnSpc>
                <a:spcPct val="120000"/>
              </a:lnSpc>
            </a:pPr>
            <a:r>
              <a:rPr sz="1350" b="0" i="1">
                <a:solidFill>
                  <a:srgbClr val="2A2A2A"/>
                </a:solidFill>
                <a:latin typeface="Georgia"/>
              </a:rPr>
              <a:t>A senior household sells; a young family buys. Four things happen — to four different balance sheets. None of them is “the district recaptures revenue.”</a:t>
            </a:r>
          </a:p>
        </p:txBody>
      </p:sp>
      <p:sp>
        <p:nvSpPr>
          <p:cNvPr id="8" name="Rectangle 7"/>
          <p:cNvSpPr/>
          <p:nvPr/>
        </p:nvSpPr>
        <p:spPr>
          <a:xfrm>
            <a:off x="566928" y="1965960"/>
            <a:ext cx="53003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75607" y="2057400"/>
            <a:ext cx="1691640" cy="201168"/>
          </a:xfrm>
          <a:prstGeom prst="rect">
            <a:avLst/>
          </a:prstGeom>
          <a:solidFill>
            <a:srgbClr val="ECE2C9"/>
          </a:solidFill>
          <a:ln w="9525">
            <a:solidFill>
              <a:srgbClr val="A07A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75607" y="2071116"/>
            <a:ext cx="1691640" cy="182880"/>
          </a:xfrm>
          <a:prstGeom prst="rect">
            <a:avLst/>
          </a:prstGeom>
          <a:noFill/>
        </p:spPr>
        <p:txBody>
          <a:bodyPr wrap="square" anchor="t" lIns="0" rIns="0" tIns="0" bIns="0">
            <a:spAutoFit/>
          </a:bodyPr>
          <a:lstStyle/>
          <a:p>
            <a:pPr algn="ctr"/>
            <a:r>
              <a:rPr sz="700" b="1" i="0" spc="160">
                <a:solidFill>
                  <a:srgbClr val="A07A2F"/>
                </a:solidFill>
                <a:latin typeface="Courier New"/>
              </a:rPr>
              <a:t>NY STATE SAVES</a:t>
            </a:r>
          </a:p>
        </p:txBody>
      </p:sp>
      <p:sp>
        <p:nvSpPr>
          <p:cNvPr id="11" name="TextBox 10"/>
          <p:cNvSpPr txBox="1"/>
          <p:nvPr/>
        </p:nvSpPr>
        <p:spPr>
          <a:xfrm>
            <a:off x="566928" y="2057400"/>
            <a:ext cx="52088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01 · EVERY YEAR AFTER THE SALE</a:t>
            </a:r>
          </a:p>
        </p:txBody>
      </p:sp>
      <p:sp>
        <p:nvSpPr>
          <p:cNvPr id="12" name="TextBox 11"/>
          <p:cNvSpPr txBox="1"/>
          <p:nvPr/>
        </p:nvSpPr>
        <p:spPr>
          <a:xfrm>
            <a:off x="566928" y="2295144"/>
            <a:ext cx="5254599" cy="566928"/>
          </a:xfrm>
          <a:prstGeom prst="rect">
            <a:avLst/>
          </a:prstGeom>
          <a:noFill/>
        </p:spPr>
        <p:txBody>
          <a:bodyPr wrap="square" anchor="t" lIns="0" rIns="0" tIns="0" bIns="0">
            <a:spAutoFit/>
          </a:bodyPr>
          <a:lstStyle/>
          <a:p>
            <a:pPr algn="l"/>
            <a:r>
              <a:rPr sz="3200" b="1" i="0">
                <a:solidFill>
                  <a:srgbClr val="0E1116"/>
                </a:solidFill>
                <a:latin typeface="Georgia"/>
              </a:rPr>
              <a:t>$2,058</a:t>
            </a:r>
            <a:r>
              <a:rPr sz="1600" b="0" i="1">
                <a:solidFill>
                  <a:srgbClr val="1E3A8A"/>
                </a:solidFill>
                <a:latin typeface="Georgia"/>
              </a:rPr>
              <a:t> /yr</a:t>
            </a:r>
          </a:p>
        </p:txBody>
      </p:sp>
      <p:sp>
        <p:nvSpPr>
          <p:cNvPr id="13" name="TextBox 12"/>
          <p:cNvSpPr txBox="1"/>
          <p:nvPr/>
        </p:nvSpPr>
        <p:spPr>
          <a:xfrm>
            <a:off x="566928" y="2825496"/>
            <a:ext cx="51905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Enhanced STAR credit ($3,147) becomes Basic ($1,089). STAR is state-funded — the saver is Albany, forever.</a:t>
            </a:r>
          </a:p>
        </p:txBody>
      </p:sp>
      <p:sp>
        <p:nvSpPr>
          <p:cNvPr id="14" name="TextBox 13"/>
          <p:cNvSpPr txBox="1"/>
          <p:nvPr/>
        </p:nvSpPr>
        <p:spPr>
          <a:xfrm>
            <a:off x="566928" y="3538728"/>
            <a:ext cx="5208879" cy="201168"/>
          </a:xfrm>
          <a:prstGeom prst="rect">
            <a:avLst/>
          </a:prstGeom>
          <a:noFill/>
        </p:spPr>
        <p:txBody>
          <a:bodyPr wrap="square" anchor="t" lIns="0" rIns="0" tIns="0" bIns="0">
            <a:spAutoFit/>
          </a:bodyPr>
          <a:lstStyle/>
          <a:p>
            <a:pPr algn="l"/>
            <a:r>
              <a:rPr sz="700" b="0" i="0" spc="160">
                <a:solidFill>
                  <a:srgbClr val="6B6B6B"/>
                </a:solidFill>
                <a:latin typeface="Courier New"/>
              </a:rPr>
              <a:t>DTF 2025 FINAL · RVC CLASS 1 · RPTL §1306-A</a:t>
            </a:r>
          </a:p>
        </p:txBody>
      </p:sp>
      <p:sp>
        <p:nvSpPr>
          <p:cNvPr id="15" name="Rectangle 14"/>
          <p:cNvSpPr/>
          <p:nvPr/>
        </p:nvSpPr>
        <p:spPr>
          <a:xfrm>
            <a:off x="6324447" y="1965960"/>
            <a:ext cx="53003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933127" y="2057400"/>
            <a:ext cx="1691640" cy="201168"/>
          </a:xfrm>
          <a:prstGeom prst="rect">
            <a:avLst/>
          </a:prstGeom>
          <a:solidFill>
            <a:srgbClr val="ECE2C9"/>
          </a:solidFill>
          <a:ln w="9525">
            <a:solidFill>
              <a:srgbClr val="A07A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33127" y="2071116"/>
            <a:ext cx="1691640" cy="182880"/>
          </a:xfrm>
          <a:prstGeom prst="rect">
            <a:avLst/>
          </a:prstGeom>
          <a:noFill/>
        </p:spPr>
        <p:txBody>
          <a:bodyPr wrap="square" anchor="t" lIns="0" rIns="0" tIns="0" bIns="0">
            <a:spAutoFit/>
          </a:bodyPr>
          <a:lstStyle/>
          <a:p>
            <a:pPr algn="ctr"/>
            <a:r>
              <a:rPr sz="700" b="1" i="0" spc="160">
                <a:solidFill>
                  <a:srgbClr val="A07A2F"/>
                </a:solidFill>
                <a:latin typeface="Courier New"/>
              </a:rPr>
              <a:t>NY STATE COLLECTS</a:t>
            </a:r>
          </a:p>
        </p:txBody>
      </p:sp>
      <p:sp>
        <p:nvSpPr>
          <p:cNvPr id="18" name="TextBox 17"/>
          <p:cNvSpPr txBox="1"/>
          <p:nvPr/>
        </p:nvSpPr>
        <p:spPr>
          <a:xfrm>
            <a:off x="6324447" y="2057400"/>
            <a:ext cx="52088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02 · ONCE, AT CLOSING</a:t>
            </a:r>
          </a:p>
        </p:txBody>
      </p:sp>
      <p:sp>
        <p:nvSpPr>
          <p:cNvPr id="19" name="TextBox 18"/>
          <p:cNvSpPr txBox="1"/>
          <p:nvPr/>
        </p:nvSpPr>
        <p:spPr>
          <a:xfrm>
            <a:off x="6324447" y="2295144"/>
            <a:ext cx="5254599" cy="566928"/>
          </a:xfrm>
          <a:prstGeom prst="rect">
            <a:avLst/>
          </a:prstGeom>
          <a:noFill/>
        </p:spPr>
        <p:txBody>
          <a:bodyPr wrap="square" anchor="t" lIns="0" rIns="0" tIns="0" bIns="0">
            <a:spAutoFit/>
          </a:bodyPr>
          <a:lstStyle/>
          <a:p>
            <a:pPr algn="l"/>
            <a:r>
              <a:rPr sz="3200" b="1" i="0">
                <a:solidFill>
                  <a:srgbClr val="0E1116"/>
                </a:solidFill>
                <a:latin typeface="Georgia"/>
              </a:rPr>
              <a:t>~$3,300</a:t>
            </a:r>
          </a:p>
        </p:txBody>
      </p:sp>
      <p:sp>
        <p:nvSpPr>
          <p:cNvPr id="20" name="TextBox 19"/>
          <p:cNvSpPr txBox="1"/>
          <p:nvPr/>
        </p:nvSpPr>
        <p:spPr>
          <a:xfrm>
            <a:off x="6324447" y="2825496"/>
            <a:ext cx="51905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Transfer tax: 0.4% of an ~$820K sale, seller-paid (+1% buyer mansion tax at $1M+).</a:t>
            </a:r>
          </a:p>
        </p:txBody>
      </p:sp>
      <p:sp>
        <p:nvSpPr>
          <p:cNvPr id="21" name="TextBox 20"/>
          <p:cNvSpPr txBox="1"/>
          <p:nvPr/>
        </p:nvSpPr>
        <p:spPr>
          <a:xfrm>
            <a:off x="6324447" y="3538728"/>
            <a:ext cx="5208879" cy="201168"/>
          </a:xfrm>
          <a:prstGeom prst="rect">
            <a:avLst/>
          </a:prstGeom>
          <a:noFill/>
        </p:spPr>
        <p:txBody>
          <a:bodyPr wrap="square" anchor="t" lIns="0" rIns="0" tIns="0" bIns="0">
            <a:spAutoFit/>
          </a:bodyPr>
          <a:lstStyle/>
          <a:p>
            <a:pPr algn="l"/>
            <a:r>
              <a:rPr sz="700" b="0" i="0" spc="160">
                <a:solidFill>
                  <a:srgbClr val="6B6B6B"/>
                </a:solidFill>
                <a:latin typeface="Courier New"/>
              </a:rPr>
              <a:t>TAX LAW ART. 31 · ACS/ZILLOW</a:t>
            </a:r>
          </a:p>
        </p:txBody>
      </p:sp>
      <p:sp>
        <p:nvSpPr>
          <p:cNvPr id="22" name="Rectangle 21"/>
          <p:cNvSpPr/>
          <p:nvPr/>
        </p:nvSpPr>
        <p:spPr>
          <a:xfrm>
            <a:off x="566928" y="4069080"/>
            <a:ext cx="53003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75607" y="4160520"/>
            <a:ext cx="1691640" cy="201168"/>
          </a:xfrm>
          <a:prstGeom prst="rect">
            <a:avLst/>
          </a:prstGeom>
          <a:solidFill>
            <a:srgbClr val="DEE7DC"/>
          </a:solidFill>
          <a:ln w="9525">
            <a:solidFill>
              <a:srgbClr val="4E7A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75607" y="4174236"/>
            <a:ext cx="1691640" cy="182880"/>
          </a:xfrm>
          <a:prstGeom prst="rect">
            <a:avLst/>
          </a:prstGeom>
          <a:noFill/>
        </p:spPr>
        <p:txBody>
          <a:bodyPr wrap="square" anchor="t" lIns="0" rIns="0" tIns="0" bIns="0">
            <a:spAutoFit/>
          </a:bodyPr>
          <a:lstStyle/>
          <a:p>
            <a:pPr algn="ctr"/>
            <a:r>
              <a:rPr sz="700" b="1" i="0" spc="160">
                <a:solidFill>
                  <a:srgbClr val="4E7A58"/>
                </a:solidFill>
                <a:latin typeface="Courier New"/>
              </a:rPr>
              <a:t>NEIGHBORS RELIEVED</a:t>
            </a:r>
          </a:p>
        </p:txBody>
      </p:sp>
      <p:sp>
        <p:nvSpPr>
          <p:cNvPr id="25" name="TextBox 24"/>
          <p:cNvSpPr txBox="1"/>
          <p:nvPr/>
        </p:nvSpPr>
        <p:spPr>
          <a:xfrm>
            <a:off x="566928" y="4160520"/>
            <a:ext cx="52088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03 · EVERY YEAR AFTER THE SALE</a:t>
            </a:r>
          </a:p>
        </p:txBody>
      </p:sp>
      <p:sp>
        <p:nvSpPr>
          <p:cNvPr id="26" name="TextBox 25"/>
          <p:cNvSpPr txBox="1"/>
          <p:nvPr/>
        </p:nvSpPr>
        <p:spPr>
          <a:xfrm>
            <a:off x="566928" y="4398264"/>
            <a:ext cx="5254599" cy="566928"/>
          </a:xfrm>
          <a:prstGeom prst="rect">
            <a:avLst/>
          </a:prstGeom>
          <a:noFill/>
        </p:spPr>
        <p:txBody>
          <a:bodyPr wrap="square" anchor="t" lIns="0" rIns="0" tIns="0" bIns="0">
            <a:spAutoFit/>
          </a:bodyPr>
          <a:lstStyle/>
          <a:p>
            <a:pPr algn="l"/>
            <a:r>
              <a:rPr sz="3200" b="1" i="0">
                <a:solidFill>
                  <a:srgbClr val="0E1116"/>
                </a:solidFill>
                <a:latin typeface="Georgia"/>
              </a:rPr>
              <a:t>5–65</a:t>
            </a:r>
            <a:r>
              <a:rPr sz="1600" b="0" i="1">
                <a:solidFill>
                  <a:srgbClr val="1E3A8A"/>
                </a:solidFill>
                <a:latin typeface="Georgia"/>
              </a:rPr>
              <a:t> %</a:t>
            </a:r>
          </a:p>
        </p:txBody>
      </p:sp>
      <p:sp>
        <p:nvSpPr>
          <p:cNvPr id="27" name="TextBox 26"/>
          <p:cNvSpPr txBox="1"/>
          <p:nvPr/>
        </p:nvSpPr>
        <p:spPr>
          <a:xfrm>
            <a:off x="566928" y="4928616"/>
            <a:ext cx="51905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A §467 parcel's school-tax share stops shifting onto every other taxpayer. The levy is fixed; exemptions move it around.</a:t>
            </a:r>
          </a:p>
        </p:txBody>
      </p:sp>
      <p:sp>
        <p:nvSpPr>
          <p:cNvPr id="28" name="TextBox 27"/>
          <p:cNvSpPr txBox="1"/>
          <p:nvPr/>
        </p:nvSpPr>
        <p:spPr>
          <a:xfrm>
            <a:off x="566928" y="5641848"/>
            <a:ext cx="5208879" cy="201168"/>
          </a:xfrm>
          <a:prstGeom prst="rect">
            <a:avLst/>
          </a:prstGeom>
          <a:noFill/>
        </p:spPr>
        <p:txBody>
          <a:bodyPr wrap="square" anchor="t" lIns="0" rIns="0" tIns="0" bIns="0">
            <a:spAutoFit/>
          </a:bodyPr>
          <a:lstStyle/>
          <a:p>
            <a:pPr algn="l"/>
            <a:r>
              <a:rPr sz="700" b="0" i="0" spc="160">
                <a:solidFill>
                  <a:srgbClr val="6B6B6B"/>
                </a:solidFill>
                <a:latin typeface="Courier New"/>
              </a:rPr>
              <a:t>OSC · NASSAU BROCHURE REV. 3-26</a:t>
            </a:r>
          </a:p>
        </p:txBody>
      </p:sp>
      <p:sp>
        <p:nvSpPr>
          <p:cNvPr id="29" name="Rectangle 28"/>
          <p:cNvSpPr/>
          <p:nvPr/>
        </p:nvSpPr>
        <p:spPr>
          <a:xfrm>
            <a:off x="6324447" y="4069080"/>
            <a:ext cx="53003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33127" y="4160520"/>
            <a:ext cx="1691640" cy="201168"/>
          </a:xfrm>
          <a:prstGeom prst="rect">
            <a:avLst/>
          </a:prstGeom>
          <a:solidFill>
            <a:srgbClr val="EFDCD4"/>
          </a:solidFill>
          <a:ln w="9525">
            <a:solidFill>
              <a:srgbClr val="B05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33127" y="4174236"/>
            <a:ext cx="1691640" cy="182880"/>
          </a:xfrm>
          <a:prstGeom prst="rect">
            <a:avLst/>
          </a:prstGeom>
          <a:noFill/>
        </p:spPr>
        <p:txBody>
          <a:bodyPr wrap="square" anchor="t" lIns="0" rIns="0" tIns="0" bIns="0">
            <a:spAutoFit/>
          </a:bodyPr>
          <a:lstStyle/>
          <a:p>
            <a:pPr algn="ctr"/>
            <a:r>
              <a:rPr sz="700" b="1" i="0" spc="160">
                <a:solidFill>
                  <a:srgbClr val="B05442"/>
                </a:solidFill>
                <a:latin typeface="Courier New"/>
              </a:rPr>
              <a:t>DISTRICT GAINS</a:t>
            </a:r>
          </a:p>
        </p:txBody>
      </p:sp>
      <p:sp>
        <p:nvSpPr>
          <p:cNvPr id="32" name="TextBox 31"/>
          <p:cNvSpPr txBox="1"/>
          <p:nvPr/>
        </p:nvSpPr>
        <p:spPr>
          <a:xfrm>
            <a:off x="6324447" y="4160520"/>
            <a:ext cx="52088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04 · AS THE FAMILY INVESTS</a:t>
            </a:r>
          </a:p>
        </p:txBody>
      </p:sp>
      <p:sp>
        <p:nvSpPr>
          <p:cNvPr id="33" name="TextBox 32"/>
          <p:cNvSpPr txBox="1"/>
          <p:nvPr/>
        </p:nvSpPr>
        <p:spPr>
          <a:xfrm>
            <a:off x="6324447" y="4398264"/>
            <a:ext cx="5254599" cy="566928"/>
          </a:xfrm>
          <a:prstGeom prst="rect">
            <a:avLst/>
          </a:prstGeom>
          <a:noFill/>
        </p:spPr>
        <p:txBody>
          <a:bodyPr wrap="square" anchor="t" lIns="0" rIns="0" tIns="0" bIns="0">
            <a:spAutoFit/>
          </a:bodyPr>
          <a:lstStyle/>
          <a:p>
            <a:pPr algn="l"/>
            <a:r>
              <a:rPr sz="3200" b="1" i="0">
                <a:solidFill>
                  <a:srgbClr val="0E1116"/>
                </a:solidFill>
                <a:latin typeface="Georgia"/>
              </a:rPr>
              <a:t>+1.4</a:t>
            </a:r>
            <a:r>
              <a:rPr sz="1600" b="0" i="1">
                <a:solidFill>
                  <a:srgbClr val="1E3A8A"/>
                </a:solidFill>
                <a:latin typeface="Georgia"/>
              </a:rPr>
              <a:t> students</a:t>
            </a:r>
          </a:p>
        </p:txBody>
      </p:sp>
      <p:sp>
        <p:nvSpPr>
          <p:cNvPr id="34" name="TextBox 33"/>
          <p:cNvSpPr txBox="1"/>
          <p:nvPr/>
        </p:nvSpPr>
        <p:spPr>
          <a:xfrm>
            <a:off x="6324447" y="4928616"/>
            <a:ext cx="51905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Per home (2 children × 70% school-age — stated assumption) into seats emptied by a ~7% enrollment decline; renovations grow the tax base, lawfully raising the levy cap.</a:t>
            </a:r>
          </a:p>
        </p:txBody>
      </p:sp>
      <p:sp>
        <p:nvSpPr>
          <p:cNvPr id="35" name="TextBox 34"/>
          <p:cNvSpPr txBox="1"/>
          <p:nvPr/>
        </p:nvSpPr>
        <p:spPr>
          <a:xfrm>
            <a:off x="6324447" y="5641848"/>
            <a:ext cx="5208879" cy="201168"/>
          </a:xfrm>
          <a:prstGeom prst="rect">
            <a:avLst/>
          </a:prstGeom>
          <a:noFill/>
        </p:spPr>
        <p:txBody>
          <a:bodyPr wrap="square" anchor="t" lIns="0" rIns="0" tIns="0" bIns="0">
            <a:spAutoFit/>
          </a:bodyPr>
          <a:lstStyle/>
          <a:p>
            <a:pPr algn="l"/>
            <a:r>
              <a:rPr sz="700" b="0" i="0" spc="160">
                <a:solidFill>
                  <a:srgbClr val="6B6B6B"/>
                </a:solidFill>
                <a:latin typeface="Courier New"/>
              </a:rPr>
              <a:t>DTF GROWTH FACTOR · NYSED</a:t>
            </a:r>
          </a:p>
        </p:txBody>
      </p:sp>
      <p:sp>
        <p:nvSpPr>
          <p:cNvPr id="36" name="Rectangle 35"/>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FULL PROSE WRITE-UP: RVC-TAXES.JEFFPINTO.COM/FISCAL-MATH.HTML</a:t>
            </a:r>
          </a:p>
        </p:txBody>
      </p:sp>
      <p:sp>
        <p:nvSpPr>
          <p:cNvPr id="38" name="TextBox 37"/>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Math, Done Honestly</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12</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058400" cy="502920"/>
          </a:xfrm>
          <a:prstGeom prst="rect">
            <a:avLst/>
          </a:prstGeom>
          <a:noFill/>
        </p:spPr>
        <p:txBody>
          <a:bodyPr wrap="square" anchor="t" lIns="0" rIns="0" tIns="0" bIns="0">
            <a:spAutoFit/>
          </a:bodyPr>
          <a:lstStyle/>
          <a:p>
            <a:pPr algn="l"/>
            <a:r>
              <a:rPr sz="2700" b="1" i="0">
                <a:solidFill>
                  <a:srgbClr val="0E1116"/>
                </a:solidFill>
                <a:latin typeface="Georgia"/>
              </a:rPr>
              <a:t>Scale it: per 100 transitions</a:t>
            </a:r>
          </a:p>
        </p:txBody>
      </p:sp>
      <p:sp>
        <p:nvSpPr>
          <p:cNvPr id="7" name="Rectangle 6"/>
          <p:cNvSpPr/>
          <p:nvPr/>
        </p:nvSpPr>
        <p:spPr>
          <a:xfrm>
            <a:off x="566928" y="1554480"/>
            <a:ext cx="11057839" cy="178308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828800"/>
            <a:ext cx="2352979" cy="457200"/>
          </a:xfrm>
          <a:prstGeom prst="rect">
            <a:avLst/>
          </a:prstGeom>
          <a:noFill/>
        </p:spPr>
        <p:txBody>
          <a:bodyPr wrap="square" anchor="t" lIns="0" rIns="0" tIns="0" bIns="0">
            <a:spAutoFit/>
          </a:bodyPr>
          <a:lstStyle/>
          <a:p>
            <a:pPr algn="l"/>
            <a:r>
              <a:rPr sz="2600" b="1" i="0">
                <a:solidFill>
                  <a:srgbClr val="F1ECE2"/>
                </a:solidFill>
                <a:latin typeface="Georgia"/>
              </a:rPr>
              <a:t>$205.8K</a:t>
            </a:r>
            <a:r>
              <a:rPr sz="1400" b="0" i="1">
                <a:solidFill>
                  <a:srgbClr val="9DB4E8"/>
                </a:solidFill>
                <a:latin typeface="Georgia"/>
              </a:rPr>
              <a:t>/yr</a:t>
            </a:r>
          </a:p>
        </p:txBody>
      </p:sp>
      <p:sp>
        <p:nvSpPr>
          <p:cNvPr id="9" name="TextBox 8"/>
          <p:cNvSpPr txBox="1"/>
          <p:nvPr/>
        </p:nvSpPr>
        <p:spPr>
          <a:xfrm>
            <a:off x="886968" y="2331720"/>
            <a:ext cx="2261539" cy="868680"/>
          </a:xfrm>
          <a:prstGeom prst="rect">
            <a:avLst/>
          </a:prstGeom>
          <a:noFill/>
        </p:spPr>
        <p:txBody>
          <a:bodyPr wrap="square" anchor="t" lIns="0" rIns="0" tIns="0" bIns="0">
            <a:spAutoFit/>
          </a:bodyPr>
          <a:lstStyle/>
          <a:p>
            <a:pPr algn="l">
              <a:lnSpc>
                <a:spcPct val="125000"/>
              </a:lnSpc>
            </a:pPr>
            <a:r>
              <a:rPr sz="760" b="0" i="0" spc="160">
                <a:solidFill>
                  <a:srgbClr val="C9C3B4"/>
                </a:solidFill>
                <a:latin typeface="Courier New"/>
              </a:rPr>
              <a:t>STAR SAVINGS TO NY STATE — RECURRING; FUNDS EVERY CARROT IN THIS DECK</a:t>
            </a:r>
          </a:p>
        </p:txBody>
      </p:sp>
      <p:sp>
        <p:nvSpPr>
          <p:cNvPr id="10" name="TextBox 9"/>
          <p:cNvSpPr txBox="1"/>
          <p:nvPr/>
        </p:nvSpPr>
        <p:spPr>
          <a:xfrm>
            <a:off x="3468547" y="1828800"/>
            <a:ext cx="2352979" cy="457200"/>
          </a:xfrm>
          <a:prstGeom prst="rect">
            <a:avLst/>
          </a:prstGeom>
          <a:noFill/>
        </p:spPr>
        <p:txBody>
          <a:bodyPr wrap="square" anchor="t" lIns="0" rIns="0" tIns="0" bIns="0">
            <a:spAutoFit/>
          </a:bodyPr>
          <a:lstStyle/>
          <a:p>
            <a:pPr algn="l"/>
            <a:r>
              <a:rPr sz="2600" b="1" i="0">
                <a:solidFill>
                  <a:srgbClr val="F1ECE2"/>
                </a:solidFill>
                <a:latin typeface="Georgia"/>
              </a:rPr>
              <a:t>~$330K</a:t>
            </a:r>
          </a:p>
        </p:txBody>
      </p:sp>
      <p:sp>
        <p:nvSpPr>
          <p:cNvPr id="11" name="TextBox 10"/>
          <p:cNvSpPr txBox="1"/>
          <p:nvPr/>
        </p:nvSpPr>
        <p:spPr>
          <a:xfrm>
            <a:off x="3468547" y="2331720"/>
            <a:ext cx="2261539" cy="868680"/>
          </a:xfrm>
          <a:prstGeom prst="rect">
            <a:avLst/>
          </a:prstGeom>
          <a:noFill/>
        </p:spPr>
        <p:txBody>
          <a:bodyPr wrap="square" anchor="t" lIns="0" rIns="0" tIns="0" bIns="0">
            <a:spAutoFit/>
          </a:bodyPr>
          <a:lstStyle/>
          <a:p>
            <a:pPr algn="l">
              <a:lnSpc>
                <a:spcPct val="125000"/>
              </a:lnSpc>
            </a:pPr>
            <a:r>
              <a:rPr sz="760" b="0" i="0" spc="160">
                <a:solidFill>
                  <a:srgbClr val="C9C3B4"/>
                </a:solidFill>
                <a:latin typeface="Courier New"/>
              </a:rPr>
              <a:t>ONE-TIME TRANSFER-TAX RECEIPTS TO NY STATE</a:t>
            </a:r>
          </a:p>
        </p:txBody>
      </p:sp>
      <p:sp>
        <p:nvSpPr>
          <p:cNvPr id="12" name="TextBox 11"/>
          <p:cNvSpPr txBox="1"/>
          <p:nvPr/>
        </p:nvSpPr>
        <p:spPr>
          <a:xfrm>
            <a:off x="6050127" y="1828800"/>
            <a:ext cx="2352979" cy="457200"/>
          </a:xfrm>
          <a:prstGeom prst="rect">
            <a:avLst/>
          </a:prstGeom>
          <a:noFill/>
        </p:spPr>
        <p:txBody>
          <a:bodyPr wrap="square" anchor="t" lIns="0" rIns="0" tIns="0" bIns="0">
            <a:spAutoFit/>
          </a:bodyPr>
          <a:lstStyle/>
          <a:p>
            <a:pPr algn="l"/>
            <a:r>
              <a:rPr sz="2600" b="1" i="0">
                <a:solidFill>
                  <a:srgbClr val="F1ECE2"/>
                </a:solidFill>
                <a:latin typeface="Georgia"/>
              </a:rPr>
              <a:t>n = ?</a:t>
            </a:r>
          </a:p>
        </p:txBody>
      </p:sp>
      <p:sp>
        <p:nvSpPr>
          <p:cNvPr id="13" name="TextBox 12"/>
          <p:cNvSpPr txBox="1"/>
          <p:nvPr/>
        </p:nvSpPr>
        <p:spPr>
          <a:xfrm>
            <a:off x="6050127" y="2331720"/>
            <a:ext cx="2261539" cy="868680"/>
          </a:xfrm>
          <a:prstGeom prst="rect">
            <a:avLst/>
          </a:prstGeom>
          <a:noFill/>
        </p:spPr>
        <p:txBody>
          <a:bodyPr wrap="square" anchor="t" lIns="0" rIns="0" tIns="0" bIns="0">
            <a:spAutoFit/>
          </a:bodyPr>
          <a:lstStyle/>
          <a:p>
            <a:pPr algn="l">
              <a:lnSpc>
                <a:spcPct val="125000"/>
              </a:lnSpc>
            </a:pPr>
            <a:r>
              <a:rPr sz="760" b="0" i="0" spc="160">
                <a:solidFill>
                  <a:srgbClr val="C9C3B4"/>
                </a:solidFill>
                <a:latin typeface="Courier New"/>
              </a:rPr>
              <a:t>§467 PARCELS RELIEVED — THE COUNTY DOES NOT PUBLISH THIS. THAT IS ASK 3.</a:t>
            </a:r>
          </a:p>
        </p:txBody>
      </p:sp>
      <p:sp>
        <p:nvSpPr>
          <p:cNvPr id="14" name="TextBox 13"/>
          <p:cNvSpPr txBox="1"/>
          <p:nvPr/>
        </p:nvSpPr>
        <p:spPr>
          <a:xfrm>
            <a:off x="8631707" y="1828800"/>
            <a:ext cx="2352979" cy="457200"/>
          </a:xfrm>
          <a:prstGeom prst="rect">
            <a:avLst/>
          </a:prstGeom>
          <a:noFill/>
        </p:spPr>
        <p:txBody>
          <a:bodyPr wrap="square" anchor="t" lIns="0" rIns="0" tIns="0" bIns="0">
            <a:spAutoFit/>
          </a:bodyPr>
          <a:lstStyle/>
          <a:p>
            <a:pPr algn="l"/>
            <a:r>
              <a:rPr sz="2600" b="1" i="0">
                <a:solidFill>
                  <a:srgbClr val="F1ECE2"/>
                </a:solidFill>
                <a:latin typeface="Georgia"/>
              </a:rPr>
              <a:t>~140</a:t>
            </a:r>
          </a:p>
        </p:txBody>
      </p:sp>
      <p:sp>
        <p:nvSpPr>
          <p:cNvPr id="15" name="TextBox 14"/>
          <p:cNvSpPr txBox="1"/>
          <p:nvPr/>
        </p:nvSpPr>
        <p:spPr>
          <a:xfrm>
            <a:off x="8631707" y="2331720"/>
            <a:ext cx="2261539" cy="868680"/>
          </a:xfrm>
          <a:prstGeom prst="rect">
            <a:avLst/>
          </a:prstGeom>
          <a:noFill/>
        </p:spPr>
        <p:txBody>
          <a:bodyPr wrap="square" anchor="t" lIns="0" rIns="0" tIns="0" bIns="0">
            <a:spAutoFit/>
          </a:bodyPr>
          <a:lstStyle/>
          <a:p>
            <a:pPr algn="l">
              <a:lnSpc>
                <a:spcPct val="125000"/>
              </a:lnSpc>
            </a:pPr>
            <a:r>
              <a:rPr sz="760" b="0" i="0" spc="160">
                <a:solidFill>
                  <a:srgbClr val="C9C3B4"/>
                </a:solidFill>
                <a:latin typeface="Courier New"/>
              </a:rPr>
              <a:t>STUDENTS INTO EXISTING SEATS AT LOW MARGINAL COST — WHILE SPARE CAPACITY LASTS</a:t>
            </a:r>
          </a:p>
        </p:txBody>
      </p:sp>
      <p:sp>
        <p:nvSpPr>
          <p:cNvPr id="16" name="Rectangle 15"/>
          <p:cNvSpPr/>
          <p:nvPr/>
        </p:nvSpPr>
        <p:spPr>
          <a:xfrm>
            <a:off x="566928" y="3657600"/>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794760"/>
            <a:ext cx="10607040" cy="274320"/>
          </a:xfrm>
          <a:prstGeom prst="rect">
            <a:avLst/>
          </a:prstGeom>
          <a:noFill/>
        </p:spPr>
        <p:txBody>
          <a:bodyPr wrap="square" anchor="t" lIns="0" rIns="0" tIns="0" bIns="0">
            <a:spAutoFit/>
          </a:bodyPr>
          <a:lstStyle/>
          <a:p>
            <a:pPr algn="l"/>
            <a:r>
              <a:rPr sz="900" b="1" i="0">
                <a:solidFill>
                  <a:srgbClr val="1E3A8A"/>
                </a:solidFill>
                <a:latin typeface="Courier New"/>
              </a:rPr>
              <a:t>■ </a:t>
            </a:r>
            <a:r>
              <a:rPr sz="1000" b="1" i="0" spc="160">
                <a:solidFill>
                  <a:srgbClr val="1E3A8A"/>
                </a:solidFill>
                <a:latin typeface="Courier New"/>
              </a:rPr>
              <a:t>WHAT THIS IS NOT</a:t>
            </a:r>
          </a:p>
        </p:txBody>
      </p:sp>
      <p:sp>
        <p:nvSpPr>
          <p:cNvPr id="18" name="TextBox 17"/>
          <p:cNvSpPr txBox="1"/>
          <p:nvPr/>
        </p:nvSpPr>
        <p:spPr>
          <a:xfrm>
            <a:off x="566928" y="4114800"/>
            <a:ext cx="10789920" cy="1554480"/>
          </a:xfrm>
          <a:prstGeom prst="rect">
            <a:avLst/>
          </a:prstGeom>
          <a:noFill/>
        </p:spPr>
        <p:txBody>
          <a:bodyPr wrap="square" anchor="t" lIns="0" rIns="0" tIns="0" bIns="0">
            <a:spAutoFit/>
          </a:bodyPr>
          <a:lstStyle/>
          <a:p>
            <a:pPr algn="l">
              <a:lnSpc>
                <a:spcPct val="125000"/>
              </a:lnSpc>
            </a:pPr>
            <a:r>
              <a:rPr sz="1200" b="1" i="0">
                <a:solidFill>
                  <a:srgbClr val="0E1116"/>
                </a:solidFill>
                <a:latin typeface="Arial"/>
              </a:rPr>
              <a:t>It is not district revenue. </a:t>
            </a:r>
            <a:r>
              <a:rPr sz="1200" b="0" i="0">
                <a:solidFill>
                  <a:srgbClr val="2A2A2A"/>
                </a:solidFill>
                <a:latin typeface="Arial"/>
              </a:rPr>
              <a:t>NY school districts levy a fixed dollar amount; exemptions shift it, they don't shrink it — “Every exemption granted on a property shifts the tax burden to the non-exempt properties” (NYS Comptroller) — and STAR is reimbursed by the State (RPTL §1306-a). Claims that exemptions “cost the schools millions” or that turnover “recaptures revenue” don't survive contact with the levy mechanics.</a:t>
            </a:r>
          </a:p>
          <a:p>
            <a:pPr algn="l">
              <a:lnSpc>
                <a:spcPct val="125000"/>
              </a:lnSpc>
            </a:pPr>
            <a:r>
              <a:rPr sz="600" b="0" i="0">
                <a:solidFill>
                  <a:srgbClr val="2A2A2A"/>
                </a:solidFill>
                <a:latin typeface="Arial"/>
              </a:rPr>
              <a:t/>
            </a:r>
          </a:p>
          <a:p>
            <a:pPr algn="l">
              <a:lnSpc>
                <a:spcPct val="125000"/>
              </a:lnSpc>
            </a:pPr>
            <a:r>
              <a:rPr sz="1350" b="0" i="1">
                <a:solidFill>
                  <a:srgbClr val="2A2A2A"/>
                </a:solidFill>
                <a:latin typeface="Georgia"/>
              </a:rPr>
              <a:t>The district's true gains: growth-factor headroom, students into empty seats, and voters with children in the system.</a:t>
            </a:r>
          </a:p>
        </p:txBody>
      </p:sp>
      <p:sp>
        <p:nvSpPr>
          <p:cNvPr id="19" name="Rectangle 18"/>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CAPACITY CAVEAT: ENROLLMENT DECLINE ≠ MEASURED BUILDING CAPACITY; ASSUMPTIONS LABELED</a:t>
            </a:r>
          </a:p>
        </p:txBody>
      </p:sp>
      <p:sp>
        <p:nvSpPr>
          <p:cNvPr id="21" name="TextBox 20"/>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Math, Done Honestly</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13</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789920" cy="502920"/>
          </a:xfrm>
          <a:prstGeom prst="rect">
            <a:avLst/>
          </a:prstGeom>
          <a:noFill/>
        </p:spPr>
        <p:txBody>
          <a:bodyPr wrap="square" anchor="t" lIns="0" rIns="0" tIns="0" bIns="0">
            <a:spAutoFit/>
          </a:bodyPr>
          <a:lstStyle/>
          <a:p>
            <a:pPr algn="l"/>
            <a:r>
              <a:rPr sz="2700" b="1" i="0">
                <a:solidFill>
                  <a:srgbClr val="0E1116"/>
                </a:solidFill>
                <a:latin typeface="Georgia"/>
              </a:rPr>
              <a:t>What would “no more cuts” actually take?</a:t>
            </a:r>
          </a:p>
        </p:txBody>
      </p:sp>
      <p:sp>
        <p:nvSpPr>
          <p:cNvPr id="7" name="TextBox 6"/>
          <p:cNvSpPr txBox="1"/>
          <p:nvPr/>
        </p:nvSpPr>
        <p:spPr>
          <a:xfrm>
            <a:off x="566928" y="1335024"/>
            <a:ext cx="10789920" cy="457200"/>
          </a:xfrm>
          <a:prstGeom prst="rect">
            <a:avLst/>
          </a:prstGeom>
          <a:noFill/>
        </p:spPr>
        <p:txBody>
          <a:bodyPr wrap="square" anchor="t" lIns="0" rIns="0" tIns="0" bIns="0">
            <a:spAutoFit/>
          </a:bodyPr>
          <a:lstStyle/>
          <a:p>
            <a:pPr algn="l">
              <a:lnSpc>
                <a:spcPct val="120000"/>
              </a:lnSpc>
            </a:pPr>
            <a:r>
              <a:rPr sz="1300" b="0" i="1">
                <a:solidFill>
                  <a:srgbClr val="2A2A2A"/>
                </a:solidFill>
                <a:latin typeface="Georgia"/>
              </a:rPr>
              <a:t>Hold service constant and the arithmetic is one line: revenue growth must match cost growth. Sample calculation — illustrative, every input adjustable.</a:t>
            </a:r>
          </a:p>
        </p:txBody>
      </p:sp>
      <p:sp>
        <p:nvSpPr>
          <p:cNvPr id="8" name="Rectangle 7"/>
          <p:cNvSpPr/>
          <p:nvPr/>
        </p:nvSpPr>
        <p:spPr>
          <a:xfrm>
            <a:off x="566928" y="1874519"/>
            <a:ext cx="11057839" cy="475488"/>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93392"/>
            <a:ext cx="10698480" cy="274320"/>
          </a:xfrm>
          <a:prstGeom prst="rect">
            <a:avLst/>
          </a:prstGeom>
          <a:noFill/>
        </p:spPr>
        <p:txBody>
          <a:bodyPr wrap="square" anchor="t" lIns="0" rIns="0" tIns="0" bIns="0">
            <a:spAutoFit/>
          </a:bodyPr>
          <a:lstStyle/>
          <a:p>
            <a:pPr algn="l"/>
            <a:r>
              <a:rPr sz="950" b="1" i="0" spc="160">
                <a:solidFill>
                  <a:srgbClr val="9DB4E8"/>
                </a:solidFill>
                <a:latin typeface="Courier New"/>
              </a:rPr>
              <a:t>COST GROWTH  ≤  78% LEVY × (2% CAP + PHYSICAL BASE GROWTH)  +  15% AID × AID GROWTH  +  7% OTHER</a:t>
            </a:r>
          </a:p>
        </p:txBody>
      </p:sp>
      <p:sp>
        <p:nvSpPr>
          <p:cNvPr id="10" name="Rectangle 9"/>
          <p:cNvSpPr/>
          <p:nvPr/>
        </p:nvSpPr>
        <p:spPr>
          <a:xfrm>
            <a:off x="566928" y="260604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69748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AT 3% COST GROWTH</a:t>
            </a:r>
          </a:p>
        </p:txBody>
      </p:sp>
      <p:sp>
        <p:nvSpPr>
          <p:cNvPr id="12" name="TextBox 11"/>
          <p:cNvSpPr txBox="1"/>
          <p:nvPr/>
        </p:nvSpPr>
        <p:spPr>
          <a:xfrm>
            <a:off x="566928" y="2935224"/>
            <a:ext cx="2512999" cy="566928"/>
          </a:xfrm>
          <a:prstGeom prst="rect">
            <a:avLst/>
          </a:prstGeom>
          <a:noFill/>
        </p:spPr>
        <p:txBody>
          <a:bodyPr wrap="square" anchor="t" lIns="0" rIns="0" tIns="0" bIns="0">
            <a:spAutoFit/>
          </a:bodyPr>
          <a:lstStyle/>
          <a:p>
            <a:pPr algn="l"/>
            <a:r>
              <a:rPr sz="2600" b="1" i="0">
                <a:solidFill>
                  <a:srgbClr val="0E1116"/>
                </a:solidFill>
                <a:latin typeface="Georgia"/>
              </a:rPr>
              <a:t>~$1.8M</a:t>
            </a:r>
            <a:r>
              <a:rPr sz="1300" b="0" i="1">
                <a:solidFill>
                  <a:srgbClr val="1E3A8A"/>
                </a:solidFill>
                <a:latin typeface="Georgia"/>
              </a:rPr>
              <a:t> /yr</a:t>
            </a:r>
          </a:p>
        </p:txBody>
      </p:sp>
      <p:sp>
        <p:nvSpPr>
          <p:cNvPr id="13" name="TextBox 12"/>
          <p:cNvSpPr txBox="1"/>
          <p:nvPr/>
        </p:nvSpPr>
        <p:spPr>
          <a:xfrm>
            <a:off x="566928" y="346557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Structural gap with no base growth — revenue rises only ~1.7% (0.78×2% + 0.15×1%). The last two budgets balanced it with cuts (+1.63%, +1.03%).</a:t>
            </a:r>
          </a:p>
        </p:txBody>
      </p:sp>
      <p:sp>
        <p:nvSpPr>
          <p:cNvPr id="14" name="TextBox 13"/>
          <p:cNvSpPr txBox="1"/>
          <p:nvPr/>
        </p:nvSpPr>
        <p:spPr>
          <a:xfrm>
            <a:off x="566928" y="417880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IDENTITY · VALIDATED SHARES</a:t>
            </a:r>
          </a:p>
        </p:txBody>
      </p:sp>
      <p:sp>
        <p:nvSpPr>
          <p:cNvPr id="15" name="Rectangle 14"/>
          <p:cNvSpPr/>
          <p:nvPr/>
        </p:nvSpPr>
        <p:spPr>
          <a:xfrm>
            <a:off x="3399967" y="260604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99967" y="269748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TO CLOSE IT IN-CAP</a:t>
            </a:r>
          </a:p>
        </p:txBody>
      </p:sp>
      <p:sp>
        <p:nvSpPr>
          <p:cNvPr id="17" name="TextBox 16"/>
          <p:cNvSpPr txBox="1"/>
          <p:nvPr/>
        </p:nvSpPr>
        <p:spPr>
          <a:xfrm>
            <a:off x="3399967" y="2935224"/>
            <a:ext cx="2512999" cy="566928"/>
          </a:xfrm>
          <a:prstGeom prst="rect">
            <a:avLst/>
          </a:prstGeom>
          <a:noFill/>
        </p:spPr>
        <p:txBody>
          <a:bodyPr wrap="square" anchor="t" lIns="0" rIns="0" tIns="0" bIns="0">
            <a:spAutoFit/>
          </a:bodyPr>
          <a:lstStyle/>
          <a:p>
            <a:pPr algn="l"/>
            <a:r>
              <a:rPr sz="2600" b="1" i="0">
                <a:solidFill>
                  <a:srgbClr val="0E1116"/>
                </a:solidFill>
                <a:latin typeface="Georgia"/>
              </a:rPr>
              <a:t>~1.65</a:t>
            </a:r>
            <a:r>
              <a:rPr sz="1300" b="0" i="1">
                <a:solidFill>
                  <a:srgbClr val="1E3A8A"/>
                </a:solidFill>
                <a:latin typeface="Georgia"/>
              </a:rPr>
              <a:t> %/yr</a:t>
            </a:r>
          </a:p>
        </p:txBody>
      </p:sp>
      <p:sp>
        <p:nvSpPr>
          <p:cNvPr id="18" name="TextBox 17"/>
          <p:cNvSpPr txBox="1"/>
          <p:nvPr/>
        </p:nvSpPr>
        <p:spPr>
          <a:xfrm>
            <a:off x="3399967" y="346557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Required PHYSICAL tax-base growth (renovations + new units — the DTF quantity change). On an assumed ~$7B base: ~$115M/yr of construction.</a:t>
            </a:r>
          </a:p>
        </p:txBody>
      </p:sp>
      <p:sp>
        <p:nvSpPr>
          <p:cNvPr id="19" name="TextBox 18"/>
          <p:cNvSpPr txBox="1"/>
          <p:nvPr/>
        </p:nvSpPr>
        <p:spPr>
          <a:xfrm>
            <a:off x="3399967" y="417880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ASSUMPTION-LABELED: FULL VALUE PENDING DTF</a:t>
            </a:r>
          </a:p>
        </p:txBody>
      </p:sp>
      <p:sp>
        <p:nvSpPr>
          <p:cNvPr id="20" name="Rectangle 19"/>
          <p:cNvSpPr/>
          <p:nvPr/>
        </p:nvSpPr>
        <p:spPr>
          <a:xfrm>
            <a:off x="6233007" y="260604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33007" y="269748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100 TRANSITIONS DELIVER</a:t>
            </a:r>
          </a:p>
        </p:txBody>
      </p:sp>
      <p:sp>
        <p:nvSpPr>
          <p:cNvPr id="22" name="TextBox 21"/>
          <p:cNvSpPr txBox="1"/>
          <p:nvPr/>
        </p:nvSpPr>
        <p:spPr>
          <a:xfrm>
            <a:off x="6233007" y="2935224"/>
            <a:ext cx="2512999" cy="566928"/>
          </a:xfrm>
          <a:prstGeom prst="rect">
            <a:avLst/>
          </a:prstGeom>
          <a:noFill/>
        </p:spPr>
        <p:txBody>
          <a:bodyPr wrap="square" anchor="t" lIns="0" rIns="0" tIns="0" bIns="0">
            <a:spAutoFit/>
          </a:bodyPr>
          <a:lstStyle/>
          <a:p>
            <a:pPr algn="l"/>
            <a:r>
              <a:rPr sz="2600" b="1" i="0">
                <a:solidFill>
                  <a:srgbClr val="0E1116"/>
                </a:solidFill>
                <a:latin typeface="Georgia"/>
              </a:rPr>
              <a:t>~$15M</a:t>
            </a:r>
          </a:p>
        </p:txBody>
      </p:sp>
      <p:sp>
        <p:nvSpPr>
          <p:cNvPr id="23" name="TextBox 22"/>
          <p:cNvSpPr txBox="1"/>
          <p:nvPr/>
        </p:nvSpPr>
        <p:spPr>
          <a:xfrm>
            <a:off x="6233007" y="346557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Of quantity change (at ~$150K renovation each) — ≈13% of the in-cap requirement. Turnover is necessary, not sufficient.</a:t>
            </a:r>
          </a:p>
        </p:txBody>
      </p:sp>
      <p:sp>
        <p:nvSpPr>
          <p:cNvPr id="24" name="TextBox 23"/>
          <p:cNvSpPr txBox="1"/>
          <p:nvPr/>
        </p:nvSpPr>
        <p:spPr>
          <a:xfrm>
            <a:off x="6233007" y="417880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STATED ASSUMPTIONS</a:t>
            </a:r>
          </a:p>
        </p:txBody>
      </p:sp>
      <p:sp>
        <p:nvSpPr>
          <p:cNvPr id="25" name="Rectangle 24"/>
          <p:cNvSpPr/>
          <p:nvPr/>
        </p:nvSpPr>
        <p:spPr>
          <a:xfrm>
            <a:off x="9066047" y="2606040"/>
            <a:ext cx="255871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66047" y="2697480"/>
            <a:ext cx="2467279" cy="201168"/>
          </a:xfrm>
          <a:prstGeom prst="rect">
            <a:avLst/>
          </a:prstGeom>
          <a:noFill/>
        </p:spPr>
        <p:txBody>
          <a:bodyPr wrap="square" anchor="t" lIns="0" rIns="0" tIns="0" bIns="0">
            <a:spAutoFit/>
          </a:bodyPr>
          <a:lstStyle/>
          <a:p>
            <a:pPr algn="l"/>
            <a:r>
              <a:rPr sz="700" b="1" i="0">
                <a:solidFill>
                  <a:srgbClr val="1E3A8A"/>
                </a:solidFill>
                <a:latin typeface="Courier New"/>
              </a:rPr>
              <a:t>■ </a:t>
            </a:r>
            <a:r>
              <a:rPr sz="800" b="1" i="0" spc="160">
                <a:solidFill>
                  <a:srgbClr val="1E3A8A"/>
                </a:solidFill>
                <a:latin typeface="Courier New"/>
              </a:rPr>
              <a:t>SO THE DIAL SET IS</a:t>
            </a:r>
          </a:p>
        </p:txBody>
      </p:sp>
      <p:sp>
        <p:nvSpPr>
          <p:cNvPr id="27" name="TextBox 26"/>
          <p:cNvSpPr txBox="1"/>
          <p:nvPr/>
        </p:nvSpPr>
        <p:spPr>
          <a:xfrm>
            <a:off x="9066047" y="2935224"/>
            <a:ext cx="2512999" cy="566928"/>
          </a:xfrm>
          <a:prstGeom prst="rect">
            <a:avLst/>
          </a:prstGeom>
          <a:noFill/>
        </p:spPr>
        <p:txBody>
          <a:bodyPr wrap="square" anchor="t" lIns="0" rIns="0" tIns="0" bIns="0">
            <a:spAutoFit/>
          </a:bodyPr>
          <a:lstStyle/>
          <a:p>
            <a:pPr algn="l"/>
            <a:r>
              <a:rPr sz="2600" b="1" i="0">
                <a:solidFill>
                  <a:srgbClr val="0E1116"/>
                </a:solidFill>
                <a:latin typeface="Georgia"/>
              </a:rPr>
              <a:t>4</a:t>
            </a:r>
            <a:r>
              <a:rPr sz="1300" b="0" i="1">
                <a:solidFill>
                  <a:srgbClr val="1E3A8A"/>
                </a:solidFill>
                <a:latin typeface="Georgia"/>
              </a:rPr>
              <a:t> dials</a:t>
            </a:r>
          </a:p>
        </p:txBody>
      </p:sp>
      <p:sp>
        <p:nvSpPr>
          <p:cNvPr id="28" name="TextBox 27"/>
          <p:cNvSpPr txBox="1"/>
          <p:nvPr/>
        </p:nvSpPr>
        <p:spPr>
          <a:xfrm>
            <a:off x="9066047" y="3465576"/>
            <a:ext cx="2448991" cy="713232"/>
          </a:xfrm>
          <a:prstGeom prst="rect">
            <a:avLst/>
          </a:prstGeom>
          <a:noFill/>
        </p:spPr>
        <p:txBody>
          <a:bodyPr wrap="square" anchor="t" lIns="0" rIns="0" tIns="0" bIns="0">
            <a:spAutoFit/>
          </a:bodyPr>
          <a:lstStyle/>
          <a:p>
            <a:pPr algn="l">
              <a:lnSpc>
                <a:spcPct val="112000"/>
              </a:lnSpc>
            </a:pPr>
            <a:r>
              <a:rPr sz="1000" b="0" i="0">
                <a:solidFill>
                  <a:srgbClr val="2A2A2A"/>
                </a:solidFill>
                <a:latin typeface="Arial"/>
              </a:rPr>
              <a:t>Turnover + new units (ADUs, condos) + enrollment-linked aid + the cost line. No single dial closes it — which is the case for pulling all four.</a:t>
            </a:r>
          </a:p>
        </p:txBody>
      </p:sp>
      <p:sp>
        <p:nvSpPr>
          <p:cNvPr id="29" name="TextBox 28"/>
          <p:cNvSpPr txBox="1"/>
          <p:nvPr/>
        </p:nvSpPr>
        <p:spPr>
          <a:xfrm>
            <a:off x="9066047" y="4178808"/>
            <a:ext cx="2467279" cy="201168"/>
          </a:xfrm>
          <a:prstGeom prst="rect">
            <a:avLst/>
          </a:prstGeom>
          <a:noFill/>
        </p:spPr>
        <p:txBody>
          <a:bodyPr wrap="square" anchor="t" lIns="0" rIns="0" tIns="0" bIns="0">
            <a:spAutoFit/>
          </a:bodyPr>
          <a:lstStyle/>
          <a:p>
            <a:pPr algn="l"/>
            <a:r>
              <a:rPr sz="700" b="0" i="0" spc="160">
                <a:solidFill>
                  <a:srgbClr val="6B6B6B"/>
                </a:solidFill>
                <a:latin typeface="Courier New"/>
              </a:rPr>
              <a:t>MULTI-VARIABLE BY CONSTRUCTION</a:t>
            </a:r>
          </a:p>
        </p:txBody>
      </p:sp>
      <p:sp>
        <p:nvSpPr>
          <p:cNvPr id="30" name="TextBox 29"/>
          <p:cNvSpPr txBox="1"/>
          <p:nvPr/>
        </p:nvSpPr>
        <p:spPr>
          <a:xfrm>
            <a:off x="566928" y="4892040"/>
            <a:ext cx="10789920" cy="1188720"/>
          </a:xfrm>
          <a:prstGeom prst="rect">
            <a:avLst/>
          </a:prstGeom>
          <a:noFill/>
        </p:spPr>
        <p:txBody>
          <a:bodyPr wrap="square" anchor="t" lIns="0" rIns="0" tIns="0" bIns="0">
            <a:spAutoFit/>
          </a:bodyPr>
          <a:lstStyle/>
          <a:p>
            <a:pPr algn="l">
              <a:lnSpc>
                <a:spcPct val="125000"/>
              </a:lnSpc>
            </a:pPr>
            <a:r>
              <a:rPr sz="1200" b="1" i="0">
                <a:solidFill>
                  <a:srgbClr val="0E1116"/>
                </a:solidFill>
                <a:latin typeface="Arial"/>
              </a:rPr>
              <a:t>Instrument it: </a:t>
            </a:r>
            <a:r>
              <a:rPr sz="1200" b="0" i="0">
                <a:solidFill>
                  <a:srgbClr val="2A2A2A"/>
                </a:solidFill>
                <a:latin typeface="Arial"/>
              </a:rPr>
              <a:t>rvc-taxes.jeffpinto.com/breakeven.html — sliders for every assumption (cost growth, cap, aid, turnover, renovation value, new units, district full value). Built to be recalibrated the day the county releases exemption counts and DTF full values — the same data ask that powers everything else in this deck.</a:t>
            </a:r>
          </a:p>
        </p:txBody>
      </p:sp>
      <p:sp>
        <p:nvSpPr>
          <p:cNvPr id="31" name="Rectangle 30"/>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ILLUSTRATIVE — LABELED ASSUMPTIONS; WORKED EXAMPLE IN DOCS/BREAKEVEN_SAMPLE.MD</a:t>
            </a:r>
          </a:p>
        </p:txBody>
      </p:sp>
      <p:sp>
        <p:nvSpPr>
          <p:cNvPr id="33" name="TextBox 32"/>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Asks</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14</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515600" cy="457200"/>
          </a:xfrm>
          <a:prstGeom prst="rect">
            <a:avLst/>
          </a:prstGeom>
          <a:noFill/>
        </p:spPr>
        <p:txBody>
          <a:bodyPr wrap="square" anchor="t" lIns="0" rIns="0" tIns="0" bIns="0">
            <a:spAutoFit/>
          </a:bodyPr>
          <a:lstStyle/>
          <a:p>
            <a:pPr algn="l"/>
            <a:r>
              <a:rPr sz="2700" b="1" i="0">
                <a:solidFill>
                  <a:srgbClr val="0E1116"/>
                </a:solidFill>
                <a:latin typeface="Georgia"/>
              </a:rPr>
              <a:t>The asks — federal &amp; state</a:t>
            </a:r>
          </a:p>
        </p:txBody>
      </p:sp>
      <p:sp>
        <p:nvSpPr>
          <p:cNvPr id="7" name="Rectangle 6"/>
          <p:cNvSpPr/>
          <p:nvPr/>
        </p:nvSpPr>
        <p:spPr>
          <a:xfrm>
            <a:off x="566928" y="1554480"/>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64208"/>
            <a:ext cx="2286000" cy="548640"/>
          </a:xfrm>
          <a:prstGeom prst="rect">
            <a:avLst/>
          </a:prstGeom>
          <a:noFill/>
        </p:spPr>
        <p:txBody>
          <a:bodyPr wrap="square" anchor="t" lIns="0" rIns="0" tIns="0" bIns="0">
            <a:spAutoFit/>
          </a:bodyPr>
          <a:lstStyle/>
          <a:p>
            <a:pPr algn="l">
              <a:lnSpc>
                <a:spcPct val="130000"/>
              </a:lnSpc>
            </a:pPr>
            <a:r>
              <a:rPr sz="900" b="1" i="0" spc="160">
                <a:solidFill>
                  <a:srgbClr val="1E3A8A"/>
                </a:solidFill>
                <a:latin typeface="Courier New"/>
              </a:rPr>
              <a:t>FEDERAL</a:t>
            </a:r>
          </a:p>
          <a:p>
            <a:pPr algn="l">
              <a:lnSpc>
                <a:spcPct val="130000"/>
              </a:lnSpc>
            </a:pPr>
            <a:r>
              <a:rPr sz="700" b="0" i="0" spc="160">
                <a:solidFill>
                  <a:srgbClr val="6B6B6B"/>
                </a:solidFill>
                <a:latin typeface="Courier New"/>
              </a:rPr>
              <a:t>H.R. 1340 / S. 3332 · IN COMMITTEE · 117+ COSPONSORS</a:t>
            </a:r>
          </a:p>
        </p:txBody>
      </p:sp>
      <p:sp>
        <p:nvSpPr>
          <p:cNvPr id="9" name="TextBox 8"/>
          <p:cNvSpPr txBox="1"/>
          <p:nvPr/>
        </p:nvSpPr>
        <p:spPr>
          <a:xfrm>
            <a:off x="3081528" y="1645920"/>
            <a:ext cx="8595360" cy="320040"/>
          </a:xfrm>
          <a:prstGeom prst="rect">
            <a:avLst/>
          </a:prstGeom>
          <a:noFill/>
        </p:spPr>
        <p:txBody>
          <a:bodyPr wrap="square" anchor="t" lIns="0" rIns="0" tIns="0" bIns="0">
            <a:spAutoFit/>
          </a:bodyPr>
          <a:lstStyle/>
          <a:p>
            <a:pPr algn="l"/>
            <a:r>
              <a:rPr sz="1700" b="1" i="0">
                <a:solidFill>
                  <a:srgbClr val="0E1116"/>
                </a:solidFill>
                <a:latin typeface="Georgia"/>
              </a:rPr>
              <a:t>Cosponsor the More Homes on the Market Act</a:t>
            </a:r>
          </a:p>
        </p:txBody>
      </p:sp>
      <p:sp>
        <p:nvSpPr>
          <p:cNvPr id="10" name="TextBox 9"/>
          <p:cNvSpPr txBox="1"/>
          <p:nvPr/>
        </p:nvSpPr>
        <p:spPr>
          <a:xfrm>
            <a:off x="3081528" y="1993392"/>
            <a:ext cx="8595360" cy="777240"/>
          </a:xfrm>
          <a:prstGeom prst="rect">
            <a:avLst/>
          </a:prstGeom>
          <a:noFill/>
        </p:spPr>
        <p:txBody>
          <a:bodyPr wrap="square" anchor="t" lIns="0" rIns="0" tIns="0" bIns="0">
            <a:spAutoFit/>
          </a:bodyPr>
          <a:lstStyle/>
          <a:p>
            <a:pPr algn="l">
              <a:lnSpc>
                <a:spcPct val="118000"/>
              </a:lnSpc>
            </a:pPr>
            <a:r>
              <a:rPr sz="1100" b="0" i="0">
                <a:solidFill>
                  <a:srgbClr val="2A2A2A"/>
                </a:solidFill>
                <a:latin typeface="Arial"/>
              </a:rPr>
              <a:t>Rep. Laura Gillen (D, NY-4) — lives in RVC, led the SALT fight, not yet on the bill. Sens. Gillibrand (Approps THUD RM; Aging RM) &amp; Schumer (Minority Leader) for the Senate companion. Double &amp; index §121.</a:t>
            </a:r>
          </a:p>
        </p:txBody>
      </p:sp>
      <p:sp>
        <p:nvSpPr>
          <p:cNvPr id="11" name="Rectangle 10"/>
          <p:cNvSpPr/>
          <p:nvPr/>
        </p:nvSpPr>
        <p:spPr>
          <a:xfrm>
            <a:off x="566928" y="2944368"/>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054096"/>
            <a:ext cx="2286000" cy="548640"/>
          </a:xfrm>
          <a:prstGeom prst="rect">
            <a:avLst/>
          </a:prstGeom>
          <a:noFill/>
        </p:spPr>
        <p:txBody>
          <a:bodyPr wrap="square" anchor="t" lIns="0" rIns="0" tIns="0" bIns="0">
            <a:spAutoFit/>
          </a:bodyPr>
          <a:lstStyle/>
          <a:p>
            <a:pPr algn="l">
              <a:lnSpc>
                <a:spcPct val="130000"/>
              </a:lnSpc>
            </a:pPr>
            <a:r>
              <a:rPr sz="900" b="1" i="0" spc="160">
                <a:solidFill>
                  <a:srgbClr val="1E3A8A"/>
                </a:solidFill>
                <a:latin typeface="Courier New"/>
              </a:rPr>
              <a:t>STATE</a:t>
            </a:r>
          </a:p>
          <a:p>
            <a:pPr algn="l">
              <a:lnSpc>
                <a:spcPct val="130000"/>
              </a:lnSpc>
            </a:pPr>
            <a:r>
              <a:rPr sz="700" b="0" i="0" spc="160">
                <a:solidFill>
                  <a:srgbClr val="6B6B6B"/>
                </a:solidFill>
                <a:latin typeface="Courier New"/>
              </a:rPr>
              <a:t>S3309 / A5288 · AGING 7–0 · APR 2026</a:t>
            </a:r>
          </a:p>
        </p:txBody>
      </p:sp>
      <p:sp>
        <p:nvSpPr>
          <p:cNvPr id="13" name="TextBox 12"/>
          <p:cNvSpPr txBox="1"/>
          <p:nvPr/>
        </p:nvSpPr>
        <p:spPr>
          <a:xfrm>
            <a:off x="3081528" y="3035808"/>
            <a:ext cx="8595360" cy="320040"/>
          </a:xfrm>
          <a:prstGeom prst="rect">
            <a:avLst/>
          </a:prstGeom>
          <a:noFill/>
        </p:spPr>
        <p:txBody>
          <a:bodyPr wrap="square" anchor="t" lIns="0" rIns="0" tIns="0" bIns="0">
            <a:spAutoFit/>
          </a:bodyPr>
          <a:lstStyle/>
          <a:p>
            <a:pPr algn="l"/>
            <a:r>
              <a:rPr sz="1700" b="1" i="0">
                <a:solidFill>
                  <a:srgbClr val="0E1116"/>
                </a:solidFill>
                <a:latin typeface="Georgia"/>
              </a:rPr>
              <a:t>Keep a senior's exemption in the year of a move</a:t>
            </a:r>
          </a:p>
        </p:txBody>
      </p:sp>
      <p:sp>
        <p:nvSpPr>
          <p:cNvPr id="14" name="TextBox 13"/>
          <p:cNvSpPr txBox="1"/>
          <p:nvPr/>
        </p:nvSpPr>
        <p:spPr>
          <a:xfrm>
            <a:off x="3081528" y="3383280"/>
            <a:ext cx="8595360" cy="777240"/>
          </a:xfrm>
          <a:prstGeom prst="rect">
            <a:avLst/>
          </a:prstGeom>
          <a:noFill/>
        </p:spPr>
        <p:txBody>
          <a:bodyPr wrap="square" anchor="t" lIns="0" rIns="0" tIns="0" bIns="0">
            <a:spAutoFit/>
          </a:bodyPr>
          <a:lstStyle/>
          <a:p>
            <a:pPr algn="l">
              <a:lnSpc>
                <a:spcPct val="118000"/>
              </a:lnSpc>
            </a:pPr>
            <a:r>
              <a:rPr sz="1100" b="0" i="0">
                <a:solidFill>
                  <a:srgbClr val="2A2A2A"/>
                </a:solidFill>
                <a:latin typeface="Arial"/>
              </a:rPr>
              <a:t>Sen. Patricia Canzoneri-Fitzpatrick (R, SD-9) — an RVC resident — to champion; Asm. Judy Griffin (D, AD-21) carries the companion. Add S3574 renewal-notice protection.</a:t>
            </a:r>
          </a:p>
        </p:txBody>
      </p:sp>
      <p:sp>
        <p:nvSpPr>
          <p:cNvPr id="15" name="Rectangle 14"/>
          <p:cNvSpPr/>
          <p:nvPr/>
        </p:nvSpPr>
        <p:spPr>
          <a:xfrm>
            <a:off x="566928" y="4334256"/>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443984"/>
            <a:ext cx="2286000" cy="548640"/>
          </a:xfrm>
          <a:prstGeom prst="rect">
            <a:avLst/>
          </a:prstGeom>
          <a:noFill/>
        </p:spPr>
        <p:txBody>
          <a:bodyPr wrap="square" anchor="t" lIns="0" rIns="0" tIns="0" bIns="0">
            <a:spAutoFit/>
          </a:bodyPr>
          <a:lstStyle/>
          <a:p>
            <a:pPr algn="l">
              <a:lnSpc>
                <a:spcPct val="130000"/>
              </a:lnSpc>
            </a:pPr>
            <a:r>
              <a:rPr sz="900" b="1" i="0" spc="160">
                <a:solidFill>
                  <a:srgbClr val="1E3A8A"/>
                </a:solidFill>
                <a:latin typeface="Courier New"/>
              </a:rPr>
              <a:t>STATE</a:t>
            </a:r>
          </a:p>
          <a:p>
            <a:pPr algn="l">
              <a:lnSpc>
                <a:spcPct val="130000"/>
              </a:lnSpc>
            </a:pPr>
            <a:r>
              <a:rPr sz="700" b="0" i="0" spc="160">
                <a:solidFill>
                  <a:srgbClr val="6B6B6B"/>
                </a:solidFill>
                <a:latin typeface="Courier New"/>
              </a:rPr>
              <a:t>NEW BILL · MODEL: OR · MA · WA · TX</a:t>
            </a:r>
          </a:p>
        </p:txBody>
      </p:sp>
      <p:sp>
        <p:nvSpPr>
          <p:cNvPr id="17" name="TextBox 16"/>
          <p:cNvSpPr txBox="1"/>
          <p:nvPr/>
        </p:nvSpPr>
        <p:spPr>
          <a:xfrm>
            <a:off x="3081528" y="4425696"/>
            <a:ext cx="8595360" cy="320040"/>
          </a:xfrm>
          <a:prstGeom prst="rect">
            <a:avLst/>
          </a:prstGeom>
          <a:noFill/>
        </p:spPr>
        <p:txBody>
          <a:bodyPr wrap="square" anchor="t" lIns="0" rIns="0" tIns="0" bIns="0">
            <a:spAutoFit/>
          </a:bodyPr>
          <a:lstStyle/>
          <a:p>
            <a:pPr algn="l"/>
            <a:r>
              <a:rPr sz="1700" b="1" i="0">
                <a:solidFill>
                  <a:srgbClr val="0E1116"/>
                </a:solidFill>
                <a:latin typeface="Georgia"/>
              </a:rPr>
              <a:t>Senior school-tax deferral enabling act</a:t>
            </a:r>
          </a:p>
        </p:txBody>
      </p:sp>
      <p:sp>
        <p:nvSpPr>
          <p:cNvPr id="18" name="TextBox 17"/>
          <p:cNvSpPr txBox="1"/>
          <p:nvPr/>
        </p:nvSpPr>
        <p:spPr>
          <a:xfrm>
            <a:off x="3081528" y="4773168"/>
            <a:ext cx="8595360" cy="777240"/>
          </a:xfrm>
          <a:prstGeom prst="rect">
            <a:avLst/>
          </a:prstGeom>
          <a:noFill/>
        </p:spPr>
        <p:txBody>
          <a:bodyPr wrap="square" anchor="t" lIns="0" rIns="0" tIns="0" bIns="0">
            <a:spAutoFit/>
          </a:bodyPr>
          <a:lstStyle/>
          <a:p>
            <a:pPr algn="l">
              <a:lnSpc>
                <a:spcPct val="118000"/>
              </a:lnSpc>
            </a:pPr>
            <a:r>
              <a:rPr sz="1100" b="0" i="0">
                <a:solidFill>
                  <a:srgbClr val="2A2A2A"/>
                </a:solidFill>
                <a:latin typeface="Arial"/>
              </a:rPr>
              <a:t>District opt-in; lien accrues at modest interest; taxes paid in full at sale. The cash-flow lock disappears at zero long-run cost to the levy. Draft with OSC input.</a:t>
            </a:r>
          </a:p>
        </p:txBody>
      </p:sp>
      <p:sp>
        <p:nvSpPr>
          <p:cNvPr id="19" name="Rectangle 18"/>
          <p:cNvSpPr/>
          <p:nvPr/>
        </p:nvSpPr>
        <p:spPr>
          <a:xfrm>
            <a:off x="566928" y="5779008"/>
            <a:ext cx="11057839" cy="54864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879592"/>
            <a:ext cx="10607040" cy="365760"/>
          </a:xfrm>
          <a:prstGeom prst="rect">
            <a:avLst/>
          </a:prstGeom>
          <a:noFill/>
        </p:spPr>
        <p:txBody>
          <a:bodyPr wrap="square" anchor="t" lIns="0" rIns="0" tIns="0" bIns="0">
            <a:spAutoFit/>
          </a:bodyPr>
          <a:lstStyle/>
          <a:p>
            <a:pPr algn="l"/>
            <a:r>
              <a:rPr sz="850" b="1" i="0" spc="160">
                <a:solidFill>
                  <a:srgbClr val="9DB4E8"/>
                </a:solidFill>
                <a:latin typeface="Courier New"/>
              </a:rPr>
              <a:t>FRAMING THAT WORKS   </a:t>
            </a:r>
            <a:r>
              <a:rPr sz="1150" b="0" i="0">
                <a:solidFill>
                  <a:srgbClr val="F1ECE2"/>
                </a:solidFill>
                <a:latin typeface="Arial"/>
              </a:rPr>
              <a:t>Senior mobility + young-family affordability in one bill — and Albany funds the carrots out of its own STAR savings.</a:t>
            </a:r>
          </a:p>
        </p:txBody>
      </p:sp>
      <p:sp>
        <p:nvSpPr>
          <p:cNvPr id="21" name="Rectangle 20"/>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OFFICEHOLDERS &amp; STATUSES VERIFIED JUNE 2026 — CONGRESS.GOV · NYSENATE.GOV</a:t>
            </a:r>
          </a:p>
        </p:txBody>
      </p:sp>
      <p:sp>
        <p:nvSpPr>
          <p:cNvPr id="23" name="TextBox 22"/>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Asks</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15</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515600" cy="457200"/>
          </a:xfrm>
          <a:prstGeom prst="rect">
            <a:avLst/>
          </a:prstGeom>
          <a:noFill/>
        </p:spPr>
        <p:txBody>
          <a:bodyPr wrap="square" anchor="t" lIns="0" rIns="0" tIns="0" bIns="0">
            <a:spAutoFit/>
          </a:bodyPr>
          <a:lstStyle/>
          <a:p>
            <a:pPr algn="l"/>
            <a:r>
              <a:rPr sz="2700" b="1" i="0">
                <a:solidFill>
                  <a:srgbClr val="0E1116"/>
                </a:solidFill>
                <a:latin typeface="Georgia"/>
              </a:rPr>
              <a:t>The asks — county &amp; local: data before dollars</a:t>
            </a:r>
          </a:p>
        </p:txBody>
      </p:sp>
      <p:sp>
        <p:nvSpPr>
          <p:cNvPr id="7" name="Rectangle 6"/>
          <p:cNvSpPr/>
          <p:nvPr/>
        </p:nvSpPr>
        <p:spPr>
          <a:xfrm>
            <a:off x="566928" y="1554480"/>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64208"/>
            <a:ext cx="2286000" cy="640080"/>
          </a:xfrm>
          <a:prstGeom prst="rect">
            <a:avLst/>
          </a:prstGeom>
          <a:noFill/>
        </p:spPr>
        <p:txBody>
          <a:bodyPr wrap="square" anchor="t" lIns="0" rIns="0" tIns="0" bIns="0">
            <a:spAutoFit/>
          </a:bodyPr>
          <a:lstStyle/>
          <a:p>
            <a:pPr algn="l">
              <a:lnSpc>
                <a:spcPct val="130000"/>
              </a:lnSpc>
            </a:pPr>
            <a:r>
              <a:rPr sz="900" b="1" i="0" spc="160">
                <a:solidFill>
                  <a:srgbClr val="1E3A8A"/>
                </a:solidFill>
                <a:latin typeface="Courier New"/>
              </a:rPr>
              <a:t>COUNTY</a:t>
            </a:r>
          </a:p>
          <a:p>
            <a:pPr algn="l">
              <a:lnSpc>
                <a:spcPct val="130000"/>
              </a:lnSpc>
            </a:pPr>
            <a:r>
              <a:rPr sz="700" b="0" i="0" spc="160">
                <a:solidFill>
                  <a:srgbClr val="6B6B6B"/>
                </a:solidFill>
                <a:latin typeface="Courier New"/>
              </a:rPr>
              <a:t>BEFORE THE 65% TIER &amp; THE 2027 $75K CAP</a:t>
            </a:r>
          </a:p>
        </p:txBody>
      </p:sp>
      <p:sp>
        <p:nvSpPr>
          <p:cNvPr id="9" name="TextBox 8"/>
          <p:cNvSpPr txBox="1"/>
          <p:nvPr/>
        </p:nvSpPr>
        <p:spPr>
          <a:xfrm>
            <a:off x="3081528" y="1645920"/>
            <a:ext cx="8595360" cy="548640"/>
          </a:xfrm>
          <a:prstGeom prst="rect">
            <a:avLst/>
          </a:prstGeom>
          <a:noFill/>
        </p:spPr>
        <p:txBody>
          <a:bodyPr wrap="square" anchor="t" lIns="0" rIns="0" tIns="0" bIns="0">
            <a:spAutoFit/>
          </a:bodyPr>
          <a:lstStyle/>
          <a:p>
            <a:pPr algn="l">
              <a:lnSpc>
                <a:spcPct val="105000"/>
              </a:lnSpc>
            </a:pPr>
            <a:r>
              <a:rPr sz="1600" b="1" i="0">
                <a:solidFill>
                  <a:srgbClr val="0E1116"/>
                </a:solidFill>
                <a:latin typeface="Georgia"/>
              </a:rPr>
              <a:t>Publish §467 / Enhanced STAR counts &amp; exempted value, by school district, annually</a:t>
            </a:r>
          </a:p>
        </p:txBody>
      </p:sp>
      <p:sp>
        <p:nvSpPr>
          <p:cNvPr id="10" name="TextBox 9"/>
          <p:cNvSpPr txBox="1"/>
          <p:nvPr/>
        </p:nvSpPr>
        <p:spPr>
          <a:xfrm>
            <a:off x="3081528" y="2212848"/>
            <a:ext cx="8595360" cy="777240"/>
          </a:xfrm>
          <a:prstGeom prst="rect">
            <a:avLst/>
          </a:prstGeom>
          <a:noFill/>
        </p:spPr>
        <p:txBody>
          <a:bodyPr wrap="square" anchor="t" lIns="0" rIns="0" tIns="0" bIns="0">
            <a:spAutoFit/>
          </a:bodyPr>
          <a:lstStyle/>
          <a:p>
            <a:pPr algn="l">
              <a:lnSpc>
                <a:spcPct val="118000"/>
              </a:lnSpc>
            </a:pPr>
            <a:r>
              <a:rPr sz="1100" b="0" i="0">
                <a:solidFill>
                  <a:srgbClr val="2A2A2A"/>
                </a:solidFill>
                <a:latin typeface="Arial"/>
              </a:rPr>
              <a:t>County Executive Bruce Blakeman, Nassau Legislature, Dept. of Assessment. Require a fiscal note before any exemption expansion; fund a means-tested “Silver-to-Gold” moving-grant pilot ($5–10K).</a:t>
            </a:r>
          </a:p>
        </p:txBody>
      </p:sp>
      <p:sp>
        <p:nvSpPr>
          <p:cNvPr id="11" name="Rectangle 10"/>
          <p:cNvSpPr/>
          <p:nvPr/>
        </p:nvSpPr>
        <p:spPr>
          <a:xfrm>
            <a:off x="566928" y="3154680"/>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264408"/>
            <a:ext cx="2286000" cy="640080"/>
          </a:xfrm>
          <a:prstGeom prst="rect">
            <a:avLst/>
          </a:prstGeom>
          <a:noFill/>
        </p:spPr>
        <p:txBody>
          <a:bodyPr wrap="square" anchor="t" lIns="0" rIns="0" tIns="0" bIns="0">
            <a:spAutoFit/>
          </a:bodyPr>
          <a:lstStyle/>
          <a:p>
            <a:pPr algn="l">
              <a:lnSpc>
                <a:spcPct val="130000"/>
              </a:lnSpc>
            </a:pPr>
            <a:r>
              <a:rPr sz="900" b="1" i="0" spc="160">
                <a:solidFill>
                  <a:srgbClr val="1E3A8A"/>
                </a:solidFill>
                <a:latin typeface="Courier New"/>
              </a:rPr>
              <a:t>VILLAGE + BOE</a:t>
            </a:r>
          </a:p>
          <a:p>
            <a:pPr algn="l">
              <a:lnSpc>
                <a:spcPct val="130000"/>
              </a:lnSpc>
            </a:pPr>
            <a:r>
              <a:rPr sz="700" b="0" i="0" spc="160">
                <a:solidFill>
                  <a:srgbClr val="6B6B6B"/>
                </a:solidFill>
                <a:latin typeface="Courier New"/>
              </a:rPr>
              <a:t>ROCKVILLE CENTRE</a:t>
            </a:r>
          </a:p>
        </p:txBody>
      </p:sp>
      <p:sp>
        <p:nvSpPr>
          <p:cNvPr id="13" name="TextBox 12"/>
          <p:cNvSpPr txBox="1"/>
          <p:nvPr/>
        </p:nvSpPr>
        <p:spPr>
          <a:xfrm>
            <a:off x="3081528" y="3246120"/>
            <a:ext cx="8595360" cy="548640"/>
          </a:xfrm>
          <a:prstGeom prst="rect">
            <a:avLst/>
          </a:prstGeom>
          <a:noFill/>
        </p:spPr>
        <p:txBody>
          <a:bodyPr wrap="square" anchor="t" lIns="0" rIns="0" tIns="0" bIns="0">
            <a:spAutoFit/>
          </a:bodyPr>
          <a:lstStyle/>
          <a:p>
            <a:pPr algn="l">
              <a:lnSpc>
                <a:spcPct val="105000"/>
              </a:lnSpc>
            </a:pPr>
            <a:r>
              <a:rPr sz="1600" b="1" i="0">
                <a:solidFill>
                  <a:srgbClr val="0E1116"/>
                </a:solidFill>
                <a:latin typeface="Georgia"/>
              </a:rPr>
              <a:t>Confirm the district's own §467 posture; build the downsizing ladder</a:t>
            </a:r>
          </a:p>
        </p:txBody>
      </p:sp>
      <p:sp>
        <p:nvSpPr>
          <p:cNvPr id="14" name="TextBox 13"/>
          <p:cNvSpPr txBox="1"/>
          <p:nvPr/>
        </p:nvSpPr>
        <p:spPr>
          <a:xfrm>
            <a:off x="3081528" y="3813048"/>
            <a:ext cx="8595360" cy="777240"/>
          </a:xfrm>
          <a:prstGeom prst="rect">
            <a:avLst/>
          </a:prstGeom>
          <a:noFill/>
        </p:spPr>
        <p:txBody>
          <a:bodyPr wrap="square" anchor="t" lIns="0" rIns="0" tIns="0" bIns="0">
            <a:spAutoFit/>
          </a:bodyPr>
          <a:lstStyle/>
          <a:p>
            <a:pPr algn="l">
              <a:lnSpc>
                <a:spcPct val="118000"/>
              </a:lnSpc>
            </a:pPr>
            <a:r>
              <a:rPr sz="1100" b="0" i="0">
                <a:solidFill>
                  <a:srgbClr val="2A2A2A"/>
                </a:solidFill>
                <a:latin typeface="Arial"/>
              </a:rPr>
              <a:t>Mayor Francis X. Murray; RVC Board of Education (incl. Trustee-elect Mary Beth Joyce, seated July 2026): publish the adopting resolution and current tiers; pilot moving assistance ($25–50K/yr); pursue ADU / right-size supply near the LIRR.</a:t>
            </a:r>
          </a:p>
        </p:txBody>
      </p:sp>
      <p:sp>
        <p:nvSpPr>
          <p:cNvPr id="15" name="TextBox 14"/>
          <p:cNvSpPr txBox="1"/>
          <p:nvPr/>
        </p:nvSpPr>
        <p:spPr>
          <a:xfrm>
            <a:off x="566928" y="4800600"/>
            <a:ext cx="10058400" cy="274320"/>
          </a:xfrm>
          <a:prstGeom prst="rect">
            <a:avLst/>
          </a:prstGeom>
          <a:noFill/>
        </p:spPr>
        <p:txBody>
          <a:bodyPr wrap="square" anchor="t" lIns="0" rIns="0" tIns="0" bIns="0">
            <a:spAutoFit/>
          </a:bodyPr>
          <a:lstStyle/>
          <a:p>
            <a:pPr algn="l"/>
            <a:r>
              <a:rPr sz="900" b="1" i="0">
                <a:solidFill>
                  <a:srgbClr val="1E3A8A"/>
                </a:solidFill>
                <a:latin typeface="Courier New"/>
              </a:rPr>
              <a:t>■ </a:t>
            </a:r>
            <a:r>
              <a:rPr sz="1000" b="1" i="0" spc="160">
                <a:solidFill>
                  <a:srgbClr val="1E3A8A"/>
                </a:solidFill>
                <a:latin typeface="Courier New"/>
              </a:rPr>
              <a:t>TWELVE-MONTH SEQUENCING</a:t>
            </a:r>
          </a:p>
        </p:txBody>
      </p:sp>
      <p:sp>
        <p:nvSpPr>
          <p:cNvPr id="16" name="Rectangle 15"/>
          <p:cNvSpPr/>
          <p:nvPr/>
        </p:nvSpPr>
        <p:spPr>
          <a:xfrm>
            <a:off x="566928" y="5120640"/>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5212080"/>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NOW–SEPT 2026</a:t>
            </a:r>
          </a:p>
        </p:txBody>
      </p:sp>
      <p:sp>
        <p:nvSpPr>
          <p:cNvPr id="18" name="TextBox 17"/>
          <p:cNvSpPr txBox="1"/>
          <p:nvPr/>
        </p:nvSpPr>
        <p:spPr>
          <a:xfrm>
            <a:off x="566928" y="5468112"/>
            <a:ext cx="3503066" cy="731520"/>
          </a:xfrm>
          <a:prstGeom prst="rect">
            <a:avLst/>
          </a:prstGeom>
          <a:noFill/>
        </p:spPr>
        <p:txBody>
          <a:bodyPr wrap="square" anchor="t" lIns="0" rIns="0" tIns="0" bIns="0">
            <a:spAutoFit/>
          </a:bodyPr>
          <a:lstStyle/>
          <a:p>
            <a:pPr algn="l">
              <a:lnSpc>
                <a:spcPct val="115000"/>
              </a:lnSpc>
            </a:pPr>
            <a:r>
              <a:rPr sz="1000" b="0" i="0">
                <a:solidFill>
                  <a:srgbClr val="2A2A2A"/>
                </a:solidFill>
                <a:latin typeface="Arial"/>
              </a:rPr>
              <a:t>County data publication · district §467 confirmation · coalition letters from the 61%-club</a:t>
            </a:r>
          </a:p>
        </p:txBody>
      </p:sp>
      <p:sp>
        <p:nvSpPr>
          <p:cNvPr id="19" name="Rectangle 18"/>
          <p:cNvSpPr/>
          <p:nvPr/>
        </p:nvSpPr>
        <p:spPr>
          <a:xfrm>
            <a:off x="4344314" y="5120640"/>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4314" y="5212080"/>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FALL 2026</a:t>
            </a:r>
          </a:p>
        </p:txBody>
      </p:sp>
      <p:sp>
        <p:nvSpPr>
          <p:cNvPr id="21" name="TextBox 20"/>
          <p:cNvSpPr txBox="1"/>
          <p:nvPr/>
        </p:nvSpPr>
        <p:spPr>
          <a:xfrm>
            <a:off x="4344314" y="5468112"/>
            <a:ext cx="3503066" cy="731520"/>
          </a:xfrm>
          <a:prstGeom prst="rect">
            <a:avLst/>
          </a:prstGeom>
          <a:noFill/>
        </p:spPr>
        <p:txBody>
          <a:bodyPr wrap="square" anchor="t" lIns="0" rIns="0" tIns="0" bIns="0">
            <a:spAutoFit/>
          </a:bodyPr>
          <a:lstStyle/>
          <a:p>
            <a:pPr algn="l">
              <a:lnSpc>
                <a:spcPct val="115000"/>
              </a:lnSpc>
            </a:pPr>
            <a:r>
              <a:rPr sz="1000" b="0" i="0">
                <a:solidFill>
                  <a:srgbClr val="2A2A2A"/>
                </a:solidFill>
                <a:latin typeface="Arial"/>
              </a:rPr>
              <a:t>Deferral bill drafted with OSC · H.R. 1340 cosponsor push pre-election</a:t>
            </a:r>
          </a:p>
        </p:txBody>
      </p:sp>
      <p:sp>
        <p:nvSpPr>
          <p:cNvPr id="22" name="Rectangle 21"/>
          <p:cNvSpPr/>
          <p:nvPr/>
        </p:nvSpPr>
        <p:spPr>
          <a:xfrm>
            <a:off x="8121700" y="5120640"/>
            <a:ext cx="3503066"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1700" y="5212080"/>
            <a:ext cx="3503066" cy="228600"/>
          </a:xfrm>
          <a:prstGeom prst="rect">
            <a:avLst/>
          </a:prstGeom>
          <a:noFill/>
        </p:spPr>
        <p:txBody>
          <a:bodyPr wrap="square" anchor="t" lIns="0" rIns="0" tIns="0" bIns="0">
            <a:spAutoFit/>
          </a:bodyPr>
          <a:lstStyle/>
          <a:p>
            <a:pPr algn="l"/>
            <a:r>
              <a:rPr sz="850" b="1" i="0" spc="160">
                <a:solidFill>
                  <a:srgbClr val="1E3A8A"/>
                </a:solidFill>
                <a:latin typeface="Courier New"/>
              </a:rPr>
              <a:t>2027 SESSION</a:t>
            </a:r>
          </a:p>
        </p:txBody>
      </p:sp>
      <p:sp>
        <p:nvSpPr>
          <p:cNvPr id="24" name="TextBox 23"/>
          <p:cNvSpPr txBox="1"/>
          <p:nvPr/>
        </p:nvSpPr>
        <p:spPr>
          <a:xfrm>
            <a:off x="8121700" y="5468112"/>
            <a:ext cx="3503066" cy="731520"/>
          </a:xfrm>
          <a:prstGeom prst="rect">
            <a:avLst/>
          </a:prstGeom>
          <a:noFill/>
        </p:spPr>
        <p:txBody>
          <a:bodyPr wrap="square" anchor="t" lIns="0" rIns="0" tIns="0" bIns="0">
            <a:spAutoFit/>
          </a:bodyPr>
          <a:lstStyle/>
          <a:p>
            <a:pPr algn="l">
              <a:lnSpc>
                <a:spcPct val="115000"/>
              </a:lnSpc>
            </a:pPr>
            <a:r>
              <a:rPr sz="1000" b="0" i="0">
                <a:solidFill>
                  <a:srgbClr val="2A2A2A"/>
                </a:solidFill>
                <a:latin typeface="Arial"/>
              </a:rPr>
              <a:t>S3309/A5288 + deferral act pass before the July 2027 $75K-cap decision — relief paired with mobility</a:t>
            </a:r>
          </a:p>
        </p:txBody>
      </p:sp>
      <p:sp>
        <p:nvSpPr>
          <p:cNvPr id="25" name="Rectangle 24"/>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COALITION-READY: HEWLETT-WOODMERE · LOCUST VALLEY · OBEN · LONG BEACH · THE REST OF THE 61%</a:t>
            </a:r>
          </a:p>
        </p:txBody>
      </p:sp>
      <p:sp>
        <p:nvSpPr>
          <p:cNvPr id="27" name="TextBox 26"/>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Precedents &amp; Evidence</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16</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972800" cy="457200"/>
          </a:xfrm>
          <a:prstGeom prst="rect">
            <a:avLst/>
          </a:prstGeom>
          <a:noFill/>
        </p:spPr>
        <p:txBody>
          <a:bodyPr wrap="square" anchor="t" lIns="0" rIns="0" tIns="0" bIns="0">
            <a:spAutoFit/>
          </a:bodyPr>
          <a:lstStyle/>
          <a:p>
            <a:pPr algn="l"/>
            <a:r>
              <a:rPr sz="2700" b="1" i="0">
                <a:solidFill>
                  <a:srgbClr val="0E1116"/>
                </a:solidFill>
                <a:latin typeface="Georgia"/>
              </a:rPr>
              <a:t>Assembled from things that already work</a:t>
            </a:r>
          </a:p>
        </p:txBody>
      </p:sp>
      <p:sp>
        <p:nvSpPr>
          <p:cNvPr id="7" name="Rectangle 6"/>
          <p:cNvSpPr/>
          <p:nvPr/>
        </p:nvSpPr>
        <p:spPr>
          <a:xfrm>
            <a:off x="566928" y="1481328"/>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72768"/>
            <a:ext cx="2926080" cy="502920"/>
          </a:xfrm>
          <a:prstGeom prst="rect">
            <a:avLst/>
          </a:prstGeom>
          <a:noFill/>
        </p:spPr>
        <p:txBody>
          <a:bodyPr wrap="square" anchor="t" lIns="0" rIns="0" tIns="0" bIns="0">
            <a:spAutoFit/>
          </a:bodyPr>
          <a:lstStyle/>
          <a:p>
            <a:pPr algn="l">
              <a:lnSpc>
                <a:spcPct val="125000"/>
              </a:lnSpc>
            </a:pPr>
            <a:r>
              <a:rPr sz="780" b="1" i="0" spc="160">
                <a:solidFill>
                  <a:srgbClr val="1E3A8A"/>
                </a:solidFill>
                <a:latin typeface="Courier New"/>
              </a:rPr>
              <a:t>DEFERRAL · OR 1963 · MA 41A · WA · TX</a:t>
            </a:r>
          </a:p>
        </p:txBody>
      </p:sp>
      <p:sp>
        <p:nvSpPr>
          <p:cNvPr id="9" name="TextBox 8"/>
          <p:cNvSpPr txBox="1"/>
          <p:nvPr/>
        </p:nvSpPr>
        <p:spPr>
          <a:xfrm>
            <a:off x="3721608" y="1554480"/>
            <a:ext cx="7955279" cy="274320"/>
          </a:xfrm>
          <a:prstGeom prst="rect">
            <a:avLst/>
          </a:prstGeom>
          <a:noFill/>
        </p:spPr>
        <p:txBody>
          <a:bodyPr wrap="square" anchor="t" lIns="0" rIns="0" tIns="0" bIns="0">
            <a:spAutoFit/>
          </a:bodyPr>
          <a:lstStyle/>
          <a:p>
            <a:pPr algn="l"/>
            <a:r>
              <a:rPr sz="1450" b="1" i="0">
                <a:solidFill>
                  <a:srgbClr val="0E1116"/>
                </a:solidFill>
                <a:latin typeface="Georgia"/>
              </a:rPr>
              <a:t>Districts made whole; seniors cash-flow-safe</a:t>
            </a:r>
          </a:p>
        </p:txBody>
      </p:sp>
      <p:sp>
        <p:nvSpPr>
          <p:cNvPr id="10" name="TextBox 9"/>
          <p:cNvSpPr txBox="1"/>
          <p:nvPr/>
        </p:nvSpPr>
        <p:spPr>
          <a:xfrm>
            <a:off x="3721608" y="1847088"/>
            <a:ext cx="7955279" cy="640080"/>
          </a:xfrm>
          <a:prstGeom prst="rect">
            <a:avLst/>
          </a:prstGeom>
          <a:noFill/>
        </p:spPr>
        <p:txBody>
          <a:bodyPr wrap="square" anchor="t" lIns="0" rIns="0" tIns="0" bIns="0">
            <a:spAutoFit/>
          </a:bodyPr>
          <a:lstStyle/>
          <a:p>
            <a:pPr algn="l">
              <a:lnSpc>
                <a:spcPct val="115000"/>
              </a:lnSpc>
            </a:pPr>
            <a:r>
              <a:rPr sz="1000" b="0" i="0">
                <a:solidFill>
                  <a:srgbClr val="2A2A2A"/>
                </a:solidFill>
                <a:latin typeface="Arial"/>
              </a:rPr>
              <a:t>State pays; a lien — not a subsidy — does the work, repaid with 5–8% interest at sale. Voluntary. Oregon's program is self-financing.</a:t>
            </a:r>
          </a:p>
        </p:txBody>
      </p:sp>
      <p:sp>
        <p:nvSpPr>
          <p:cNvPr id="11" name="Rectangle 10"/>
          <p:cNvSpPr/>
          <p:nvPr/>
        </p:nvSpPr>
        <p:spPr>
          <a:xfrm>
            <a:off x="566928" y="2514599"/>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606039"/>
            <a:ext cx="2926080" cy="502920"/>
          </a:xfrm>
          <a:prstGeom prst="rect">
            <a:avLst/>
          </a:prstGeom>
          <a:noFill/>
        </p:spPr>
        <p:txBody>
          <a:bodyPr wrap="square" anchor="t" lIns="0" rIns="0" tIns="0" bIns="0">
            <a:spAutoFit/>
          </a:bodyPr>
          <a:lstStyle/>
          <a:p>
            <a:pPr algn="l">
              <a:lnSpc>
                <a:spcPct val="125000"/>
              </a:lnSpc>
            </a:pPr>
            <a:r>
              <a:rPr sz="780" b="1" i="0" spc="160">
                <a:solidFill>
                  <a:srgbClr val="1E3A8A"/>
                </a:solidFill>
                <a:latin typeface="Courier New"/>
              </a:rPr>
              <a:t>CALIFORNIA · PROP 19 · 2020</a:t>
            </a:r>
          </a:p>
        </p:txBody>
      </p:sp>
      <p:sp>
        <p:nvSpPr>
          <p:cNvPr id="13" name="TextBox 12"/>
          <p:cNvSpPr txBox="1"/>
          <p:nvPr/>
        </p:nvSpPr>
        <p:spPr>
          <a:xfrm>
            <a:off x="3721608" y="2587751"/>
            <a:ext cx="7955279" cy="274320"/>
          </a:xfrm>
          <a:prstGeom prst="rect">
            <a:avLst/>
          </a:prstGeom>
          <a:noFill/>
        </p:spPr>
        <p:txBody>
          <a:bodyPr wrap="square" anchor="t" lIns="0" rIns="0" tIns="0" bIns="0">
            <a:spAutoFit/>
          </a:bodyPr>
          <a:lstStyle/>
          <a:p>
            <a:pPr algn="l"/>
            <a:r>
              <a:rPr sz="1450" b="1" i="0">
                <a:solidFill>
                  <a:srgbClr val="0E1116"/>
                </a:solidFill>
                <a:latin typeface="Georgia"/>
              </a:rPr>
              <a:t>Senior mobility wins at the ballot box</a:t>
            </a:r>
          </a:p>
        </p:txBody>
      </p:sp>
      <p:sp>
        <p:nvSpPr>
          <p:cNvPr id="14" name="TextBox 13"/>
          <p:cNvSpPr txBox="1"/>
          <p:nvPr/>
        </p:nvSpPr>
        <p:spPr>
          <a:xfrm>
            <a:off x="3721608" y="2880359"/>
            <a:ext cx="7955279" cy="640080"/>
          </a:xfrm>
          <a:prstGeom prst="rect">
            <a:avLst/>
          </a:prstGeom>
          <a:noFill/>
        </p:spPr>
        <p:txBody>
          <a:bodyPr wrap="square" anchor="t" lIns="0" rIns="0" tIns="0" bIns="0">
            <a:spAutoFit/>
          </a:bodyPr>
          <a:lstStyle/>
          <a:p>
            <a:pPr algn="l">
              <a:lnSpc>
                <a:spcPct val="115000"/>
              </a:lnSpc>
            </a:pPr>
            <a:r>
              <a:rPr sz="1000" b="0" i="0">
                <a:solidFill>
                  <a:srgbClr val="2A2A2A"/>
                </a:solidFill>
                <a:latin typeface="Arial"/>
              </a:rPr>
              <a:t>Base-transfer for 55+, statewide, up to 3 moves — narrowly approved by voters; LAO scored the package revenue-positive for schools. The lesson for NY is the politics, not the mechanism: NY taxes current value, so our version is benefit-continuity (S3309), not basis-porting.</a:t>
            </a:r>
          </a:p>
        </p:txBody>
      </p:sp>
      <p:sp>
        <p:nvSpPr>
          <p:cNvPr id="15" name="Rectangle 14"/>
          <p:cNvSpPr/>
          <p:nvPr/>
        </p:nvSpPr>
        <p:spPr>
          <a:xfrm>
            <a:off x="566928" y="3547870"/>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639310"/>
            <a:ext cx="2926080" cy="502920"/>
          </a:xfrm>
          <a:prstGeom prst="rect">
            <a:avLst/>
          </a:prstGeom>
          <a:noFill/>
        </p:spPr>
        <p:txBody>
          <a:bodyPr wrap="square" anchor="t" lIns="0" rIns="0" tIns="0" bIns="0">
            <a:spAutoFit/>
          </a:bodyPr>
          <a:lstStyle/>
          <a:p>
            <a:pPr algn="l">
              <a:lnSpc>
                <a:spcPct val="125000"/>
              </a:lnSpc>
            </a:pPr>
            <a:r>
              <a:rPr sz="780" b="1" i="0" spc="160">
                <a:solidFill>
                  <a:srgbClr val="1E3A8A"/>
                </a:solidFill>
                <a:latin typeface="Courier New"/>
              </a:rPr>
              <a:t>MINNEAPOLIS FED · 2024</a:t>
            </a:r>
          </a:p>
        </p:txBody>
      </p:sp>
      <p:sp>
        <p:nvSpPr>
          <p:cNvPr id="17" name="TextBox 16"/>
          <p:cNvSpPr txBox="1"/>
          <p:nvPr/>
        </p:nvSpPr>
        <p:spPr>
          <a:xfrm>
            <a:off x="3721608" y="3621022"/>
            <a:ext cx="7955279" cy="274320"/>
          </a:xfrm>
          <a:prstGeom prst="rect">
            <a:avLst/>
          </a:prstGeom>
          <a:noFill/>
        </p:spPr>
        <p:txBody>
          <a:bodyPr wrap="square" anchor="t" lIns="0" rIns="0" tIns="0" bIns="0">
            <a:spAutoFit/>
          </a:bodyPr>
          <a:lstStyle/>
          <a:p>
            <a:pPr algn="l"/>
            <a:r>
              <a:rPr sz="1450" b="1" i="0">
                <a:solidFill>
                  <a:srgbClr val="0E1116"/>
                </a:solidFill>
                <a:latin typeface="Georgia"/>
              </a:rPr>
              <a:t>Property taxes reduce lock-in, shift ownership younger</a:t>
            </a:r>
          </a:p>
        </p:txBody>
      </p:sp>
      <p:sp>
        <p:nvSpPr>
          <p:cNvPr id="18" name="TextBox 17"/>
          <p:cNvSpPr txBox="1"/>
          <p:nvPr/>
        </p:nvSpPr>
        <p:spPr>
          <a:xfrm>
            <a:off x="3721608" y="3913630"/>
            <a:ext cx="7955279" cy="640080"/>
          </a:xfrm>
          <a:prstGeom prst="rect">
            <a:avLst/>
          </a:prstGeom>
          <a:noFill/>
        </p:spPr>
        <p:txBody>
          <a:bodyPr wrap="square" anchor="t" lIns="0" rIns="0" tIns="0" bIns="0">
            <a:spAutoFit/>
          </a:bodyPr>
          <a:lstStyle/>
          <a:p>
            <a:pPr algn="l">
              <a:lnSpc>
                <a:spcPct val="115000"/>
              </a:lnSpc>
            </a:pPr>
            <a:r>
              <a:rPr sz="1000" b="0" i="0">
                <a:solidFill>
                  <a:srgbClr val="2A2A2A"/>
                </a:solidFill>
                <a:latin typeface="Arial"/>
              </a:rPr>
              <a:t>Recurring taxes capitalize into lower prices and raise turnover toward young families — NY's turnover dividend is unusually large once artificial locks come off.</a:t>
            </a:r>
          </a:p>
        </p:txBody>
      </p:sp>
      <p:sp>
        <p:nvSpPr>
          <p:cNvPr id="19" name="Rectangle 18"/>
          <p:cNvSpPr/>
          <p:nvPr/>
        </p:nvSpPr>
        <p:spPr>
          <a:xfrm>
            <a:off x="566928" y="4581141"/>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4672581"/>
            <a:ext cx="2926080" cy="502920"/>
          </a:xfrm>
          <a:prstGeom prst="rect">
            <a:avLst/>
          </a:prstGeom>
          <a:noFill/>
        </p:spPr>
        <p:txBody>
          <a:bodyPr wrap="square" anchor="t" lIns="0" rIns="0" tIns="0" bIns="0">
            <a:spAutoFit/>
          </a:bodyPr>
          <a:lstStyle/>
          <a:p>
            <a:pPr algn="l">
              <a:lnSpc>
                <a:spcPct val="125000"/>
              </a:lnSpc>
            </a:pPr>
            <a:r>
              <a:rPr sz="780" b="1" i="0" spc="160">
                <a:solidFill>
                  <a:srgbClr val="1E3A8A"/>
                </a:solidFill>
                <a:latin typeface="Courier New"/>
              </a:rPr>
              <a:t>NORTHPORT · 2021 · THREE VILLAGE · 2025</a:t>
            </a:r>
          </a:p>
        </p:txBody>
      </p:sp>
      <p:sp>
        <p:nvSpPr>
          <p:cNvPr id="21" name="TextBox 20"/>
          <p:cNvSpPr txBox="1"/>
          <p:nvPr/>
        </p:nvSpPr>
        <p:spPr>
          <a:xfrm>
            <a:off x="3721608" y="4654293"/>
            <a:ext cx="7955279" cy="274320"/>
          </a:xfrm>
          <a:prstGeom prst="rect">
            <a:avLst/>
          </a:prstGeom>
          <a:noFill/>
        </p:spPr>
        <p:txBody>
          <a:bodyPr wrap="square" anchor="t" lIns="0" rIns="0" tIns="0" bIns="0">
            <a:spAutoFit/>
          </a:bodyPr>
          <a:lstStyle/>
          <a:p>
            <a:pPr algn="l"/>
            <a:r>
              <a:rPr sz="1450" b="1" i="0">
                <a:solidFill>
                  <a:srgbClr val="0E1116"/>
                </a:solidFill>
                <a:latin typeface="Georgia"/>
              </a:rPr>
              <a:t>The endgame is current, not historical</a:t>
            </a:r>
          </a:p>
        </p:txBody>
      </p:sp>
      <p:sp>
        <p:nvSpPr>
          <p:cNvPr id="22" name="TextBox 21"/>
          <p:cNvSpPr txBox="1"/>
          <p:nvPr/>
        </p:nvSpPr>
        <p:spPr>
          <a:xfrm>
            <a:off x="3721608" y="4946901"/>
            <a:ext cx="7955279" cy="640080"/>
          </a:xfrm>
          <a:prstGeom prst="rect">
            <a:avLst/>
          </a:prstGeom>
          <a:noFill/>
        </p:spPr>
        <p:txBody>
          <a:bodyPr wrap="square" anchor="t" lIns="0" rIns="0" tIns="0" bIns="0">
            <a:spAutoFit/>
          </a:bodyPr>
          <a:lstStyle/>
          <a:p>
            <a:pPr algn="l">
              <a:lnSpc>
                <a:spcPct val="115000"/>
              </a:lnSpc>
            </a:pPr>
            <a:r>
              <a:rPr sz="1000" b="0" i="0">
                <a:solidFill>
                  <a:srgbClr val="2A2A2A"/>
                </a:solidFill>
                <a:latin typeface="Arial"/>
              </a:rPr>
              <a:t>Northport–East Northport closed two elementaries in Aug 2021 (enrollment −10.6% + LIPA step-down; ~$7M/yr saved); Three Village consolidated grades district-wide in 2025; Long Beach is Nassau's nearest miss (East Elementary saved by 4,000 signatures, Jan 2025). The cycle is now Rockville Centre's to manage, with better tools.</a:t>
            </a:r>
          </a:p>
        </p:txBody>
      </p:sp>
      <p:sp>
        <p:nvSpPr>
          <p:cNvPr id="23" name="TextBox 22"/>
          <p:cNvSpPr txBox="1"/>
          <p:nvPr/>
        </p:nvSpPr>
        <p:spPr>
          <a:xfrm>
            <a:off x="566928" y="5687564"/>
            <a:ext cx="10789920" cy="640080"/>
          </a:xfrm>
          <a:prstGeom prst="rect">
            <a:avLst/>
          </a:prstGeom>
          <a:noFill/>
        </p:spPr>
        <p:txBody>
          <a:bodyPr wrap="square" anchor="t" lIns="0" rIns="0" tIns="0" bIns="0">
            <a:spAutoFit/>
          </a:bodyPr>
          <a:lstStyle/>
          <a:p>
            <a:pPr algn="l">
              <a:lnSpc>
                <a:spcPct val="120000"/>
              </a:lnSpc>
            </a:pPr>
            <a:r>
              <a:rPr sz="1150" b="1" i="0">
                <a:solidFill>
                  <a:srgbClr val="0E1116"/>
                </a:solidFill>
                <a:latin typeface="Arial"/>
              </a:rPr>
              <a:t>What we are not proposing: </a:t>
            </a:r>
            <a:r>
              <a:rPr sz="1150" b="0" i="0">
                <a:solidFill>
                  <a:srgbClr val="2A2A2A"/>
                </a:solidFill>
                <a:latin typeface="Arial"/>
              </a:rPr>
              <a:t>no benefit cuts, no forced sales, no “empty-nester tax.” Opt-in for the senior; revenue-positive for the State.</a:t>
            </a:r>
          </a:p>
        </p:txBody>
      </p:sp>
      <p:sp>
        <p:nvSpPr>
          <p:cNvPr id="24" name="Rectangle 23"/>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NBER W25468 EVIDENCE ON EXEMPTION RETENTION EFFECTS — SLIDE 10</a:t>
            </a:r>
          </a:p>
        </p:txBody>
      </p:sp>
      <p:sp>
        <p:nvSpPr>
          <p:cNvPr id="26" name="TextBox 25"/>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The Horizon Lever</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17</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04672"/>
            <a:ext cx="10972800" cy="502920"/>
          </a:xfrm>
          <a:prstGeom prst="rect">
            <a:avLst/>
          </a:prstGeom>
          <a:noFill/>
        </p:spPr>
        <p:txBody>
          <a:bodyPr wrap="square" anchor="t" lIns="0" rIns="0" tIns="0" bIns="0">
            <a:spAutoFit/>
          </a:bodyPr>
          <a:lstStyle/>
          <a:p>
            <a:pPr algn="l"/>
            <a:r>
              <a:rPr sz="2700" b="1" i="0">
                <a:solidFill>
                  <a:srgbClr val="0E1116"/>
                </a:solidFill>
                <a:latin typeface="Georgia"/>
              </a:rPr>
              <a:t>The unasked question: the map itself</a:t>
            </a:r>
          </a:p>
        </p:txBody>
      </p:sp>
      <p:sp>
        <p:nvSpPr>
          <p:cNvPr id="7" name="TextBox 6"/>
          <p:cNvSpPr txBox="1"/>
          <p:nvPr/>
        </p:nvSpPr>
        <p:spPr>
          <a:xfrm>
            <a:off x="566928" y="1353312"/>
            <a:ext cx="10789920" cy="502920"/>
          </a:xfrm>
          <a:prstGeom prst="rect">
            <a:avLst/>
          </a:prstGeom>
          <a:noFill/>
        </p:spPr>
        <p:txBody>
          <a:bodyPr wrap="square" anchor="t" lIns="0" rIns="0" tIns="0" bIns="0">
            <a:spAutoFit/>
          </a:bodyPr>
          <a:lstStyle/>
          <a:p>
            <a:pPr algn="l">
              <a:lnSpc>
                <a:spcPct val="120000"/>
              </a:lnSpc>
            </a:pPr>
            <a:r>
              <a:rPr sz="1350" b="0" i="1">
                <a:solidFill>
                  <a:srgbClr val="2A2A2A"/>
                </a:solidFill>
                <a:latin typeface="Georgia"/>
              </a:rPr>
              <a:t>Why does one county run 56 school districts whose lines match no town, no village — and never move?</a:t>
            </a:r>
          </a:p>
        </p:txBody>
      </p:sp>
      <p:sp>
        <p:nvSpPr>
          <p:cNvPr id="8" name="Rectangle 7"/>
          <p:cNvSpPr/>
          <p:nvPr/>
        </p:nvSpPr>
        <p:spPr>
          <a:xfrm>
            <a:off x="566928" y="1965960"/>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048256"/>
            <a:ext cx="2926080" cy="457200"/>
          </a:xfrm>
          <a:prstGeom prst="rect">
            <a:avLst/>
          </a:prstGeom>
          <a:noFill/>
        </p:spPr>
        <p:txBody>
          <a:bodyPr wrap="square" anchor="t" lIns="0" rIns="0" tIns="0" bIns="0">
            <a:spAutoFit/>
          </a:bodyPr>
          <a:lstStyle/>
          <a:p>
            <a:pPr algn="l">
              <a:lnSpc>
                <a:spcPct val="125000"/>
              </a:lnSpc>
            </a:pPr>
            <a:r>
              <a:rPr sz="800" b="1" i="0" spc="160">
                <a:solidFill>
                  <a:srgbClr val="1E3A8A"/>
                </a:solidFill>
                <a:latin typeface="Courier New"/>
              </a:rPr>
              <a:t>THE LINES ARE ACCIDENTS</a:t>
            </a:r>
          </a:p>
        </p:txBody>
      </p:sp>
      <p:sp>
        <p:nvSpPr>
          <p:cNvPr id="10" name="TextBox 9"/>
          <p:cNvSpPr txBox="1"/>
          <p:nvPr/>
        </p:nvSpPr>
        <p:spPr>
          <a:xfrm>
            <a:off x="3721608" y="2029968"/>
            <a:ext cx="7955279" cy="777240"/>
          </a:xfrm>
          <a:prstGeom prst="rect">
            <a:avLst/>
          </a:prstGeom>
          <a:noFill/>
        </p:spPr>
        <p:txBody>
          <a:bodyPr wrap="square" anchor="t" lIns="0" rIns="0" tIns="0" bIns="0">
            <a:spAutoFit/>
          </a:bodyPr>
          <a:lstStyle/>
          <a:p>
            <a:pPr algn="l">
              <a:lnSpc>
                <a:spcPct val="116000"/>
              </a:lnSpc>
            </a:pPr>
            <a:r>
              <a:rPr sz="1050" b="0" i="0">
                <a:solidFill>
                  <a:srgbClr val="2A2A2A"/>
                </a:solidFill>
                <a:latin typeface="Arial"/>
              </a:rPr>
              <a:t>Nassau's district boundaries descend from 19th-century common-school districts. They are not coterminous with towns or villages (RVC UFSD ≠ Village of RVC), and they have been treated as carved in stone for a century.</a:t>
            </a:r>
          </a:p>
        </p:txBody>
      </p:sp>
      <p:sp>
        <p:nvSpPr>
          <p:cNvPr id="11" name="Rectangle 10"/>
          <p:cNvSpPr/>
          <p:nvPr/>
        </p:nvSpPr>
        <p:spPr>
          <a:xfrm>
            <a:off x="566928" y="2898648"/>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980944"/>
            <a:ext cx="2926080" cy="457200"/>
          </a:xfrm>
          <a:prstGeom prst="rect">
            <a:avLst/>
          </a:prstGeom>
          <a:noFill/>
        </p:spPr>
        <p:txBody>
          <a:bodyPr wrap="square" anchor="t" lIns="0" rIns="0" tIns="0" bIns="0">
            <a:spAutoFit/>
          </a:bodyPr>
          <a:lstStyle/>
          <a:p>
            <a:pPr algn="l">
              <a:lnSpc>
                <a:spcPct val="125000"/>
              </a:lnSpc>
            </a:pPr>
            <a:r>
              <a:rPr sz="800" b="1" i="0" spc="160">
                <a:solidFill>
                  <a:srgbClr val="1E3A8A"/>
                </a:solidFill>
                <a:latin typeface="Courier New"/>
              </a:rPr>
              <a:t>ALBANY ALREADY PAYS FOR THIS</a:t>
            </a:r>
          </a:p>
        </p:txBody>
      </p:sp>
      <p:sp>
        <p:nvSpPr>
          <p:cNvPr id="13" name="TextBox 12"/>
          <p:cNvSpPr txBox="1"/>
          <p:nvPr/>
        </p:nvSpPr>
        <p:spPr>
          <a:xfrm>
            <a:off x="3721608" y="2962656"/>
            <a:ext cx="7955279" cy="777240"/>
          </a:xfrm>
          <a:prstGeom prst="rect">
            <a:avLst/>
          </a:prstGeom>
          <a:noFill/>
        </p:spPr>
        <p:txBody>
          <a:bodyPr wrap="square" anchor="t" lIns="0" rIns="0" tIns="0" bIns="0">
            <a:spAutoFit/>
          </a:bodyPr>
          <a:lstStyle/>
          <a:p>
            <a:pPr algn="l">
              <a:lnSpc>
                <a:spcPct val="116000"/>
              </a:lnSpc>
            </a:pPr>
            <a:r>
              <a:rPr sz="1050" b="0" i="0">
                <a:solidFill>
                  <a:srgbClr val="2A2A2A"/>
                </a:solidFill>
                <a:latin typeface="Arial"/>
              </a:rPr>
              <a:t>NYSED's reorganization framework offers merging districts a multi-year incentive operating-aid bonus plus enhanced building aid — money on the table that Nassau districts have left untouched (NYSED, Guide to the Reorganization of School Districts).</a:t>
            </a:r>
          </a:p>
        </p:txBody>
      </p:sp>
      <p:sp>
        <p:nvSpPr>
          <p:cNvPr id="14" name="Rectangle 13"/>
          <p:cNvSpPr/>
          <p:nvPr/>
        </p:nvSpPr>
        <p:spPr>
          <a:xfrm>
            <a:off x="566928" y="3831336"/>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913632"/>
            <a:ext cx="2926080" cy="457200"/>
          </a:xfrm>
          <a:prstGeom prst="rect">
            <a:avLst/>
          </a:prstGeom>
          <a:noFill/>
        </p:spPr>
        <p:txBody>
          <a:bodyPr wrap="square" anchor="t" lIns="0" rIns="0" tIns="0" bIns="0">
            <a:spAutoFit/>
          </a:bodyPr>
          <a:lstStyle/>
          <a:p>
            <a:pPr algn="l">
              <a:lnSpc>
                <a:spcPct val="125000"/>
              </a:lnSpc>
            </a:pPr>
            <a:r>
              <a:rPr sz="800" b="1" i="0" spc="160">
                <a:solidFill>
                  <a:srgbClr val="1E3A8A"/>
                </a:solidFill>
                <a:latin typeface="Courier New"/>
              </a:rPr>
              <a:t>SHORT OF MERGER</a:t>
            </a:r>
          </a:p>
        </p:txBody>
      </p:sp>
      <p:sp>
        <p:nvSpPr>
          <p:cNvPr id="16" name="TextBox 15"/>
          <p:cNvSpPr txBox="1"/>
          <p:nvPr/>
        </p:nvSpPr>
        <p:spPr>
          <a:xfrm>
            <a:off x="3721608" y="3895344"/>
            <a:ext cx="7955279" cy="777240"/>
          </a:xfrm>
          <a:prstGeom prst="rect">
            <a:avLst/>
          </a:prstGeom>
          <a:noFill/>
        </p:spPr>
        <p:txBody>
          <a:bodyPr wrap="square" anchor="t" lIns="0" rIns="0" tIns="0" bIns="0">
            <a:spAutoFit/>
          </a:bodyPr>
          <a:lstStyle/>
          <a:p>
            <a:pPr algn="l">
              <a:lnSpc>
                <a:spcPct val="116000"/>
              </a:lnSpc>
            </a:pPr>
            <a:r>
              <a:rPr sz="1050" b="0" i="0">
                <a:solidFill>
                  <a:srgbClr val="2A2A2A"/>
                </a:solidFill>
                <a:latin typeface="Arial"/>
              </a:rPr>
              <a:t>Utilization can rebalance across lines without redrawing them: cross-district tuitioning, shared programs through BOCES, and boundary-alteration petitions for edge neighborhoods.</a:t>
            </a:r>
          </a:p>
        </p:txBody>
      </p:sp>
      <p:sp>
        <p:nvSpPr>
          <p:cNvPr id="17" name="Rectangle 16"/>
          <p:cNvSpPr/>
          <p:nvPr/>
        </p:nvSpPr>
        <p:spPr>
          <a:xfrm>
            <a:off x="566928" y="4764024"/>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846320"/>
            <a:ext cx="2926080" cy="457200"/>
          </a:xfrm>
          <a:prstGeom prst="rect">
            <a:avLst/>
          </a:prstGeom>
          <a:noFill/>
        </p:spPr>
        <p:txBody>
          <a:bodyPr wrap="square" anchor="t" lIns="0" rIns="0" tIns="0" bIns="0">
            <a:spAutoFit/>
          </a:bodyPr>
          <a:lstStyle/>
          <a:p>
            <a:pPr algn="l">
              <a:lnSpc>
                <a:spcPct val="125000"/>
              </a:lnSpc>
            </a:pPr>
            <a:r>
              <a:rPr sz="800" b="1" i="0" spc="160">
                <a:solidFill>
                  <a:srgbClr val="1E3A8A"/>
                </a:solidFill>
                <a:latin typeface="Courier New"/>
              </a:rPr>
              <a:t>WHY IT BELONGS ON THE TABLE</a:t>
            </a:r>
          </a:p>
        </p:txBody>
      </p:sp>
      <p:sp>
        <p:nvSpPr>
          <p:cNvPr id="19" name="TextBox 18"/>
          <p:cNvSpPr txBox="1"/>
          <p:nvPr/>
        </p:nvSpPr>
        <p:spPr>
          <a:xfrm>
            <a:off x="3721608" y="4828032"/>
            <a:ext cx="7955279" cy="777240"/>
          </a:xfrm>
          <a:prstGeom prst="rect">
            <a:avLst/>
          </a:prstGeom>
          <a:noFill/>
        </p:spPr>
        <p:txBody>
          <a:bodyPr wrap="square" anchor="t" lIns="0" rIns="0" tIns="0" bIns="0">
            <a:spAutoFit/>
          </a:bodyPr>
          <a:lstStyle/>
          <a:p>
            <a:pPr algn="l">
              <a:lnSpc>
                <a:spcPct val="116000"/>
              </a:lnSpc>
            </a:pPr>
            <a:r>
              <a:rPr sz="1050" b="0" i="0">
                <a:solidFill>
                  <a:srgbClr val="2A2A2A"/>
                </a:solidFill>
                <a:latin typeface="Arial"/>
              </a:rPr>
              <a:t>A county where 61% of districts are shrinking should not treat the map as scripture. If the families can't come to the seats, the seats question eventually comes to the map — better to study it with data than meet it in a crisis.</a:t>
            </a:r>
          </a:p>
        </p:txBody>
      </p:sp>
      <p:sp>
        <p:nvSpPr>
          <p:cNvPr id="20" name="Rectangle 19"/>
          <p:cNvSpPr/>
          <p:nvPr/>
        </p:nvSpPr>
        <p:spPr>
          <a:xfrm>
            <a:off x="566928" y="5788152"/>
            <a:ext cx="11057839" cy="54864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5888736"/>
            <a:ext cx="10607040" cy="365760"/>
          </a:xfrm>
          <a:prstGeom prst="rect">
            <a:avLst/>
          </a:prstGeom>
          <a:noFill/>
        </p:spPr>
        <p:txBody>
          <a:bodyPr wrap="square" anchor="t" lIns="0" rIns="0" tIns="0" bIns="0">
            <a:spAutoFit/>
          </a:bodyPr>
          <a:lstStyle/>
          <a:p>
            <a:pPr algn="l"/>
            <a:r>
              <a:rPr sz="850" b="1" i="0" spc="160">
                <a:solidFill>
                  <a:srgbClr val="9DB4E8"/>
                </a:solidFill>
                <a:latin typeface="Courier New"/>
              </a:rPr>
              <a:t>CANDOR   </a:t>
            </a:r>
            <a:r>
              <a:rPr sz="1150" b="0" i="0">
                <a:solidFill>
                  <a:srgbClr val="F1ECE2"/>
                </a:solidFill>
                <a:latin typeface="Arial"/>
              </a:rPr>
              <a:t>This is the political hot potato of the set — which is why the ask here is only the study and the data, not the redraw.</a:t>
            </a:r>
          </a:p>
        </p:txBody>
      </p:sp>
      <p:sp>
        <p:nvSpPr>
          <p:cNvPr id="22" name="Rectangle 21"/>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SAME COUNTY DATA ASK (SLIDE 15) POWERS THIS CONVERSATION — UTILIZATION + EXEMPTIONS BY DISTRICT</a:t>
            </a:r>
          </a:p>
        </p:txBody>
      </p:sp>
      <p:sp>
        <p:nvSpPr>
          <p:cNvPr id="24" name="TextBox 23"/>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02920"/>
            <a:ext cx="10058400" cy="274320"/>
          </a:xfrm>
          <a:prstGeom prst="rect">
            <a:avLst/>
          </a:prstGeom>
          <a:noFill/>
        </p:spPr>
        <p:txBody>
          <a:bodyPr wrap="square" anchor="t" lIns="0" rIns="0" tIns="0" bIns="0">
            <a:spAutoFit/>
          </a:bodyPr>
          <a:lstStyle/>
          <a:p>
            <a:pPr algn="l"/>
            <a:r>
              <a:rPr sz="1000" b="1" i="0" spc="160">
                <a:solidFill>
                  <a:srgbClr val="9DB4E8"/>
                </a:solidFill>
                <a:latin typeface="Courier New"/>
              </a:rPr>
              <a:t>THE CLOSE</a:t>
            </a:r>
          </a:p>
        </p:txBody>
      </p:sp>
      <p:sp>
        <p:nvSpPr>
          <p:cNvPr id="4" name="Rectangle 3"/>
          <p:cNvSpPr/>
          <p:nvPr/>
        </p:nvSpPr>
        <p:spPr>
          <a:xfrm>
            <a:off x="566928" y="914400"/>
            <a:ext cx="2194560" cy="25400"/>
          </a:xfrm>
          <a:prstGeom prst="rect">
            <a:avLst/>
          </a:prstGeom>
          <a:solidFill>
            <a:srgbClr val="9DB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17320"/>
            <a:ext cx="10972800" cy="2194560"/>
          </a:xfrm>
          <a:prstGeom prst="rect">
            <a:avLst/>
          </a:prstGeom>
          <a:noFill/>
        </p:spPr>
        <p:txBody>
          <a:bodyPr wrap="square" anchor="t" lIns="0" rIns="0" tIns="0" bIns="0">
            <a:spAutoFit/>
          </a:bodyPr>
          <a:lstStyle/>
          <a:p>
            <a:pPr algn="l">
              <a:lnSpc>
                <a:spcPct val="105000"/>
              </a:lnSpc>
            </a:pPr>
            <a:r>
              <a:rPr sz="4600" b="1" i="0">
                <a:solidFill>
                  <a:srgbClr val="F1ECE2"/>
                </a:solidFill>
                <a:latin typeface="Georgia"/>
              </a:rPr>
              <a:t>One county. One data ask.</a:t>
            </a:r>
          </a:p>
          <a:p>
            <a:pPr algn="l">
              <a:lnSpc>
                <a:spcPct val="105000"/>
              </a:lnSpc>
            </a:pPr>
            <a:r>
              <a:rPr sz="4600" b="1" i="0">
                <a:solidFill>
                  <a:srgbClr val="F1ECE2"/>
                </a:solidFill>
                <a:latin typeface="Georgia"/>
              </a:rPr>
              <a:t>One Albany agenda.</a:t>
            </a:r>
          </a:p>
        </p:txBody>
      </p:sp>
      <p:sp>
        <p:nvSpPr>
          <p:cNvPr id="6" name="TextBox 5"/>
          <p:cNvSpPr txBox="1"/>
          <p:nvPr/>
        </p:nvSpPr>
        <p:spPr>
          <a:xfrm>
            <a:off x="566928" y="3291840"/>
            <a:ext cx="10515600" cy="1280160"/>
          </a:xfrm>
          <a:prstGeom prst="rect">
            <a:avLst/>
          </a:prstGeom>
          <a:noFill/>
        </p:spPr>
        <p:txBody>
          <a:bodyPr wrap="square" anchor="t" lIns="0" rIns="0" tIns="0" bIns="0">
            <a:spAutoFit/>
          </a:bodyPr>
          <a:lstStyle/>
          <a:p>
            <a:pPr algn="l">
              <a:lnSpc>
                <a:spcPct val="130000"/>
              </a:lnSpc>
            </a:pPr>
            <a:r>
              <a:rPr sz="1600" b="0" i="1">
                <a:solidFill>
                  <a:srgbClr val="D8D3C6"/>
                </a:solidFill>
                <a:latin typeface="Georgia"/>
              </a:rPr>
              <a:t>Each budget cycle under the cap starts ~$2–4M behind. The 2026-27 answer was 62 classroom positions. The 2027-28 question arrives with a higher exemption ceiling, fewer students, and an older electorate — every year of delay makes the carrots more expensive and the politics harder.</a:t>
            </a:r>
          </a:p>
        </p:txBody>
      </p:sp>
      <p:sp>
        <p:nvSpPr>
          <p:cNvPr id="7" name="TextBox 6"/>
          <p:cNvSpPr txBox="1"/>
          <p:nvPr/>
        </p:nvSpPr>
        <p:spPr>
          <a:xfrm>
            <a:off x="566928" y="5074920"/>
            <a:ext cx="2560320" cy="228600"/>
          </a:xfrm>
          <a:prstGeom prst="rect">
            <a:avLst/>
          </a:prstGeom>
          <a:noFill/>
        </p:spPr>
        <p:txBody>
          <a:bodyPr wrap="square" anchor="t" lIns="0" rIns="0" tIns="0" bIns="0">
            <a:spAutoFit/>
          </a:bodyPr>
          <a:lstStyle/>
          <a:p>
            <a:pPr algn="l"/>
            <a:r>
              <a:rPr sz="800" b="1" i="0" spc="160">
                <a:solidFill>
                  <a:srgbClr val="9DB4E8"/>
                </a:solidFill>
                <a:latin typeface="Courier New"/>
              </a:rPr>
              <a:t>THE DECK</a:t>
            </a:r>
          </a:p>
        </p:txBody>
      </p:sp>
      <p:sp>
        <p:nvSpPr>
          <p:cNvPr id="8" name="TextBox 7"/>
          <p:cNvSpPr txBox="1"/>
          <p:nvPr/>
        </p:nvSpPr>
        <p:spPr>
          <a:xfrm>
            <a:off x="566928" y="5349240"/>
            <a:ext cx="2651760" cy="274320"/>
          </a:xfrm>
          <a:prstGeom prst="rect">
            <a:avLst/>
          </a:prstGeom>
          <a:noFill/>
        </p:spPr>
        <p:txBody>
          <a:bodyPr wrap="square" anchor="t" lIns="0" rIns="0" tIns="0" bIns="0">
            <a:spAutoFit/>
          </a:bodyPr>
          <a:lstStyle/>
          <a:p>
            <a:pPr algn="l"/>
            <a:r>
              <a:rPr sz="1200" b="1" i="0">
                <a:solidFill>
                  <a:srgbClr val="F1ECE2"/>
                </a:solidFill>
                <a:latin typeface="Arial"/>
              </a:rPr>
              <a:t>rvc-taxes.jeffpinto.com</a:t>
            </a:r>
          </a:p>
        </p:txBody>
      </p:sp>
      <p:sp>
        <p:nvSpPr>
          <p:cNvPr id="9" name="TextBox 8"/>
          <p:cNvSpPr txBox="1"/>
          <p:nvPr/>
        </p:nvSpPr>
        <p:spPr>
          <a:xfrm>
            <a:off x="3310128" y="5074920"/>
            <a:ext cx="2560320" cy="228600"/>
          </a:xfrm>
          <a:prstGeom prst="rect">
            <a:avLst/>
          </a:prstGeom>
          <a:noFill/>
        </p:spPr>
        <p:txBody>
          <a:bodyPr wrap="square" anchor="t" lIns="0" rIns="0" tIns="0" bIns="0">
            <a:spAutoFit/>
          </a:bodyPr>
          <a:lstStyle/>
          <a:p>
            <a:pPr algn="l"/>
            <a:r>
              <a:rPr sz="800" b="1" i="0" spc="160">
                <a:solidFill>
                  <a:srgbClr val="9DB4E8"/>
                </a:solidFill>
                <a:latin typeface="Courier New"/>
              </a:rPr>
              <a:t>THE MECHANICS</a:t>
            </a:r>
          </a:p>
        </p:txBody>
      </p:sp>
      <p:sp>
        <p:nvSpPr>
          <p:cNvPr id="10" name="TextBox 9"/>
          <p:cNvSpPr txBox="1"/>
          <p:nvPr/>
        </p:nvSpPr>
        <p:spPr>
          <a:xfrm>
            <a:off x="3310128" y="5349240"/>
            <a:ext cx="2651760" cy="274320"/>
          </a:xfrm>
          <a:prstGeom prst="rect">
            <a:avLst/>
          </a:prstGeom>
          <a:noFill/>
        </p:spPr>
        <p:txBody>
          <a:bodyPr wrap="square" anchor="t" lIns="0" rIns="0" tIns="0" bIns="0">
            <a:spAutoFit/>
          </a:bodyPr>
          <a:lstStyle/>
          <a:p>
            <a:pPr algn="l"/>
            <a:r>
              <a:rPr sz="1200" b="1" i="0">
                <a:solidFill>
                  <a:srgbClr val="F1ECE2"/>
                </a:solidFill>
                <a:latin typeface="Arial"/>
              </a:rPr>
              <a:t>/fiscal-math.html</a:t>
            </a:r>
          </a:p>
        </p:txBody>
      </p:sp>
      <p:sp>
        <p:nvSpPr>
          <p:cNvPr id="11" name="TextBox 10"/>
          <p:cNvSpPr txBox="1"/>
          <p:nvPr/>
        </p:nvSpPr>
        <p:spPr>
          <a:xfrm>
            <a:off x="6053328" y="5074920"/>
            <a:ext cx="2560320" cy="228600"/>
          </a:xfrm>
          <a:prstGeom prst="rect">
            <a:avLst/>
          </a:prstGeom>
          <a:noFill/>
        </p:spPr>
        <p:txBody>
          <a:bodyPr wrap="square" anchor="t" lIns="0" rIns="0" tIns="0" bIns="0">
            <a:spAutoFit/>
          </a:bodyPr>
          <a:lstStyle/>
          <a:p>
            <a:pPr algn="l"/>
            <a:r>
              <a:rPr sz="800" b="1" i="0" spc="160">
                <a:solidFill>
                  <a:srgbClr val="9DB4E8"/>
                </a:solidFill>
                <a:latin typeface="Courier New"/>
              </a:rPr>
              <a:t>THE INSTRUMENT</a:t>
            </a:r>
          </a:p>
        </p:txBody>
      </p:sp>
      <p:sp>
        <p:nvSpPr>
          <p:cNvPr id="12" name="TextBox 11"/>
          <p:cNvSpPr txBox="1"/>
          <p:nvPr/>
        </p:nvSpPr>
        <p:spPr>
          <a:xfrm>
            <a:off x="6053328" y="5349240"/>
            <a:ext cx="2651760" cy="274320"/>
          </a:xfrm>
          <a:prstGeom prst="rect">
            <a:avLst/>
          </a:prstGeom>
          <a:noFill/>
        </p:spPr>
        <p:txBody>
          <a:bodyPr wrap="square" anchor="t" lIns="0" rIns="0" tIns="0" bIns="0">
            <a:spAutoFit/>
          </a:bodyPr>
          <a:lstStyle/>
          <a:p>
            <a:pPr algn="l"/>
            <a:r>
              <a:rPr sz="1200" b="1" i="0">
                <a:solidFill>
                  <a:srgbClr val="F1ECE2"/>
                </a:solidFill>
                <a:latin typeface="Arial"/>
              </a:rPr>
              <a:t>/breakeven.html</a:t>
            </a:r>
          </a:p>
        </p:txBody>
      </p:sp>
      <p:sp>
        <p:nvSpPr>
          <p:cNvPr id="13" name="TextBox 12"/>
          <p:cNvSpPr txBox="1"/>
          <p:nvPr/>
        </p:nvSpPr>
        <p:spPr>
          <a:xfrm>
            <a:off x="8796528" y="5074920"/>
            <a:ext cx="2560320" cy="228600"/>
          </a:xfrm>
          <a:prstGeom prst="rect">
            <a:avLst/>
          </a:prstGeom>
          <a:noFill/>
        </p:spPr>
        <p:txBody>
          <a:bodyPr wrap="square" anchor="t" lIns="0" rIns="0" tIns="0" bIns="0">
            <a:spAutoFit/>
          </a:bodyPr>
          <a:lstStyle/>
          <a:p>
            <a:pPr algn="l"/>
            <a:r>
              <a:rPr sz="800" b="1" i="0" spc="160">
                <a:solidFill>
                  <a:srgbClr val="9DB4E8"/>
                </a:solidFill>
                <a:latin typeface="Courier New"/>
              </a:rPr>
              <a:t>THE RECEIPTS</a:t>
            </a:r>
          </a:p>
        </p:txBody>
      </p:sp>
      <p:sp>
        <p:nvSpPr>
          <p:cNvPr id="14" name="TextBox 13"/>
          <p:cNvSpPr txBox="1"/>
          <p:nvPr/>
        </p:nvSpPr>
        <p:spPr>
          <a:xfrm>
            <a:off x="8796528" y="5349240"/>
            <a:ext cx="2651760" cy="274320"/>
          </a:xfrm>
          <a:prstGeom prst="rect">
            <a:avLst/>
          </a:prstGeom>
          <a:noFill/>
        </p:spPr>
        <p:txBody>
          <a:bodyPr wrap="square" anchor="t" lIns="0" rIns="0" tIns="0" bIns="0">
            <a:spAutoFit/>
          </a:bodyPr>
          <a:lstStyle/>
          <a:p>
            <a:pPr algn="l"/>
            <a:r>
              <a:rPr sz="1200" b="1" i="0">
                <a:solidFill>
                  <a:srgbClr val="F1ECE2"/>
                </a:solidFill>
                <a:latin typeface="Arial"/>
              </a:rPr>
              <a:t>/validation.html</a:t>
            </a:r>
          </a:p>
        </p:txBody>
      </p:sp>
      <p:sp>
        <p:nvSpPr>
          <p:cNvPr id="15" name="Rectangle 14"/>
          <p:cNvSpPr/>
          <p:nvPr/>
        </p:nvSpPr>
        <p:spPr>
          <a:xfrm>
            <a:off x="566928" y="5943600"/>
            <a:ext cx="11057839" cy="12700"/>
          </a:xfrm>
          <a:prstGeom prst="rect">
            <a:avLst/>
          </a:prstGeom>
          <a:solidFill>
            <a:srgbClr val="3A3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053328"/>
            <a:ext cx="10789920" cy="365760"/>
          </a:xfrm>
          <a:prstGeom prst="rect">
            <a:avLst/>
          </a:prstGeom>
          <a:noFill/>
        </p:spPr>
        <p:txBody>
          <a:bodyPr wrap="square" anchor="t" lIns="0" rIns="0" tIns="0" bIns="0">
            <a:spAutoFit/>
          </a:bodyPr>
          <a:lstStyle/>
          <a:p>
            <a:pPr algn="l"/>
            <a:r>
              <a:rPr sz="850" b="0" i="0" spc="160">
                <a:solidFill>
                  <a:srgbClr val="A9A394"/>
                </a:solidFill>
                <a:latin typeface="Courier New"/>
              </a:rPr>
              <a:t>PREPARED BY JEFF PINTO · JUNE 2026 · EVERY FIGURE INDEPENDENTLY FACT-CHECKED AGAINST PRIMARY SOURCES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94560"/>
            <a:ext cx="10058400" cy="365760"/>
          </a:xfrm>
          <a:prstGeom prst="rect">
            <a:avLst/>
          </a:prstGeom>
          <a:noFill/>
        </p:spPr>
        <p:txBody>
          <a:bodyPr wrap="square" anchor="t" lIns="0" rIns="0" tIns="0" bIns="0">
            <a:spAutoFit/>
          </a:bodyPr>
          <a:lstStyle/>
          <a:p>
            <a:pPr algn="l"/>
            <a:r>
              <a:rPr sz="900" b="1" i="0">
                <a:solidFill>
                  <a:srgbClr val="1E3A8A"/>
                </a:solidFill>
                <a:latin typeface="Courier New"/>
              </a:rPr>
              <a:t>■ </a:t>
            </a:r>
            <a:r>
              <a:rPr sz="1000" b="1" i="0" spc="160">
                <a:solidFill>
                  <a:srgbClr val="1E3A8A"/>
                </a:solidFill>
                <a:latin typeface="Courier New"/>
              </a:rPr>
              <a:t>APPENDIX · FOR READING, NOT PRESENTING</a:t>
            </a:r>
          </a:p>
        </p:txBody>
      </p:sp>
      <p:sp>
        <p:nvSpPr>
          <p:cNvPr id="4" name="TextBox 3"/>
          <p:cNvSpPr txBox="1"/>
          <p:nvPr/>
        </p:nvSpPr>
        <p:spPr>
          <a:xfrm>
            <a:off x="566928" y="2606040"/>
            <a:ext cx="10972800" cy="1280160"/>
          </a:xfrm>
          <a:prstGeom prst="rect">
            <a:avLst/>
          </a:prstGeom>
          <a:noFill/>
        </p:spPr>
        <p:txBody>
          <a:bodyPr wrap="square" anchor="t" lIns="0" rIns="0" tIns="0" bIns="0">
            <a:spAutoFit/>
          </a:bodyPr>
          <a:lstStyle/>
          <a:p>
            <a:pPr algn="l">
              <a:lnSpc>
                <a:spcPct val="100000"/>
              </a:lnSpc>
            </a:pPr>
            <a:r>
              <a:rPr sz="4400" b="1" i="0">
                <a:solidFill>
                  <a:srgbClr val="0E1116"/>
                </a:solidFill>
                <a:latin typeface="Georgia"/>
              </a:rPr>
              <a:t>The numbers, and where they come from.</a:t>
            </a:r>
          </a:p>
        </p:txBody>
      </p:sp>
      <p:sp>
        <p:nvSpPr>
          <p:cNvPr id="5" name="TextBox 4"/>
          <p:cNvSpPr txBox="1"/>
          <p:nvPr/>
        </p:nvSpPr>
        <p:spPr>
          <a:xfrm>
            <a:off x="566928" y="3977639"/>
            <a:ext cx="10424160" cy="1645920"/>
          </a:xfrm>
          <a:prstGeom prst="rect">
            <a:avLst/>
          </a:prstGeom>
          <a:noFill/>
        </p:spPr>
        <p:txBody>
          <a:bodyPr wrap="square" anchor="t" lIns="0" rIns="0" tIns="0" bIns="0">
            <a:spAutoFit/>
          </a:bodyPr>
          <a:lstStyle/>
          <a:p>
            <a:pPr algn="l">
              <a:lnSpc>
                <a:spcPct val="130000"/>
              </a:lnSpc>
            </a:pPr>
            <a:r>
              <a:rPr sz="1250" b="0" i="0">
                <a:solidFill>
                  <a:srgbClr val="2A2A2A"/>
                </a:solidFill>
                <a:latin typeface="Arial"/>
              </a:rPr>
              <a:t>Every figure in this deck was checked against primary sources on June 9, 2026: NYSED, NYS DTF, the State Comptroller, the Census Bureau (ACS), IRS SOI, congress.gov, nysenate.gov, Nassau County, and the named press coverage. The appendix carries the validated reference set — mechanics, tier tables, precedents, and citations. The full fact-check (per-claim verdicts, with everything that didn't survive) lives at rvc-taxes.jeffpinto.com/validation.html.</a:t>
            </a:r>
          </a:p>
        </p:txBody>
      </p:sp>
      <p:sp>
        <p:nvSpPr>
          <p:cNvPr id="6" name="Rectangle 5"/>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METHODOLOGY: CLAIMS TRACED TO STATUTE, AGENCY TABLE, OR NAMED ARTICLE; UNTRACEABLE CLAIMS LABELED, NOT REPEATED</a:t>
            </a:r>
          </a:p>
        </p:txBody>
      </p:sp>
      <p:sp>
        <p:nvSpPr>
          <p:cNvPr id="8" name="TextBox 7"/>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Appendix</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20</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777240"/>
            <a:ext cx="10972800" cy="457200"/>
          </a:xfrm>
          <a:prstGeom prst="rect">
            <a:avLst/>
          </a:prstGeom>
          <a:noFill/>
        </p:spPr>
        <p:txBody>
          <a:bodyPr wrap="square" anchor="t" lIns="0" rIns="0" tIns="0" bIns="0">
            <a:spAutoFit/>
          </a:bodyPr>
          <a:lstStyle/>
          <a:p>
            <a:pPr algn="l"/>
            <a:r>
              <a:rPr sz="2300" b="1" i="0">
                <a:solidFill>
                  <a:srgbClr val="0E1116"/>
                </a:solidFill>
                <a:latin typeface="Georgia"/>
              </a:rPr>
              <a:t>Levy mechanics &amp; STAR plumbing — the reference card</a:t>
            </a:r>
          </a:p>
        </p:txBody>
      </p:sp>
      <p:sp>
        <p:nvSpPr>
          <p:cNvPr id="7" name="Rectangle 6"/>
          <p:cNvSpPr/>
          <p:nvPr/>
        </p:nvSpPr>
        <p:spPr>
          <a:xfrm>
            <a:off x="566928" y="1417320"/>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90472"/>
            <a:ext cx="2011680" cy="365760"/>
          </a:xfrm>
          <a:prstGeom prst="rect">
            <a:avLst/>
          </a:prstGeom>
          <a:noFill/>
        </p:spPr>
        <p:txBody>
          <a:bodyPr wrap="square" anchor="t" lIns="0" rIns="0" tIns="0" bIns="0">
            <a:spAutoFit/>
          </a:bodyPr>
          <a:lstStyle/>
          <a:p>
            <a:pPr algn="l"/>
            <a:r>
              <a:rPr sz="900" b="1" i="0" spc="160">
                <a:solidFill>
                  <a:srgbClr val="1E3A8A"/>
                </a:solidFill>
                <a:latin typeface="Courier New"/>
              </a:rPr>
              <a:t>THE LEVY</a:t>
            </a:r>
          </a:p>
        </p:txBody>
      </p:sp>
      <p:sp>
        <p:nvSpPr>
          <p:cNvPr id="9" name="TextBox 8"/>
          <p:cNvSpPr txBox="1"/>
          <p:nvPr/>
        </p:nvSpPr>
        <p:spPr>
          <a:xfrm>
            <a:off x="2807208" y="1472184"/>
            <a:ext cx="8869680" cy="841248"/>
          </a:xfrm>
          <a:prstGeom prst="rect">
            <a:avLst/>
          </a:prstGeom>
          <a:noFill/>
        </p:spPr>
        <p:txBody>
          <a:bodyPr wrap="square" anchor="t" lIns="0" rIns="0" tIns="0" bIns="0">
            <a:spAutoFit/>
          </a:bodyPr>
          <a:lstStyle/>
          <a:p>
            <a:pPr algn="l">
              <a:lnSpc>
                <a:spcPct val="116000"/>
              </a:lnSpc>
            </a:pPr>
            <a:r>
              <a:rPr sz="980" b="0" i="0">
                <a:solidFill>
                  <a:srgbClr val="2A2A2A"/>
                </a:solidFill>
                <a:latin typeface="Arial"/>
              </a:rPr>
              <a:t>Districts collect a voter-approved, state-capped dollar amount, apportioned over taxable assessed value. Rate = levy ÷ base. Exemptions shrink the base; the rate rises; the district is whole. (OSC: “Every exemption granted on a property shifts the tax burden to the non-exempt properties.”)</a:t>
            </a:r>
          </a:p>
        </p:txBody>
      </p:sp>
      <p:sp>
        <p:nvSpPr>
          <p:cNvPr id="10" name="Rectangle 9"/>
          <p:cNvSpPr/>
          <p:nvPr/>
        </p:nvSpPr>
        <p:spPr>
          <a:xfrm>
            <a:off x="566928" y="2368296"/>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41448"/>
            <a:ext cx="2011680" cy="365760"/>
          </a:xfrm>
          <a:prstGeom prst="rect">
            <a:avLst/>
          </a:prstGeom>
          <a:noFill/>
        </p:spPr>
        <p:txBody>
          <a:bodyPr wrap="square" anchor="t" lIns="0" rIns="0" tIns="0" bIns="0">
            <a:spAutoFit/>
          </a:bodyPr>
          <a:lstStyle/>
          <a:p>
            <a:pPr algn="l"/>
            <a:r>
              <a:rPr sz="900" b="1" i="0" spc="160">
                <a:solidFill>
                  <a:srgbClr val="1E3A8A"/>
                </a:solidFill>
                <a:latin typeface="Courier New"/>
              </a:rPr>
              <a:t>STAR</a:t>
            </a:r>
          </a:p>
        </p:txBody>
      </p:sp>
      <p:sp>
        <p:nvSpPr>
          <p:cNvPr id="12" name="TextBox 11"/>
          <p:cNvSpPr txBox="1"/>
          <p:nvPr/>
        </p:nvSpPr>
        <p:spPr>
          <a:xfrm>
            <a:off x="2807208" y="2423160"/>
            <a:ext cx="8869680" cy="841248"/>
          </a:xfrm>
          <a:prstGeom prst="rect">
            <a:avLst/>
          </a:prstGeom>
          <a:noFill/>
        </p:spPr>
        <p:txBody>
          <a:bodyPr wrap="square" anchor="t" lIns="0" rIns="0" tIns="0" bIns="0">
            <a:spAutoFit/>
          </a:bodyPr>
          <a:lstStyle/>
          <a:p>
            <a:pPr algn="l">
              <a:lnSpc>
                <a:spcPct val="116000"/>
              </a:lnSpc>
            </a:pPr>
            <a:r>
              <a:rPr sz="980" b="0" i="0">
                <a:solidFill>
                  <a:srgbClr val="2A2A2A"/>
                </a:solidFill>
                <a:latin typeface="Arial"/>
              </a:rPr>
              <a:t>RPTL §1306-a makes STAR savings “a state charge” — districts are reimbursed in full. Post-2015 buyers receive a state-paid credit check instead. Enhanced→Basic deltas accrue to Albany: $3,147.01 → $1,089 in RVC (Class 1, 2025 final).</a:t>
            </a:r>
          </a:p>
        </p:txBody>
      </p:sp>
      <p:sp>
        <p:nvSpPr>
          <p:cNvPr id="13" name="Rectangle 12"/>
          <p:cNvSpPr/>
          <p:nvPr/>
        </p:nvSpPr>
        <p:spPr>
          <a:xfrm>
            <a:off x="566928" y="3319272"/>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392424"/>
            <a:ext cx="2011680" cy="365760"/>
          </a:xfrm>
          <a:prstGeom prst="rect">
            <a:avLst/>
          </a:prstGeom>
          <a:noFill/>
        </p:spPr>
        <p:txBody>
          <a:bodyPr wrap="square" anchor="t" lIns="0" rIns="0" tIns="0" bIns="0">
            <a:spAutoFit/>
          </a:bodyPr>
          <a:lstStyle/>
          <a:p>
            <a:pPr algn="l"/>
            <a:r>
              <a:rPr sz="900" b="1" i="0" spc="160">
                <a:solidFill>
                  <a:srgbClr val="1E3A8A"/>
                </a:solidFill>
                <a:latin typeface="Courier New"/>
              </a:rPr>
              <a:t>THE CAP</a:t>
            </a:r>
          </a:p>
        </p:txBody>
      </p:sp>
      <p:sp>
        <p:nvSpPr>
          <p:cNvPr id="15" name="TextBox 14"/>
          <p:cNvSpPr txBox="1"/>
          <p:nvPr/>
        </p:nvSpPr>
        <p:spPr>
          <a:xfrm>
            <a:off x="2807208" y="3374136"/>
            <a:ext cx="8869680" cy="841248"/>
          </a:xfrm>
          <a:prstGeom prst="rect">
            <a:avLst/>
          </a:prstGeom>
          <a:noFill/>
        </p:spPr>
        <p:txBody>
          <a:bodyPr wrap="square" anchor="t" lIns="0" rIns="0" tIns="0" bIns="0">
            <a:spAutoFit/>
          </a:bodyPr>
          <a:lstStyle/>
          <a:p>
            <a:pPr algn="l">
              <a:lnSpc>
                <a:spcPct val="116000"/>
              </a:lnSpc>
            </a:pPr>
            <a:r>
              <a:rPr sz="980" b="0" i="0">
                <a:solidFill>
                  <a:srgbClr val="2A2A2A"/>
                </a:solidFill>
                <a:latin typeface="Arial"/>
              </a:rPr>
              <a:t>Allowable levy = prior levy × tax-base growth factor (physical/quantity change only — construction and renovations, never price appreciation) × min(2%, CPI) + exclusions. Turnover-driven construction is the one lawful district-revenue channel.</a:t>
            </a:r>
          </a:p>
        </p:txBody>
      </p:sp>
      <p:sp>
        <p:nvSpPr>
          <p:cNvPr id="16" name="Rectangle 15"/>
          <p:cNvSpPr/>
          <p:nvPr/>
        </p:nvSpPr>
        <p:spPr>
          <a:xfrm>
            <a:off x="566928" y="4270248"/>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343400"/>
            <a:ext cx="2011680" cy="365760"/>
          </a:xfrm>
          <a:prstGeom prst="rect">
            <a:avLst/>
          </a:prstGeom>
          <a:noFill/>
        </p:spPr>
        <p:txBody>
          <a:bodyPr wrap="square" anchor="t" lIns="0" rIns="0" tIns="0" bIns="0">
            <a:spAutoFit/>
          </a:bodyPr>
          <a:lstStyle/>
          <a:p>
            <a:pPr algn="l"/>
            <a:r>
              <a:rPr sz="900" b="1" i="0" spc="160">
                <a:solidFill>
                  <a:srgbClr val="1E3A8A"/>
                </a:solidFill>
                <a:latin typeface="Courier New"/>
              </a:rPr>
              <a:t>ASSESSMENT</a:t>
            </a:r>
          </a:p>
        </p:txBody>
      </p:sp>
      <p:sp>
        <p:nvSpPr>
          <p:cNvPr id="18" name="TextBox 17"/>
          <p:cNvSpPr txBox="1"/>
          <p:nvPr/>
        </p:nvSpPr>
        <p:spPr>
          <a:xfrm>
            <a:off x="2807208" y="4325112"/>
            <a:ext cx="8869680" cy="841248"/>
          </a:xfrm>
          <a:prstGeom prst="rect">
            <a:avLst/>
          </a:prstGeom>
          <a:noFill/>
        </p:spPr>
        <p:txBody>
          <a:bodyPr wrap="square" anchor="t" lIns="0" rIns="0" tIns="0" bIns="0">
            <a:spAutoFit/>
          </a:bodyPr>
          <a:lstStyle/>
          <a:p>
            <a:pPr algn="l">
              <a:lnSpc>
                <a:spcPct val="116000"/>
              </a:lnSpc>
            </a:pPr>
            <a:r>
              <a:rPr sz="980" b="0" i="0">
                <a:solidFill>
                  <a:srgbClr val="2A2A2A"/>
                </a:solidFill>
                <a:latin typeface="Arial"/>
              </a:rPr>
              <a:t>Nassau Class 1 LOA = 0.1%; the roll is frozen for a sixth consecutive year (2026-27 tentative). Sales do NOT trigger reassessment — NY has no acquisition-value system (RPTL §305).</a:t>
            </a:r>
          </a:p>
        </p:txBody>
      </p:sp>
      <p:sp>
        <p:nvSpPr>
          <p:cNvPr id="19" name="Rectangle 18"/>
          <p:cNvSpPr/>
          <p:nvPr/>
        </p:nvSpPr>
        <p:spPr>
          <a:xfrm>
            <a:off x="566928" y="5221224"/>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5294376"/>
            <a:ext cx="2011680" cy="365760"/>
          </a:xfrm>
          <a:prstGeom prst="rect">
            <a:avLst/>
          </a:prstGeom>
          <a:noFill/>
        </p:spPr>
        <p:txBody>
          <a:bodyPr wrap="square" anchor="t" lIns="0" rIns="0" tIns="0" bIns="0">
            <a:spAutoFit/>
          </a:bodyPr>
          <a:lstStyle/>
          <a:p>
            <a:pPr algn="l"/>
            <a:r>
              <a:rPr sz="900" b="1" i="0" spc="160">
                <a:solidFill>
                  <a:srgbClr val="1E3A8A"/>
                </a:solidFill>
                <a:latin typeface="Courier New"/>
              </a:rPr>
              <a:t>TRANSFER TAXES</a:t>
            </a:r>
          </a:p>
        </p:txBody>
      </p:sp>
      <p:sp>
        <p:nvSpPr>
          <p:cNvPr id="21" name="TextBox 20"/>
          <p:cNvSpPr txBox="1"/>
          <p:nvPr/>
        </p:nvSpPr>
        <p:spPr>
          <a:xfrm>
            <a:off x="2807208" y="5276088"/>
            <a:ext cx="8869680" cy="841248"/>
          </a:xfrm>
          <a:prstGeom prst="rect">
            <a:avLst/>
          </a:prstGeom>
          <a:noFill/>
        </p:spPr>
        <p:txBody>
          <a:bodyPr wrap="square" anchor="t" lIns="0" rIns="0" tIns="0" bIns="0">
            <a:spAutoFit/>
          </a:bodyPr>
          <a:lstStyle/>
          <a:p>
            <a:pPr algn="l">
              <a:lnSpc>
                <a:spcPct val="116000"/>
              </a:lnSpc>
            </a:pPr>
            <a:r>
              <a:rPr sz="980" b="0" i="0">
                <a:solidFill>
                  <a:srgbClr val="2A2A2A"/>
                </a:solidFill>
                <a:latin typeface="Arial"/>
              </a:rPr>
              <a:t>NYS: 0.4% seller-paid ($2/$500) + 1% buyer mansion tax ≥$1M — both state revenue. Nassau has no county transfer tax (its 1999 authorization expired Jan 31, 2001).</a:t>
            </a:r>
          </a:p>
        </p:txBody>
      </p:sp>
      <p:sp>
        <p:nvSpPr>
          <p:cNvPr id="22" name="Rectangle 21"/>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OSC EXEMPTION BRIEF · RPTL §1306-A · OSC TAX-CAP GLOSSARY · DTF TRANSFER-TAX PAGES</a:t>
            </a:r>
          </a:p>
        </p:txBody>
      </p:sp>
      <p:sp>
        <p:nvSpPr>
          <p:cNvPr id="24" name="TextBox 23"/>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Appendix</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21</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777240"/>
            <a:ext cx="10972800" cy="457200"/>
          </a:xfrm>
          <a:prstGeom prst="rect">
            <a:avLst/>
          </a:prstGeom>
          <a:noFill/>
        </p:spPr>
        <p:txBody>
          <a:bodyPr wrap="square" anchor="t" lIns="0" rIns="0" tIns="0" bIns="0">
            <a:spAutoFit/>
          </a:bodyPr>
          <a:lstStyle/>
          <a:p>
            <a:pPr algn="l"/>
            <a:r>
              <a:rPr sz="2300" b="1" i="0">
                <a:solidFill>
                  <a:srgbClr val="0E1116"/>
                </a:solidFill>
                <a:latin typeface="Georgia"/>
              </a:rPr>
              <a:t>The §467 sliding scale — Nassau County (county · town · school)</a:t>
            </a:r>
          </a:p>
        </p:txBody>
      </p:sp>
      <p:graphicFrame>
        <p:nvGraphicFramePr>
          <p:cNvPr id="7" name="Table 6"/>
          <p:cNvGraphicFramePr>
            <a:graphicFrameLocks noGrp="1"/>
          </p:cNvGraphicFramePr>
          <p:nvPr/>
        </p:nvGraphicFramePr>
        <p:xfrm>
          <a:off x="566928" y="1371600"/>
          <a:ext cx="5760720" cy="3840480"/>
        </p:xfrm>
        <a:graphic>
          <a:graphicData uri="http://schemas.openxmlformats.org/drawingml/2006/table">
            <a:tbl>
              <a:tblPr firstRow="1" bandRow="1">
                <a:tableStyleId>{5C22544A-7EE6-4342-B048-85BDC9FD1C3A}</a:tableStyleId>
              </a:tblPr>
              <a:tblGrid>
                <a:gridCol w="2743200"/>
                <a:gridCol w="3017520"/>
              </a:tblGrid>
              <a:tr h="384048">
                <a:tc>
                  <a:txBody>
                    <a:bodyPr/>
                    <a:lstStyle/>
                    <a:p>
                      <a:r>
                        <a:rPr sz="800" b="1">
                          <a:solidFill>
                            <a:srgbClr val="F1ECE2"/>
                          </a:solidFill>
                          <a:latin typeface="Courier New"/>
                        </a:rPr>
                        <a:t>2025 INCOME</a:t>
                      </a:r>
                    </a:p>
                  </a:txBody>
                  <a:tcPr marL="54864" marR="54864" marT="18288" marB="18288">
                    <a:solidFill>
                      <a:srgbClr val="0E1116"/>
                    </a:solidFill>
                  </a:tcPr>
                </a:tc>
                <a:tc>
                  <a:txBody>
                    <a:bodyPr/>
                    <a:lstStyle/>
                    <a:p>
                      <a:r>
                        <a:rPr sz="800" b="1">
                          <a:solidFill>
                            <a:srgbClr val="F1ECE2"/>
                          </a:solidFill>
                          <a:latin typeface="Courier New"/>
                        </a:rPr>
                        <a:t>EXEMPTION</a:t>
                      </a:r>
                    </a:p>
                  </a:txBody>
                  <a:tcPr marL="54864" marR="54864" marT="18288" marB="18288">
                    <a:solidFill>
                      <a:srgbClr val="0E1116"/>
                    </a:solidFill>
                  </a:tcPr>
                </a:tc>
              </a:tr>
              <a:tr h="384048">
                <a:tc>
                  <a:txBody>
                    <a:bodyPr wrap="square"/>
                    <a:lstStyle/>
                    <a:p>
                      <a:r>
                        <a:rPr sz="950">
                          <a:solidFill>
                            <a:srgbClr val="2A2A2A"/>
                          </a:solidFill>
                          <a:latin typeface="Arial"/>
                        </a:rPr>
                        <a:t>≤ $47,000</a:t>
                      </a:r>
                    </a:p>
                  </a:txBody>
                  <a:tcPr marL="54864" marR="54864" marT="18288" marB="18288">
                    <a:solidFill>
                      <a:srgbClr val="FAF6EC"/>
                    </a:solidFill>
                  </a:tcPr>
                </a:tc>
                <a:tc>
                  <a:txBody>
                    <a:bodyPr wrap="square"/>
                    <a:lstStyle/>
                    <a:p>
                      <a:r>
                        <a:rPr sz="950">
                          <a:solidFill>
                            <a:srgbClr val="2A2A2A"/>
                          </a:solidFill>
                          <a:latin typeface="Arial"/>
                        </a:rPr>
                        <a:t>65%  (new — Ch. 581 of 2025)</a:t>
                      </a:r>
                    </a:p>
                  </a:txBody>
                  <a:tcPr marL="54864" marR="54864" marT="18288" marB="18288">
                    <a:solidFill>
                      <a:srgbClr val="FAF6EC"/>
                    </a:solidFill>
                  </a:tcPr>
                </a:tc>
              </a:tr>
              <a:tr h="384048">
                <a:tc>
                  <a:txBody>
                    <a:bodyPr wrap="square"/>
                    <a:lstStyle/>
                    <a:p>
                      <a:r>
                        <a:rPr sz="950">
                          <a:solidFill>
                            <a:srgbClr val="2A2A2A"/>
                          </a:solidFill>
                          <a:latin typeface="Arial"/>
                        </a:rPr>
                        <a:t>$47,001 – $47,999</a:t>
                      </a:r>
                    </a:p>
                  </a:txBody>
                  <a:tcPr marL="54864" marR="54864" marT="18288" marB="18288">
                    <a:solidFill>
                      <a:srgbClr val="F1ECE2"/>
                    </a:solidFill>
                  </a:tcPr>
                </a:tc>
                <a:tc>
                  <a:txBody>
                    <a:bodyPr wrap="square"/>
                    <a:lstStyle/>
                    <a:p>
                      <a:r>
                        <a:rPr sz="950">
                          <a:solidFill>
                            <a:srgbClr val="2A2A2A"/>
                          </a:solidFill>
                          <a:latin typeface="Arial"/>
                        </a:rPr>
                        <a:t>60%</a:t>
                      </a:r>
                    </a:p>
                  </a:txBody>
                  <a:tcPr marL="54864" marR="54864" marT="18288" marB="18288">
                    <a:solidFill>
                      <a:srgbClr val="F1ECE2"/>
                    </a:solidFill>
                  </a:tcPr>
                </a:tc>
              </a:tr>
              <a:tr h="384048">
                <a:tc>
                  <a:txBody>
                    <a:bodyPr wrap="square"/>
                    <a:lstStyle/>
                    <a:p>
                      <a:r>
                        <a:rPr sz="950">
                          <a:solidFill>
                            <a:srgbClr val="2A2A2A"/>
                          </a:solidFill>
                          <a:latin typeface="Arial"/>
                        </a:rPr>
                        <a:t>$48,000 – $48,999</a:t>
                      </a:r>
                    </a:p>
                  </a:txBody>
                  <a:tcPr marL="54864" marR="54864" marT="18288" marB="18288">
                    <a:solidFill>
                      <a:srgbClr val="FAF6EC"/>
                    </a:solidFill>
                  </a:tcPr>
                </a:tc>
                <a:tc>
                  <a:txBody>
                    <a:bodyPr wrap="square"/>
                    <a:lstStyle/>
                    <a:p>
                      <a:r>
                        <a:rPr sz="950">
                          <a:solidFill>
                            <a:srgbClr val="2A2A2A"/>
                          </a:solidFill>
                          <a:latin typeface="Arial"/>
                        </a:rPr>
                        <a:t>55%</a:t>
                      </a:r>
                    </a:p>
                  </a:txBody>
                  <a:tcPr marL="54864" marR="54864" marT="18288" marB="18288">
                    <a:solidFill>
                      <a:srgbClr val="FAF6EC"/>
                    </a:solidFill>
                  </a:tcPr>
                </a:tc>
              </a:tr>
              <a:tr h="384048">
                <a:tc>
                  <a:txBody>
                    <a:bodyPr wrap="square"/>
                    <a:lstStyle/>
                    <a:p>
                      <a:r>
                        <a:rPr sz="950">
                          <a:solidFill>
                            <a:srgbClr val="2A2A2A"/>
                          </a:solidFill>
                          <a:latin typeface="Arial"/>
                        </a:rPr>
                        <a:t>$49,000 – $50,000</a:t>
                      </a:r>
                    </a:p>
                  </a:txBody>
                  <a:tcPr marL="54864" marR="54864" marT="18288" marB="18288">
                    <a:solidFill>
                      <a:srgbClr val="F1ECE2"/>
                    </a:solidFill>
                  </a:tcPr>
                </a:tc>
                <a:tc>
                  <a:txBody>
                    <a:bodyPr wrap="square"/>
                    <a:lstStyle/>
                    <a:p>
                      <a:r>
                        <a:rPr sz="950">
                          <a:solidFill>
                            <a:srgbClr val="2A2A2A"/>
                          </a:solidFill>
                          <a:latin typeface="Arial"/>
                        </a:rPr>
                        <a:t>50%  (statutory base max)</a:t>
                      </a:r>
                    </a:p>
                  </a:txBody>
                  <a:tcPr marL="54864" marR="54864" marT="18288" marB="18288">
                    <a:solidFill>
                      <a:srgbClr val="F1ECE2"/>
                    </a:solidFill>
                  </a:tcPr>
                </a:tc>
              </a:tr>
              <a:tr h="384048">
                <a:tc>
                  <a:txBody>
                    <a:bodyPr wrap="square"/>
                    <a:lstStyle/>
                    <a:p>
                      <a:r>
                        <a:rPr sz="950">
                          <a:solidFill>
                            <a:srgbClr val="2A2A2A"/>
                          </a:solidFill>
                          <a:latin typeface="Arial"/>
                        </a:rPr>
                        <a:t>$50,001 – $52,999</a:t>
                      </a:r>
                    </a:p>
                  </a:txBody>
                  <a:tcPr marL="54864" marR="54864" marT="18288" marB="18288">
                    <a:solidFill>
                      <a:srgbClr val="FAF6EC"/>
                    </a:solidFill>
                  </a:tcPr>
                </a:tc>
                <a:tc>
                  <a:txBody>
                    <a:bodyPr wrap="square"/>
                    <a:lstStyle/>
                    <a:p>
                      <a:r>
                        <a:rPr sz="950">
                          <a:solidFill>
                            <a:srgbClr val="2A2A2A"/>
                          </a:solidFill>
                          <a:latin typeface="Arial"/>
                        </a:rPr>
                        <a:t>45% / 40% / 35%</a:t>
                      </a:r>
                    </a:p>
                  </a:txBody>
                  <a:tcPr marL="54864" marR="54864" marT="18288" marB="18288">
                    <a:solidFill>
                      <a:srgbClr val="FAF6EC"/>
                    </a:solidFill>
                  </a:tcPr>
                </a:tc>
              </a:tr>
              <a:tr h="384048">
                <a:tc>
                  <a:txBody>
                    <a:bodyPr wrap="square"/>
                    <a:lstStyle/>
                    <a:p>
                      <a:r>
                        <a:rPr sz="950">
                          <a:solidFill>
                            <a:srgbClr val="2A2A2A"/>
                          </a:solidFill>
                          <a:latin typeface="Arial"/>
                        </a:rPr>
                        <a:t>$53,000 – $55,699</a:t>
                      </a:r>
                    </a:p>
                  </a:txBody>
                  <a:tcPr marL="54864" marR="54864" marT="18288" marB="18288">
                    <a:solidFill>
                      <a:srgbClr val="F1ECE2"/>
                    </a:solidFill>
                  </a:tcPr>
                </a:tc>
                <a:tc>
                  <a:txBody>
                    <a:bodyPr wrap="square"/>
                    <a:lstStyle/>
                    <a:p>
                      <a:r>
                        <a:rPr sz="950">
                          <a:solidFill>
                            <a:srgbClr val="2A2A2A"/>
                          </a:solidFill>
                          <a:latin typeface="Arial"/>
                        </a:rPr>
                        <a:t>30% / 25% / 20%</a:t>
                      </a:r>
                    </a:p>
                  </a:txBody>
                  <a:tcPr marL="54864" marR="54864" marT="18288" marB="18288">
                    <a:solidFill>
                      <a:srgbClr val="F1ECE2"/>
                    </a:solidFill>
                  </a:tcPr>
                </a:tc>
              </a:tr>
              <a:tr h="384048">
                <a:tc>
                  <a:txBody>
                    <a:bodyPr wrap="square"/>
                    <a:lstStyle/>
                    <a:p>
                      <a:r>
                        <a:rPr sz="950">
                          <a:solidFill>
                            <a:srgbClr val="2A2A2A"/>
                          </a:solidFill>
                          <a:latin typeface="Arial"/>
                        </a:rPr>
                        <a:t>$55,700 – $57,499</a:t>
                      </a:r>
                    </a:p>
                  </a:txBody>
                  <a:tcPr marL="54864" marR="54864" marT="18288" marB="18288">
                    <a:solidFill>
                      <a:srgbClr val="FAF6EC"/>
                    </a:solidFill>
                  </a:tcPr>
                </a:tc>
                <a:tc>
                  <a:txBody>
                    <a:bodyPr wrap="square"/>
                    <a:lstStyle/>
                    <a:p>
                      <a:r>
                        <a:rPr sz="950">
                          <a:solidFill>
                            <a:srgbClr val="2A2A2A"/>
                          </a:solidFill>
                          <a:latin typeface="Arial"/>
                        </a:rPr>
                        <a:t>15% / 10%</a:t>
                      </a:r>
                    </a:p>
                  </a:txBody>
                  <a:tcPr marL="54864" marR="54864" marT="18288" marB="18288">
                    <a:solidFill>
                      <a:srgbClr val="FAF6EC"/>
                    </a:solidFill>
                  </a:tcPr>
                </a:tc>
              </a:tr>
              <a:tr h="384048">
                <a:tc>
                  <a:txBody>
                    <a:bodyPr wrap="square"/>
                    <a:lstStyle/>
                    <a:p>
                      <a:r>
                        <a:rPr sz="950">
                          <a:solidFill>
                            <a:srgbClr val="2A2A2A"/>
                          </a:solidFill>
                          <a:latin typeface="Arial"/>
                        </a:rPr>
                        <a:t>$57,500 – $58,399</a:t>
                      </a:r>
                    </a:p>
                  </a:txBody>
                  <a:tcPr marL="54864" marR="54864" marT="18288" marB="18288">
                    <a:solidFill>
                      <a:srgbClr val="F1ECE2"/>
                    </a:solidFill>
                  </a:tcPr>
                </a:tc>
                <a:tc>
                  <a:txBody>
                    <a:bodyPr wrap="square"/>
                    <a:lstStyle/>
                    <a:p>
                      <a:r>
                        <a:rPr sz="950">
                          <a:solidFill>
                            <a:srgbClr val="2A2A2A"/>
                          </a:solidFill>
                          <a:latin typeface="Arial"/>
                        </a:rPr>
                        <a:t>5%  (floor tier — the ceiling for ANY exemption)</a:t>
                      </a:r>
                    </a:p>
                  </a:txBody>
                  <a:tcPr marL="54864" marR="54864" marT="18288" marB="18288">
                    <a:solidFill>
                      <a:srgbClr val="F1ECE2"/>
                    </a:solidFill>
                  </a:tcPr>
                </a:tc>
              </a:tr>
              <a:tr h="384048">
                <a:tc>
                  <a:txBody>
                    <a:bodyPr wrap="square"/>
                    <a:lstStyle/>
                    <a:p>
                      <a:r>
                        <a:rPr sz="950">
                          <a:solidFill>
                            <a:srgbClr val="2A2A2A"/>
                          </a:solidFill>
                          <a:latin typeface="Arial"/>
                        </a:rPr>
                        <a:t>&gt; $58,399</a:t>
                      </a:r>
                    </a:p>
                  </a:txBody>
                  <a:tcPr marL="54864" marR="54864" marT="18288" marB="18288">
                    <a:solidFill>
                      <a:srgbClr val="FAF6EC"/>
                    </a:solidFill>
                  </a:tcPr>
                </a:tc>
                <a:tc>
                  <a:txBody>
                    <a:bodyPr wrap="square"/>
                    <a:lstStyle/>
                    <a:p>
                      <a:r>
                        <a:rPr sz="950">
                          <a:solidFill>
                            <a:srgbClr val="2A2A2A"/>
                          </a:solidFill>
                          <a:latin typeface="Arial"/>
                        </a:rPr>
                        <a:t>0%</a:t>
                      </a:r>
                    </a:p>
                  </a:txBody>
                  <a:tcPr marL="54864" marR="54864" marT="18288" marB="18288">
                    <a:solidFill>
                      <a:srgbClr val="FAF6EC"/>
                    </a:solidFill>
                  </a:tcPr>
                </a:tc>
              </a:tr>
            </a:tbl>
          </a:graphicData>
        </a:graphic>
      </p:graphicFrame>
      <p:sp>
        <p:nvSpPr>
          <p:cNvPr id="8" name="TextBox 7"/>
          <p:cNvSpPr txBox="1"/>
          <p:nvPr/>
        </p:nvSpPr>
        <p:spPr>
          <a:xfrm>
            <a:off x="6876288" y="1417320"/>
            <a:ext cx="5029200" cy="4206240"/>
          </a:xfrm>
          <a:prstGeom prst="rect">
            <a:avLst/>
          </a:prstGeom>
          <a:noFill/>
        </p:spPr>
        <p:txBody>
          <a:bodyPr wrap="square" anchor="t" lIns="0" rIns="0" tIns="0" bIns="0">
            <a:spAutoFit/>
          </a:bodyPr>
          <a:lstStyle/>
          <a:p>
            <a:pPr algn="l">
              <a:lnSpc>
                <a:spcPct val="120000"/>
              </a:lnSpc>
            </a:pPr>
            <a:r>
              <a:rPr sz="1400" b="1" i="0">
                <a:solidFill>
                  <a:srgbClr val="0E1116"/>
                </a:solidFill>
                <a:latin typeface="Georgia"/>
              </a:rPr>
              <a:t>Who this reaches in RVC</a:t>
            </a:r>
          </a:p>
          <a:p>
            <a:pPr algn="l">
              <a:lnSpc>
                <a:spcPct val="120000"/>
              </a:lnSpc>
            </a:pPr>
            <a:r>
              <a:rPr sz="1050" b="0" i="0">
                <a:solidFill>
                  <a:srgbClr val="2A2A2A"/>
                </a:solidFill>
                <a:latin typeface="Arial"/>
              </a:rPr>
              <a:t>The income ceiling sits well below the village's 65+ median household income (~$80K, ACS B19049) — the eligible pool is real but a minority of the 2,076 senior-owned homes. The exact count, by tier, is the county data ask.</a:t>
            </a:r>
          </a:p>
          <a:p>
            <a:pPr algn="l">
              <a:lnSpc>
                <a:spcPct val="120000"/>
              </a:lnSpc>
            </a:pPr>
            <a:r>
              <a:rPr sz="600" b="0" i="0">
                <a:solidFill>
                  <a:srgbClr val="2A2A2A"/>
                </a:solidFill>
                <a:latin typeface="Arial"/>
              </a:rPr>
              <a:t/>
            </a:r>
          </a:p>
          <a:p>
            <a:pPr algn="l">
              <a:lnSpc>
                <a:spcPct val="120000"/>
              </a:lnSpc>
            </a:pPr>
            <a:r>
              <a:rPr sz="1400" b="1" i="0">
                <a:solidFill>
                  <a:srgbClr val="0E1116"/>
                </a:solidFill>
                <a:latin typeface="Georgia"/>
              </a:rPr>
              <a:t>Coming: $75,000 income cap</a:t>
            </a:r>
          </a:p>
          <a:p>
            <a:pPr algn="l">
              <a:lnSpc>
                <a:spcPct val="120000"/>
              </a:lnSpc>
            </a:pPr>
            <a:r>
              <a:rPr sz="1050" b="0" i="0">
                <a:solidFill>
                  <a:srgbClr val="2A2A2A"/>
                </a:solidFill>
                <a:latin typeface="Arial"/>
              </a:rPr>
              <a:t>Effective July 1, 2027 (separate 2025 legislation; local opt-in). Combined with the 65% tier, the eligible pool and the burden shift both grow — which is why the data ask precedes any local opt-in vote.</a:t>
            </a:r>
          </a:p>
          <a:p>
            <a:pPr algn="l">
              <a:lnSpc>
                <a:spcPct val="120000"/>
              </a:lnSpc>
            </a:pPr>
            <a:r>
              <a:rPr sz="600" b="0" i="0">
                <a:solidFill>
                  <a:srgbClr val="2A2A2A"/>
                </a:solidFill>
                <a:latin typeface="Arial"/>
              </a:rPr>
              <a:t/>
            </a:r>
          </a:p>
          <a:p>
            <a:pPr algn="l">
              <a:lnSpc>
                <a:spcPct val="120000"/>
              </a:lnSpc>
            </a:pPr>
            <a:r>
              <a:rPr sz="1400" b="1" i="0">
                <a:solidFill>
                  <a:srgbClr val="0E1116"/>
                </a:solidFill>
                <a:latin typeface="Georgia"/>
              </a:rPr>
              <a:t>Open item</a:t>
            </a:r>
          </a:p>
          <a:p>
            <a:pPr algn="l">
              <a:lnSpc>
                <a:spcPct val="120000"/>
              </a:lnSpc>
            </a:pPr>
            <a:r>
              <a:rPr sz="1050" b="0" i="0">
                <a:solidFill>
                  <a:srgbClr val="2A2A2A"/>
                </a:solidFill>
                <a:latin typeface="Arial"/>
              </a:rPr>
              <a:t>RVC UFSD's own adopting resolution and current ceiling — county materials say all Nassau districts participate; confirming with the district clerk (FOIL drafted).</a:t>
            </a:r>
          </a:p>
        </p:txBody>
      </p:sp>
      <p:sp>
        <p:nvSpPr>
          <p:cNvPr id="9" name="Rectangle 8"/>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NASSAU DEPT. OF ASSESSMENT BROCHURE REV. 3-26 · DTF SENIOR-EXEMPTION PAGES · DTF 2025 LEG. SUMMARY</a:t>
            </a:r>
          </a:p>
        </p:txBody>
      </p:sp>
      <p:sp>
        <p:nvSpPr>
          <p:cNvPr id="11" name="TextBox 10"/>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Appendix</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22</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777240"/>
            <a:ext cx="10972800" cy="457200"/>
          </a:xfrm>
          <a:prstGeom prst="rect">
            <a:avLst/>
          </a:prstGeom>
          <a:noFill/>
        </p:spPr>
        <p:txBody>
          <a:bodyPr wrap="square" anchor="t" lIns="0" rIns="0" tIns="0" bIns="0">
            <a:spAutoFit/>
          </a:bodyPr>
          <a:lstStyle/>
          <a:p>
            <a:pPr algn="l"/>
            <a:r>
              <a:rPr sz="2300" b="1" i="0">
                <a:solidFill>
                  <a:srgbClr val="0E1116"/>
                </a:solidFill>
                <a:latin typeface="Georgia"/>
              </a:rPr>
              <a:t>Deferral precedents — the model for a NY enabling act</a:t>
            </a:r>
          </a:p>
        </p:txBody>
      </p:sp>
      <p:graphicFrame>
        <p:nvGraphicFramePr>
          <p:cNvPr id="7" name="Table 6"/>
          <p:cNvGraphicFramePr>
            <a:graphicFrameLocks noGrp="1"/>
          </p:cNvGraphicFramePr>
          <p:nvPr/>
        </p:nvGraphicFramePr>
        <p:xfrm>
          <a:off x="566928" y="1371600"/>
          <a:ext cx="11064240" cy="2852928"/>
        </p:xfrm>
        <a:graphic>
          <a:graphicData uri="http://schemas.openxmlformats.org/drawingml/2006/table">
            <a:tbl>
              <a:tblPr firstRow="1" bandRow="1">
                <a:tableStyleId>{5C22544A-7EE6-4342-B048-85BDC9FD1C3A}</a:tableStyleId>
              </a:tblPr>
              <a:tblGrid>
                <a:gridCol w="2011680"/>
                <a:gridCol w="2194560"/>
                <a:gridCol w="2011680"/>
                <a:gridCol w="4846320"/>
              </a:tblGrid>
              <a:tr h="475488">
                <a:tc>
                  <a:txBody>
                    <a:bodyPr/>
                    <a:lstStyle/>
                    <a:p>
                      <a:r>
                        <a:rPr sz="800" b="1">
                          <a:solidFill>
                            <a:srgbClr val="F1ECE2"/>
                          </a:solidFill>
                          <a:latin typeface="Courier New"/>
                        </a:rPr>
                        <a:t>PROGRAM</a:t>
                      </a:r>
                    </a:p>
                  </a:txBody>
                  <a:tcPr marL="54864" marR="54864" marT="18288" marB="18288">
                    <a:solidFill>
                      <a:srgbClr val="0E1116"/>
                    </a:solidFill>
                  </a:tcPr>
                </a:tc>
                <a:tc>
                  <a:txBody>
                    <a:bodyPr/>
                    <a:lstStyle/>
                    <a:p>
                      <a:r>
                        <a:rPr sz="800" b="1">
                          <a:solidFill>
                            <a:srgbClr val="F1ECE2"/>
                          </a:solidFill>
                          <a:latin typeface="Courier New"/>
                        </a:rPr>
                        <a:t>INTEREST</a:t>
                      </a:r>
                    </a:p>
                  </a:txBody>
                  <a:tcPr marL="54864" marR="54864" marT="18288" marB="18288">
                    <a:solidFill>
                      <a:srgbClr val="0E1116"/>
                    </a:solidFill>
                  </a:tcPr>
                </a:tc>
                <a:tc>
                  <a:txBody>
                    <a:bodyPr/>
                    <a:lstStyle/>
                    <a:p>
                      <a:r>
                        <a:rPr sz="800" b="1">
                          <a:solidFill>
                            <a:srgbClr val="F1ECE2"/>
                          </a:solidFill>
                          <a:latin typeface="Courier New"/>
                        </a:rPr>
                        <a:t>REPAID</a:t>
                      </a:r>
                    </a:p>
                  </a:txBody>
                  <a:tcPr marL="54864" marR="54864" marT="18288" marB="18288">
                    <a:solidFill>
                      <a:srgbClr val="0E1116"/>
                    </a:solidFill>
                  </a:tcPr>
                </a:tc>
                <a:tc>
                  <a:txBody>
                    <a:bodyPr/>
                    <a:lstStyle/>
                    <a:p>
                      <a:r>
                        <a:rPr sz="800" b="1">
                          <a:solidFill>
                            <a:srgbClr val="F1ECE2"/>
                          </a:solidFill>
                          <a:latin typeface="Courier New"/>
                        </a:rPr>
                        <a:t>MECHANICS</a:t>
                      </a:r>
                    </a:p>
                  </a:txBody>
                  <a:tcPr marL="54864" marR="54864" marT="18288" marB="18288">
                    <a:solidFill>
                      <a:srgbClr val="0E1116"/>
                    </a:solidFill>
                  </a:tcPr>
                </a:tc>
              </a:tr>
              <a:tr h="475488">
                <a:tc>
                  <a:txBody>
                    <a:bodyPr wrap="square"/>
                    <a:lstStyle/>
                    <a:p>
                      <a:r>
                        <a:rPr sz="900">
                          <a:solidFill>
                            <a:srgbClr val="2A2A2A"/>
                          </a:solidFill>
                          <a:latin typeface="Arial"/>
                        </a:rPr>
                        <a:t>Oregon (ORS 311.666–701, since 1963)</a:t>
                      </a:r>
                    </a:p>
                  </a:txBody>
                  <a:tcPr marL="54864" marR="54864" marT="18288" marB="18288">
                    <a:solidFill>
                      <a:srgbClr val="FAF6EC"/>
                    </a:solidFill>
                  </a:tcPr>
                </a:tc>
                <a:tc>
                  <a:txBody>
                    <a:bodyPr wrap="square"/>
                    <a:lstStyle/>
                    <a:p>
                      <a:r>
                        <a:rPr sz="900">
                          <a:solidFill>
                            <a:srgbClr val="2A2A2A"/>
                          </a:solidFill>
                          <a:latin typeface="Arial"/>
                        </a:rPr>
                        <a:t>6% simple</a:t>
                      </a:r>
                    </a:p>
                  </a:txBody>
                  <a:tcPr marL="54864" marR="54864" marT="18288" marB="18288">
                    <a:solidFill>
                      <a:srgbClr val="FAF6EC"/>
                    </a:solidFill>
                  </a:tcPr>
                </a:tc>
                <a:tc>
                  <a:txBody>
                    <a:bodyPr wrap="square"/>
                    <a:lstStyle/>
                    <a:p>
                      <a:r>
                        <a:rPr sz="900">
                          <a:solidFill>
                            <a:srgbClr val="2A2A2A"/>
                          </a:solidFill>
                          <a:latin typeface="Arial"/>
                        </a:rPr>
                        <a:t>Sale / death / move</a:t>
                      </a:r>
                    </a:p>
                  </a:txBody>
                  <a:tcPr marL="54864" marR="54864" marT="18288" marB="18288">
                    <a:solidFill>
                      <a:srgbClr val="FAF6EC"/>
                    </a:solidFill>
                  </a:tcPr>
                </a:tc>
                <a:tc>
                  <a:txBody>
                    <a:bodyPr wrap="square"/>
                    <a:lstStyle/>
                    <a:p>
                      <a:r>
                        <a:rPr sz="900">
                          <a:solidFill>
                            <a:srgbClr val="2A2A2A"/>
                          </a:solidFill>
                          <a:latin typeface="Arial"/>
                        </a:rPr>
                        <a:t>State DOR pays the county each Nov 15; lien recorded; income cap ~$70K indexed; recertify every 2 years; self-financing</a:t>
                      </a:r>
                    </a:p>
                  </a:txBody>
                  <a:tcPr marL="54864" marR="54864" marT="18288" marB="18288">
                    <a:solidFill>
                      <a:srgbClr val="FAF6EC"/>
                    </a:solidFill>
                  </a:tcPr>
                </a:tc>
              </a:tr>
              <a:tr h="475488">
                <a:tc>
                  <a:txBody>
                    <a:bodyPr wrap="square"/>
                    <a:lstStyle/>
                    <a:p>
                      <a:r>
                        <a:rPr sz="900">
                          <a:solidFill>
                            <a:srgbClr val="2A2A2A"/>
                          </a:solidFill>
                          <a:latin typeface="Arial"/>
                        </a:rPr>
                        <a:t>Massachusetts (Cl. 41A)</a:t>
                      </a:r>
                    </a:p>
                  </a:txBody>
                  <a:tcPr marL="54864" marR="54864" marT="18288" marB="18288">
                    <a:solidFill>
                      <a:srgbClr val="F1ECE2"/>
                    </a:solidFill>
                  </a:tcPr>
                </a:tc>
                <a:tc>
                  <a:txBody>
                    <a:bodyPr wrap="square"/>
                    <a:lstStyle/>
                    <a:p>
                      <a:r>
                        <a:rPr sz="900">
                          <a:solidFill>
                            <a:srgbClr val="2A2A2A"/>
                          </a:solidFill>
                          <a:latin typeface="Arial"/>
                        </a:rPr>
                        <a:t>8% (local option lower)</a:t>
                      </a:r>
                    </a:p>
                  </a:txBody>
                  <a:tcPr marL="54864" marR="54864" marT="18288" marB="18288">
                    <a:solidFill>
                      <a:srgbClr val="F1ECE2"/>
                    </a:solidFill>
                  </a:tcPr>
                </a:tc>
                <a:tc>
                  <a:txBody>
                    <a:bodyPr wrap="square"/>
                    <a:lstStyle/>
                    <a:p>
                      <a:r>
                        <a:rPr sz="900">
                          <a:solidFill>
                            <a:srgbClr val="2A2A2A"/>
                          </a:solidFill>
                          <a:latin typeface="Arial"/>
                        </a:rPr>
                        <a:t>Sale / death</a:t>
                      </a:r>
                    </a:p>
                  </a:txBody>
                  <a:tcPr marL="54864" marR="54864" marT="18288" marB="18288">
                    <a:solidFill>
                      <a:srgbClr val="F1ECE2"/>
                    </a:solidFill>
                  </a:tcPr>
                </a:tc>
                <a:tc>
                  <a:txBody>
                    <a:bodyPr wrap="square"/>
                    <a:lstStyle/>
                    <a:p>
                      <a:r>
                        <a:rPr sz="900">
                          <a:solidFill>
                            <a:srgbClr val="2A2A2A"/>
                          </a:solidFill>
                          <a:latin typeface="Arial"/>
                        </a:rPr>
                        <a:t>65+; local income limit; deferral + interest capped at 50% of fair cash value; 16% post-death until paid</a:t>
                      </a:r>
                    </a:p>
                  </a:txBody>
                  <a:tcPr marL="54864" marR="54864" marT="18288" marB="18288">
                    <a:solidFill>
                      <a:srgbClr val="F1ECE2"/>
                    </a:solidFill>
                  </a:tcPr>
                </a:tc>
              </a:tr>
              <a:tr h="475488">
                <a:tc>
                  <a:txBody>
                    <a:bodyPr wrap="square"/>
                    <a:lstStyle/>
                    <a:p>
                      <a:r>
                        <a:rPr sz="900">
                          <a:solidFill>
                            <a:srgbClr val="2A2A2A"/>
                          </a:solidFill>
                          <a:latin typeface="Arial"/>
                        </a:rPr>
                        <a:t>Washington (RCW 84.38)</a:t>
                      </a:r>
                    </a:p>
                  </a:txBody>
                  <a:tcPr marL="54864" marR="54864" marT="18288" marB="18288">
                    <a:solidFill>
                      <a:srgbClr val="FAF6EC"/>
                    </a:solidFill>
                  </a:tcPr>
                </a:tc>
                <a:tc>
                  <a:txBody>
                    <a:bodyPr wrap="square"/>
                    <a:lstStyle/>
                    <a:p>
                      <a:r>
                        <a:rPr sz="900">
                          <a:solidFill>
                            <a:srgbClr val="2A2A2A"/>
                          </a:solidFill>
                          <a:latin typeface="Arial"/>
                        </a:rPr>
                        <a:t>5%</a:t>
                      </a:r>
                    </a:p>
                  </a:txBody>
                  <a:tcPr marL="54864" marR="54864" marT="18288" marB="18288">
                    <a:solidFill>
                      <a:srgbClr val="FAF6EC"/>
                    </a:solidFill>
                  </a:tcPr>
                </a:tc>
                <a:tc>
                  <a:txBody>
                    <a:bodyPr wrap="square"/>
                    <a:lstStyle/>
                    <a:p>
                      <a:r>
                        <a:rPr sz="900">
                          <a:solidFill>
                            <a:srgbClr val="2A2A2A"/>
                          </a:solidFill>
                          <a:latin typeface="Arial"/>
                        </a:rPr>
                        <a:t>Sale / death</a:t>
                      </a:r>
                    </a:p>
                  </a:txBody>
                  <a:tcPr marL="54864" marR="54864" marT="18288" marB="18288">
                    <a:solidFill>
                      <a:srgbClr val="FAF6EC"/>
                    </a:solidFill>
                  </a:tcPr>
                </a:tc>
                <a:tc>
                  <a:txBody>
                    <a:bodyPr wrap="square"/>
                    <a:lstStyle/>
                    <a:p>
                      <a:r>
                        <a:rPr sz="900">
                          <a:solidFill>
                            <a:srgbClr val="2A2A2A"/>
                          </a:solidFill>
                          <a:latin typeface="Arial"/>
                        </a:rPr>
                        <a:t>61+/disabled; income threshold indexed to county median; deferral capped at 80% of equity</a:t>
                      </a:r>
                    </a:p>
                  </a:txBody>
                  <a:tcPr marL="54864" marR="54864" marT="18288" marB="18288">
                    <a:solidFill>
                      <a:srgbClr val="FAF6EC"/>
                    </a:solidFill>
                  </a:tcPr>
                </a:tc>
              </a:tr>
              <a:tr h="475488">
                <a:tc>
                  <a:txBody>
                    <a:bodyPr wrap="square"/>
                    <a:lstStyle/>
                    <a:p>
                      <a:r>
                        <a:rPr sz="900">
                          <a:solidFill>
                            <a:srgbClr val="2A2A2A"/>
                          </a:solidFill>
                          <a:latin typeface="Arial"/>
                        </a:rPr>
                        <a:t>Texas (Tax Code §33.06)</a:t>
                      </a:r>
                    </a:p>
                  </a:txBody>
                  <a:tcPr marL="54864" marR="54864" marT="18288" marB="18288">
                    <a:solidFill>
                      <a:srgbClr val="F1ECE2"/>
                    </a:solidFill>
                  </a:tcPr>
                </a:tc>
                <a:tc>
                  <a:txBody>
                    <a:bodyPr wrap="square"/>
                    <a:lstStyle/>
                    <a:p>
                      <a:r>
                        <a:rPr sz="900">
                          <a:solidFill>
                            <a:srgbClr val="2A2A2A"/>
                          </a:solidFill>
                          <a:latin typeface="Arial"/>
                        </a:rPr>
                        <a:t>5%</a:t>
                      </a:r>
                    </a:p>
                  </a:txBody>
                  <a:tcPr marL="54864" marR="54864" marT="18288" marB="18288">
                    <a:solidFill>
                      <a:srgbClr val="F1ECE2"/>
                    </a:solidFill>
                  </a:tcPr>
                </a:tc>
                <a:tc>
                  <a:txBody>
                    <a:bodyPr wrap="square"/>
                    <a:lstStyle/>
                    <a:p>
                      <a:r>
                        <a:rPr sz="900">
                          <a:solidFill>
                            <a:srgbClr val="2A2A2A"/>
                          </a:solidFill>
                          <a:latin typeface="Arial"/>
                        </a:rPr>
                        <a:t>Sale / estate</a:t>
                      </a:r>
                    </a:p>
                  </a:txBody>
                  <a:tcPr marL="54864" marR="54864" marT="18288" marB="18288">
                    <a:solidFill>
                      <a:srgbClr val="F1ECE2"/>
                    </a:solidFill>
                  </a:tcPr>
                </a:tc>
                <a:tc>
                  <a:txBody>
                    <a:bodyPr wrap="square"/>
                    <a:lstStyle/>
                    <a:p>
                      <a:r>
                        <a:rPr sz="900">
                          <a:solidFill>
                            <a:srgbClr val="2A2A2A"/>
                          </a:solidFill>
                          <a:latin typeface="Arial"/>
                        </a:rPr>
                        <a:t>65+/disabled; tax collection simply defers; widely used, simple affidavit</a:t>
                      </a:r>
                    </a:p>
                  </a:txBody>
                  <a:tcPr marL="54864" marR="54864" marT="18288" marB="18288">
                    <a:solidFill>
                      <a:srgbClr val="F1ECE2"/>
                    </a:solidFill>
                  </a:tcPr>
                </a:tc>
              </a:tr>
              <a:tr h="475488">
                <a:tc>
                  <a:txBody>
                    <a:bodyPr wrap="square"/>
                    <a:lstStyle/>
                    <a:p>
                      <a:r>
                        <a:rPr sz="900">
                          <a:solidFill>
                            <a:srgbClr val="2A2A2A"/>
                          </a:solidFill>
                          <a:latin typeface="Arial"/>
                        </a:rPr>
                        <a:t>Proposed: New York</a:t>
                      </a:r>
                    </a:p>
                  </a:txBody>
                  <a:tcPr marL="54864" marR="54864" marT="18288" marB="18288">
                    <a:solidFill>
                      <a:srgbClr val="FAF6EC"/>
                    </a:solidFill>
                  </a:tcPr>
                </a:tc>
                <a:tc>
                  <a:txBody>
                    <a:bodyPr wrap="square"/>
                    <a:lstStyle/>
                    <a:p>
                      <a:r>
                        <a:rPr sz="900">
                          <a:solidFill>
                            <a:srgbClr val="2A2A2A"/>
                          </a:solidFill>
                          <a:latin typeface="Arial"/>
                        </a:rPr>
                        <a:t>OSC-set</a:t>
                      </a:r>
                    </a:p>
                  </a:txBody>
                  <a:tcPr marL="54864" marR="54864" marT="18288" marB="18288">
                    <a:solidFill>
                      <a:srgbClr val="FAF6EC"/>
                    </a:solidFill>
                  </a:tcPr>
                </a:tc>
                <a:tc>
                  <a:txBody>
                    <a:bodyPr wrap="square"/>
                    <a:lstStyle/>
                    <a:p>
                      <a:r>
                        <a:rPr sz="900">
                          <a:solidFill>
                            <a:srgbClr val="2A2A2A"/>
                          </a:solidFill>
                          <a:latin typeface="Arial"/>
                        </a:rPr>
                        <a:t>At sale</a:t>
                      </a:r>
                    </a:p>
                  </a:txBody>
                  <a:tcPr marL="54864" marR="54864" marT="18288" marB="18288">
                    <a:solidFill>
                      <a:srgbClr val="FAF6EC"/>
                    </a:solidFill>
                  </a:tcPr>
                </a:tc>
                <a:tc>
                  <a:txBody>
                    <a:bodyPr wrap="square"/>
                    <a:lstStyle/>
                    <a:p>
                      <a:r>
                        <a:rPr sz="900">
                          <a:solidFill>
                            <a:srgbClr val="2A2A2A"/>
                          </a:solidFill>
                          <a:latin typeface="Arial"/>
                        </a:rPr>
                        <a:t>District opt-in for the school-tax share; lien accrues; the levy is made whole — the cash-flow lock (slide 8, Lock 03) disappears at zero long-run cost</a:t>
                      </a:r>
                    </a:p>
                  </a:txBody>
                  <a:tcPr marL="54864" marR="54864" marT="18288" marB="18288">
                    <a:solidFill>
                      <a:srgbClr val="FAF6EC"/>
                    </a:solidFill>
                  </a:tcPr>
                </a:tc>
              </a:tr>
            </a:tbl>
          </a:graphicData>
        </a:graphic>
      </p:graphicFrame>
      <p:sp>
        <p:nvSpPr>
          <p:cNvPr id="8" name="TextBox 7"/>
          <p:cNvSpPr txBox="1"/>
          <p:nvPr/>
        </p:nvSpPr>
        <p:spPr>
          <a:xfrm>
            <a:off x="566928" y="4434840"/>
            <a:ext cx="10789920" cy="731520"/>
          </a:xfrm>
          <a:prstGeom prst="rect">
            <a:avLst/>
          </a:prstGeom>
          <a:noFill/>
        </p:spPr>
        <p:txBody>
          <a:bodyPr wrap="square" anchor="t" lIns="0" rIns="0" tIns="0" bIns="0">
            <a:spAutoFit/>
          </a:bodyPr>
          <a:lstStyle/>
          <a:p>
            <a:pPr algn="l">
              <a:lnSpc>
                <a:spcPct val="125000"/>
              </a:lnSpc>
            </a:pPr>
            <a:r>
              <a:rPr sz="1300" b="0" i="1">
                <a:solidFill>
                  <a:srgbClr val="2A2A2A"/>
                </a:solidFill>
                <a:latin typeface="Georgia"/>
              </a:rPr>
              <a:t>Design note: deferral pairs naturally with S3309/A5288 — continuity for those who move, deferral for those who stay until they're ready. Both are senior-protective; neither costs the district its levy.</a:t>
            </a:r>
          </a:p>
        </p:txBody>
      </p:sp>
      <p:sp>
        <p:nvSpPr>
          <p:cNvPr id="9" name="Rectangle 8"/>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OREGON DOR · MASS. DLS GUIDE · RCW 84.38 · TEXAS COMPTROLLER</a:t>
            </a:r>
          </a:p>
        </p:txBody>
      </p:sp>
      <p:sp>
        <p:nvSpPr>
          <p:cNvPr id="11" name="TextBox 10"/>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Appendix</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23</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777240"/>
            <a:ext cx="10972800" cy="457200"/>
          </a:xfrm>
          <a:prstGeom prst="rect">
            <a:avLst/>
          </a:prstGeom>
          <a:noFill/>
        </p:spPr>
        <p:txBody>
          <a:bodyPr wrap="square" anchor="t" lIns="0" rIns="0" tIns="0" bIns="0">
            <a:spAutoFit/>
          </a:bodyPr>
          <a:lstStyle/>
          <a:p>
            <a:pPr algn="l"/>
            <a:r>
              <a:rPr sz="2300" b="1" i="0">
                <a:solidFill>
                  <a:srgbClr val="0E1116"/>
                </a:solidFill>
                <a:latin typeface="Georgia"/>
              </a:rPr>
              <a:t>June 2026 roster &amp; live vehicles</a:t>
            </a:r>
          </a:p>
        </p:txBody>
      </p:sp>
      <p:graphicFrame>
        <p:nvGraphicFramePr>
          <p:cNvPr id="7" name="Table 6"/>
          <p:cNvGraphicFramePr>
            <a:graphicFrameLocks noGrp="1"/>
          </p:cNvGraphicFramePr>
          <p:nvPr/>
        </p:nvGraphicFramePr>
        <p:xfrm>
          <a:off x="566928" y="1371600"/>
          <a:ext cx="11064240" cy="4023360"/>
        </p:xfrm>
        <a:graphic>
          <a:graphicData uri="http://schemas.openxmlformats.org/drawingml/2006/table">
            <a:tbl>
              <a:tblPr firstRow="1" bandRow="1">
                <a:tableStyleId>{5C22544A-7EE6-4342-B048-85BDC9FD1C3A}</a:tableStyleId>
              </a:tblPr>
              <a:tblGrid>
                <a:gridCol w="2377440"/>
                <a:gridCol w="4023360"/>
                <a:gridCol w="4663440"/>
              </a:tblGrid>
              <a:tr h="402336">
                <a:tc>
                  <a:txBody>
                    <a:bodyPr/>
                    <a:lstStyle/>
                    <a:p>
                      <a:r>
                        <a:rPr sz="800" b="1">
                          <a:solidFill>
                            <a:srgbClr val="F1ECE2"/>
                          </a:solidFill>
                          <a:latin typeface="Courier New"/>
                        </a:rPr>
                        <a:t>SEAT / VEHICLE</a:t>
                      </a:r>
                    </a:p>
                  </a:txBody>
                  <a:tcPr marL="54864" marR="54864" marT="18288" marB="18288">
                    <a:solidFill>
                      <a:srgbClr val="0E1116"/>
                    </a:solidFill>
                  </a:tcPr>
                </a:tc>
                <a:tc>
                  <a:txBody>
                    <a:bodyPr/>
                    <a:lstStyle/>
                    <a:p>
                      <a:r>
                        <a:rPr sz="800" b="1">
                          <a:solidFill>
                            <a:srgbClr val="F1ECE2"/>
                          </a:solidFill>
                          <a:latin typeface="Courier New"/>
                        </a:rPr>
                        <a:t>HOLDER / STATUS — JUNE 2026</a:t>
                      </a:r>
                    </a:p>
                  </a:txBody>
                  <a:tcPr marL="54864" marR="54864" marT="18288" marB="18288">
                    <a:solidFill>
                      <a:srgbClr val="0E1116"/>
                    </a:solidFill>
                  </a:tcPr>
                </a:tc>
                <a:tc>
                  <a:txBody>
                    <a:bodyPr/>
                    <a:lstStyle/>
                    <a:p>
                      <a:r>
                        <a:rPr sz="800" b="1">
                          <a:solidFill>
                            <a:srgbClr val="F1ECE2"/>
                          </a:solidFill>
                          <a:latin typeface="Courier New"/>
                        </a:rPr>
                        <a:t>RELEVANCE</a:t>
                      </a:r>
                    </a:p>
                  </a:txBody>
                  <a:tcPr marL="54864" marR="54864" marT="18288" marB="18288">
                    <a:solidFill>
                      <a:srgbClr val="0E1116"/>
                    </a:solidFill>
                  </a:tcPr>
                </a:tc>
              </a:tr>
              <a:tr h="402336">
                <a:tc>
                  <a:txBody>
                    <a:bodyPr wrap="square"/>
                    <a:lstStyle/>
                    <a:p>
                      <a:r>
                        <a:rPr sz="860">
                          <a:solidFill>
                            <a:srgbClr val="2A2A2A"/>
                          </a:solidFill>
                          <a:latin typeface="Arial"/>
                        </a:rPr>
                        <a:t>NY-4 (US House)</a:t>
                      </a:r>
                    </a:p>
                  </a:txBody>
                  <a:tcPr marL="54864" marR="54864" marT="18288" marB="18288">
                    <a:solidFill>
                      <a:srgbClr val="FAF6EC"/>
                    </a:solidFill>
                  </a:tcPr>
                </a:tc>
                <a:tc>
                  <a:txBody>
                    <a:bodyPr wrap="square"/>
                    <a:lstStyle/>
                    <a:p>
                      <a:r>
                        <a:rPr sz="860">
                          <a:solidFill>
                            <a:srgbClr val="2A2A2A"/>
                          </a:solidFill>
                          <a:latin typeface="Arial"/>
                        </a:rPr>
                        <a:t>Rep. Laura Gillen (D) — RVC resident</a:t>
                      </a:r>
                    </a:p>
                  </a:txBody>
                  <a:tcPr marL="54864" marR="54864" marT="18288" marB="18288">
                    <a:solidFill>
                      <a:srgbClr val="FAF6EC"/>
                    </a:solidFill>
                  </a:tcPr>
                </a:tc>
                <a:tc>
                  <a:txBody>
                    <a:bodyPr wrap="square"/>
                    <a:lstStyle/>
                    <a:p>
                      <a:r>
                        <a:rPr sz="860">
                          <a:solidFill>
                            <a:srgbClr val="2A2A2A"/>
                          </a:solidFill>
                          <a:latin typeface="Arial"/>
                        </a:rPr>
                        <a:t>SALT-relief record; June 23, 2026 primary; not yet on H.R. 1340 — the ask</a:t>
                      </a:r>
                    </a:p>
                  </a:txBody>
                  <a:tcPr marL="54864" marR="54864" marT="18288" marB="18288">
                    <a:solidFill>
                      <a:srgbClr val="FAF6EC"/>
                    </a:solidFill>
                  </a:tcPr>
                </a:tc>
              </a:tr>
              <a:tr h="402336">
                <a:tc>
                  <a:txBody>
                    <a:bodyPr wrap="square"/>
                    <a:lstStyle/>
                    <a:p>
                      <a:r>
                        <a:rPr sz="860">
                          <a:solidFill>
                            <a:srgbClr val="2A2A2A"/>
                          </a:solidFill>
                          <a:latin typeface="Arial"/>
                        </a:rPr>
                        <a:t>US Senate</a:t>
                      </a:r>
                    </a:p>
                  </a:txBody>
                  <a:tcPr marL="54864" marR="54864" marT="18288" marB="18288">
                    <a:solidFill>
                      <a:srgbClr val="F1ECE2"/>
                    </a:solidFill>
                  </a:tcPr>
                </a:tc>
                <a:tc>
                  <a:txBody>
                    <a:bodyPr wrap="square"/>
                    <a:lstStyle/>
                    <a:p>
                      <a:r>
                        <a:rPr sz="860">
                          <a:solidFill>
                            <a:srgbClr val="2A2A2A"/>
                          </a:solidFill>
                          <a:latin typeface="Arial"/>
                        </a:rPr>
                        <a:t>Schumer (Minority Leader) · Gillibrand</a:t>
                      </a:r>
                    </a:p>
                  </a:txBody>
                  <a:tcPr marL="54864" marR="54864" marT="18288" marB="18288">
                    <a:solidFill>
                      <a:srgbClr val="F1ECE2"/>
                    </a:solidFill>
                  </a:tcPr>
                </a:tc>
                <a:tc>
                  <a:txBody>
                    <a:bodyPr wrap="square"/>
                    <a:lstStyle/>
                    <a:p>
                      <a:r>
                        <a:rPr sz="860">
                          <a:solidFill>
                            <a:srgbClr val="2A2A2A"/>
                          </a:solidFill>
                          <a:latin typeface="Arial"/>
                        </a:rPr>
                        <a:t>Gillibrand: Approps THUD Ranking Member; Special Committee on Aging RM</a:t>
                      </a:r>
                    </a:p>
                  </a:txBody>
                  <a:tcPr marL="54864" marR="54864" marT="18288" marB="18288">
                    <a:solidFill>
                      <a:srgbClr val="F1ECE2"/>
                    </a:solidFill>
                  </a:tcPr>
                </a:tc>
              </a:tr>
              <a:tr h="402336">
                <a:tc>
                  <a:txBody>
                    <a:bodyPr wrap="square"/>
                    <a:lstStyle/>
                    <a:p>
                      <a:r>
                        <a:rPr sz="860">
                          <a:solidFill>
                            <a:srgbClr val="2A2A2A"/>
                          </a:solidFill>
                          <a:latin typeface="Arial"/>
                        </a:rPr>
                        <a:t>NY SD-9</a:t>
                      </a:r>
                    </a:p>
                  </a:txBody>
                  <a:tcPr marL="54864" marR="54864" marT="18288" marB="18288">
                    <a:solidFill>
                      <a:srgbClr val="FAF6EC"/>
                    </a:solidFill>
                  </a:tcPr>
                </a:tc>
                <a:tc>
                  <a:txBody>
                    <a:bodyPr wrap="square"/>
                    <a:lstStyle/>
                    <a:p>
                      <a:r>
                        <a:rPr sz="860">
                          <a:solidFill>
                            <a:srgbClr val="2A2A2A"/>
                          </a:solidFill>
                          <a:latin typeface="Arial"/>
                        </a:rPr>
                        <a:t>Sen. Patricia Canzoneri-Fitzpatrick (R)</a:t>
                      </a:r>
                    </a:p>
                  </a:txBody>
                  <a:tcPr marL="54864" marR="54864" marT="18288" marB="18288">
                    <a:solidFill>
                      <a:srgbClr val="FAF6EC"/>
                    </a:solidFill>
                  </a:tcPr>
                </a:tc>
                <a:tc>
                  <a:txBody>
                    <a:bodyPr wrap="square"/>
                    <a:lstStyle/>
                    <a:p>
                      <a:r>
                        <a:rPr sz="860">
                          <a:solidFill>
                            <a:srgbClr val="2A2A2A"/>
                          </a:solidFill>
                          <a:latin typeface="Arial"/>
                        </a:rPr>
                        <a:t>RVC resident; seat on the ballot Nov 2026; natural S3309 champion</a:t>
                      </a:r>
                    </a:p>
                  </a:txBody>
                  <a:tcPr marL="54864" marR="54864" marT="18288" marB="18288">
                    <a:solidFill>
                      <a:srgbClr val="FAF6EC"/>
                    </a:solidFill>
                  </a:tcPr>
                </a:tc>
              </a:tr>
              <a:tr h="402336">
                <a:tc>
                  <a:txBody>
                    <a:bodyPr wrap="square"/>
                    <a:lstStyle/>
                    <a:p>
                      <a:r>
                        <a:rPr sz="860">
                          <a:solidFill>
                            <a:srgbClr val="2A2A2A"/>
                          </a:solidFill>
                          <a:latin typeface="Arial"/>
                        </a:rPr>
                        <a:t>NY AD-21</a:t>
                      </a:r>
                    </a:p>
                  </a:txBody>
                  <a:tcPr marL="54864" marR="54864" marT="18288" marB="18288">
                    <a:solidFill>
                      <a:srgbClr val="F1ECE2"/>
                    </a:solidFill>
                  </a:tcPr>
                </a:tc>
                <a:tc>
                  <a:txBody>
                    <a:bodyPr wrap="square"/>
                    <a:lstStyle/>
                    <a:p>
                      <a:r>
                        <a:rPr sz="860">
                          <a:solidFill>
                            <a:srgbClr val="2A2A2A"/>
                          </a:solidFill>
                          <a:latin typeface="Arial"/>
                        </a:rPr>
                        <a:t>Asm. Judy Griffin (D)</a:t>
                      </a:r>
                    </a:p>
                  </a:txBody>
                  <a:tcPr marL="54864" marR="54864" marT="18288" marB="18288">
                    <a:solidFill>
                      <a:srgbClr val="F1ECE2"/>
                    </a:solidFill>
                  </a:tcPr>
                </a:tc>
                <a:tc>
                  <a:txBody>
                    <a:bodyPr wrap="square"/>
                    <a:lstStyle/>
                    <a:p>
                      <a:r>
                        <a:rPr sz="860">
                          <a:solidFill>
                            <a:srgbClr val="2A2A2A"/>
                          </a:solidFill>
                          <a:latin typeface="Arial"/>
                        </a:rPr>
                        <a:t>District covers RVC, Lynbrook, Malverne, Baldwin; A5288 companion</a:t>
                      </a:r>
                    </a:p>
                  </a:txBody>
                  <a:tcPr marL="54864" marR="54864" marT="18288" marB="18288">
                    <a:solidFill>
                      <a:srgbClr val="F1ECE2"/>
                    </a:solidFill>
                  </a:tcPr>
                </a:tc>
              </a:tr>
              <a:tr h="402336">
                <a:tc>
                  <a:txBody>
                    <a:bodyPr wrap="square"/>
                    <a:lstStyle/>
                    <a:p>
                      <a:r>
                        <a:rPr sz="860">
                          <a:solidFill>
                            <a:srgbClr val="2A2A2A"/>
                          </a:solidFill>
                          <a:latin typeface="Arial"/>
                        </a:rPr>
                        <a:t>Nassau County Exec</a:t>
                      </a:r>
                    </a:p>
                  </a:txBody>
                  <a:tcPr marL="54864" marR="54864" marT="18288" marB="18288">
                    <a:solidFill>
                      <a:srgbClr val="FAF6EC"/>
                    </a:solidFill>
                  </a:tcPr>
                </a:tc>
                <a:tc>
                  <a:txBody>
                    <a:bodyPr wrap="square"/>
                    <a:lstStyle/>
                    <a:p>
                      <a:r>
                        <a:rPr sz="860">
                          <a:solidFill>
                            <a:srgbClr val="2A2A2A"/>
                          </a:solidFill>
                          <a:latin typeface="Arial"/>
                        </a:rPr>
                        <a:t>Bruce Blakeman (R)</a:t>
                      </a:r>
                    </a:p>
                  </a:txBody>
                  <a:tcPr marL="54864" marR="54864" marT="18288" marB="18288">
                    <a:solidFill>
                      <a:srgbClr val="FAF6EC"/>
                    </a:solidFill>
                  </a:tcPr>
                </a:tc>
                <a:tc>
                  <a:txBody>
                    <a:bodyPr wrap="square"/>
                    <a:lstStyle/>
                    <a:p>
                      <a:r>
                        <a:rPr sz="860">
                          <a:solidFill>
                            <a:srgbClr val="2A2A2A"/>
                          </a:solidFill>
                          <a:latin typeface="Arial"/>
                        </a:rPr>
                        <a:t>Re-elected Nov 2025; running for governor; owns the data ask</a:t>
                      </a:r>
                    </a:p>
                  </a:txBody>
                  <a:tcPr marL="54864" marR="54864" marT="18288" marB="18288">
                    <a:solidFill>
                      <a:srgbClr val="FAF6EC"/>
                    </a:solidFill>
                  </a:tcPr>
                </a:tc>
              </a:tr>
              <a:tr h="402336">
                <a:tc>
                  <a:txBody>
                    <a:bodyPr wrap="square"/>
                    <a:lstStyle/>
                    <a:p>
                      <a:r>
                        <a:rPr sz="860">
                          <a:solidFill>
                            <a:srgbClr val="2A2A2A"/>
                          </a:solidFill>
                          <a:latin typeface="Arial"/>
                        </a:rPr>
                        <a:t>RVC Village / BOE</a:t>
                      </a:r>
                    </a:p>
                  </a:txBody>
                  <a:tcPr marL="54864" marR="54864" marT="18288" marB="18288">
                    <a:solidFill>
                      <a:srgbClr val="F1ECE2"/>
                    </a:solidFill>
                  </a:tcPr>
                </a:tc>
                <a:tc>
                  <a:txBody>
                    <a:bodyPr wrap="square"/>
                    <a:lstStyle/>
                    <a:p>
                      <a:r>
                        <a:rPr sz="860">
                          <a:solidFill>
                            <a:srgbClr val="2A2A2A"/>
                          </a:solidFill>
                          <a:latin typeface="Arial"/>
                        </a:rPr>
                        <a:t>Mayor Francis X. Murray · Trustee-elect M.B. Joyce (July 2026)</a:t>
                      </a:r>
                    </a:p>
                  </a:txBody>
                  <a:tcPr marL="54864" marR="54864" marT="18288" marB="18288">
                    <a:solidFill>
                      <a:srgbClr val="F1ECE2"/>
                    </a:solidFill>
                  </a:tcPr>
                </a:tc>
                <a:tc>
                  <a:txBody>
                    <a:bodyPr wrap="square"/>
                    <a:lstStyle/>
                    <a:p>
                      <a:r>
                        <a:rPr sz="860">
                          <a:solidFill>
                            <a:srgbClr val="2A2A2A"/>
                          </a:solidFill>
                          <a:latin typeface="Arial"/>
                        </a:rPr>
                        <a:t>Village runs its own assessor &amp; tax office; BOE owns the district §467 posture</a:t>
                      </a:r>
                    </a:p>
                  </a:txBody>
                  <a:tcPr marL="54864" marR="54864" marT="18288" marB="18288">
                    <a:solidFill>
                      <a:srgbClr val="F1ECE2"/>
                    </a:solidFill>
                  </a:tcPr>
                </a:tc>
              </a:tr>
              <a:tr h="402336">
                <a:tc>
                  <a:txBody>
                    <a:bodyPr wrap="square"/>
                    <a:lstStyle/>
                    <a:p>
                      <a:r>
                        <a:rPr sz="860">
                          <a:solidFill>
                            <a:srgbClr val="2A2A2A"/>
                          </a:solidFill>
                          <a:latin typeface="Arial"/>
                        </a:rPr>
                        <a:t>H.R. 1340 / S. 3332</a:t>
                      </a:r>
                    </a:p>
                  </a:txBody>
                  <a:tcPr marL="54864" marR="54864" marT="18288" marB="18288">
                    <a:solidFill>
                      <a:srgbClr val="FAF6EC"/>
                    </a:solidFill>
                  </a:tcPr>
                </a:tc>
                <a:tc>
                  <a:txBody>
                    <a:bodyPr wrap="square"/>
                    <a:lstStyle/>
                    <a:p>
                      <a:r>
                        <a:rPr sz="860">
                          <a:solidFill>
                            <a:srgbClr val="2A2A2A"/>
                          </a:solidFill>
                          <a:latin typeface="Arial"/>
                        </a:rPr>
                        <a:t>Ways &amp; Means / Senate Finance</a:t>
                      </a:r>
                    </a:p>
                  </a:txBody>
                  <a:tcPr marL="54864" marR="54864" marT="18288" marB="18288">
                    <a:solidFill>
                      <a:srgbClr val="FAF6EC"/>
                    </a:solidFill>
                  </a:tcPr>
                </a:tc>
                <a:tc>
                  <a:txBody>
                    <a:bodyPr wrap="square"/>
                    <a:lstStyle/>
                    <a:p>
                      <a:r>
                        <a:rPr sz="860">
                          <a:solidFill>
                            <a:srgbClr val="2A2A2A"/>
                          </a:solidFill>
                          <a:latin typeface="Arial"/>
                        </a:rPr>
                        <a:t>Panetta-Kelly · Cornyn-Bennet-Schiff; double &amp; index §121</a:t>
                      </a:r>
                    </a:p>
                  </a:txBody>
                  <a:tcPr marL="54864" marR="54864" marT="18288" marB="18288">
                    <a:solidFill>
                      <a:srgbClr val="FAF6EC"/>
                    </a:solidFill>
                  </a:tcPr>
                </a:tc>
              </a:tr>
              <a:tr h="402336">
                <a:tc>
                  <a:txBody>
                    <a:bodyPr wrap="square"/>
                    <a:lstStyle/>
                    <a:p>
                      <a:r>
                        <a:rPr sz="860">
                          <a:solidFill>
                            <a:srgbClr val="2A2A2A"/>
                          </a:solidFill>
                          <a:latin typeface="Arial"/>
                        </a:rPr>
                        <a:t>S3309 / A5288</a:t>
                      </a:r>
                    </a:p>
                  </a:txBody>
                  <a:tcPr marL="54864" marR="54864" marT="18288" marB="18288">
                    <a:solidFill>
                      <a:srgbClr val="F1ECE2"/>
                    </a:solidFill>
                  </a:tcPr>
                </a:tc>
                <a:tc>
                  <a:txBody>
                    <a:bodyPr wrap="square"/>
                    <a:lstStyle/>
                    <a:p>
                      <a:r>
                        <a:rPr sz="860">
                          <a:solidFill>
                            <a:srgbClr val="2A2A2A"/>
                          </a:solidFill>
                          <a:latin typeface="Arial"/>
                        </a:rPr>
                        <a:t>Reported from Aging 7–0 (Apr 2026)</a:t>
                      </a:r>
                    </a:p>
                  </a:txBody>
                  <a:tcPr marL="54864" marR="54864" marT="18288" marB="18288">
                    <a:solidFill>
                      <a:srgbClr val="F1ECE2"/>
                    </a:solidFill>
                  </a:tcPr>
                </a:tc>
                <a:tc>
                  <a:txBody>
                    <a:bodyPr wrap="square"/>
                    <a:lstStyle/>
                    <a:p>
                      <a:r>
                        <a:rPr sz="860">
                          <a:solidFill>
                            <a:srgbClr val="2A2A2A"/>
                          </a:solidFill>
                          <a:latin typeface="Arial"/>
                        </a:rPr>
                        <a:t>Exemption continuity in a move year (Palumbo)</a:t>
                      </a:r>
                    </a:p>
                  </a:txBody>
                  <a:tcPr marL="54864" marR="54864" marT="18288" marB="18288">
                    <a:solidFill>
                      <a:srgbClr val="F1ECE2"/>
                    </a:solidFill>
                  </a:tcPr>
                </a:tc>
              </a:tr>
              <a:tr h="402336">
                <a:tc>
                  <a:txBody>
                    <a:bodyPr wrap="square"/>
                    <a:lstStyle/>
                    <a:p>
                      <a:r>
                        <a:rPr sz="860">
                          <a:solidFill>
                            <a:srgbClr val="2A2A2A"/>
                          </a:solidFill>
                          <a:latin typeface="Arial"/>
                        </a:rPr>
                        <a:t>Ch. 581 of 2025</a:t>
                      </a:r>
                    </a:p>
                  </a:txBody>
                  <a:tcPr marL="54864" marR="54864" marT="18288" marB="18288">
                    <a:solidFill>
                      <a:srgbClr val="FAF6EC"/>
                    </a:solidFill>
                  </a:tcPr>
                </a:tc>
                <a:tc>
                  <a:txBody>
                    <a:bodyPr wrap="square"/>
                    <a:lstStyle/>
                    <a:p>
                      <a:r>
                        <a:rPr sz="860">
                          <a:solidFill>
                            <a:srgbClr val="2A2A2A"/>
                          </a:solidFill>
                          <a:latin typeface="Arial"/>
                        </a:rPr>
                        <a:t>Law — signed Dec 5, 2025</a:t>
                      </a:r>
                    </a:p>
                  </a:txBody>
                  <a:tcPr marL="54864" marR="54864" marT="18288" marB="18288">
                    <a:solidFill>
                      <a:srgbClr val="FAF6EC"/>
                    </a:solidFill>
                  </a:tcPr>
                </a:tc>
                <a:tc>
                  <a:txBody>
                    <a:bodyPr wrap="square"/>
                    <a:lstStyle/>
                    <a:p>
                      <a:r>
                        <a:rPr sz="860">
                          <a:solidFill>
                            <a:srgbClr val="2A2A2A"/>
                          </a:solidFill>
                          <a:latin typeface="Arial"/>
                        </a:rPr>
                        <a:t>65% §467 tier; income cap $75,000 eff. July 1, 2027 (separate 2025 law)</a:t>
                      </a:r>
                    </a:p>
                  </a:txBody>
                  <a:tcPr marL="54864" marR="54864" marT="18288" marB="18288">
                    <a:solidFill>
                      <a:srgbClr val="FAF6EC"/>
                    </a:solidFill>
                  </a:tcPr>
                </a:tc>
              </a:tr>
            </a:tbl>
          </a:graphicData>
        </a:graphic>
      </p:graphicFrame>
      <p:sp>
        <p:nvSpPr>
          <p:cNvPr id="8" name="Rectangle 7"/>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VERIFIED AGAINST CONGRESS.GOV · NYSENATE.GOV · OFFICIAL SITES</a:t>
            </a:r>
          </a:p>
        </p:txBody>
      </p:sp>
      <p:sp>
        <p:nvSpPr>
          <p:cNvPr id="10" name="TextBox 9"/>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Appendix</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24</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777240"/>
            <a:ext cx="10972800" cy="457200"/>
          </a:xfrm>
          <a:prstGeom prst="rect">
            <a:avLst/>
          </a:prstGeom>
          <a:noFill/>
        </p:spPr>
        <p:txBody>
          <a:bodyPr wrap="square" anchor="t" lIns="0" rIns="0" tIns="0" bIns="0">
            <a:spAutoFit/>
          </a:bodyPr>
          <a:lstStyle/>
          <a:p>
            <a:pPr algn="l"/>
            <a:r>
              <a:rPr sz="2300" b="1" i="0">
                <a:solidFill>
                  <a:srgbClr val="0E1116"/>
                </a:solidFill>
                <a:latin typeface="Georgia"/>
              </a:rPr>
              <a:t>The coalition map — validated district facts (NYSED 2024-25)</a:t>
            </a:r>
          </a:p>
        </p:txBody>
      </p:sp>
      <p:graphicFrame>
        <p:nvGraphicFramePr>
          <p:cNvPr id="7" name="Table 6"/>
          <p:cNvGraphicFramePr>
            <a:graphicFrameLocks noGrp="1"/>
          </p:cNvGraphicFramePr>
          <p:nvPr/>
        </p:nvGraphicFramePr>
        <p:xfrm>
          <a:off x="566928" y="1371600"/>
          <a:ext cx="11064240" cy="3803904"/>
        </p:xfrm>
        <a:graphic>
          <a:graphicData uri="http://schemas.openxmlformats.org/drawingml/2006/table">
            <a:tbl>
              <a:tblPr firstRow="1" bandRow="1">
                <a:tableStyleId>{5C22544A-7EE6-4342-B048-85BDC9FD1C3A}</a:tableStyleId>
              </a:tblPr>
              <a:tblGrid>
                <a:gridCol w="2468880"/>
                <a:gridCol w="1828800"/>
                <a:gridCol w="6766560"/>
              </a:tblGrid>
              <a:tr h="475488">
                <a:tc>
                  <a:txBody>
                    <a:bodyPr/>
                    <a:lstStyle/>
                    <a:p>
                      <a:r>
                        <a:rPr sz="800" b="1">
                          <a:solidFill>
                            <a:srgbClr val="F1ECE2"/>
                          </a:solidFill>
                          <a:latin typeface="Courier New"/>
                        </a:rPr>
                        <a:t>DISTRICT</a:t>
                      </a:r>
                    </a:p>
                  </a:txBody>
                  <a:tcPr marL="54864" marR="54864" marT="18288" marB="18288">
                    <a:solidFill>
                      <a:srgbClr val="0E1116"/>
                    </a:solidFill>
                  </a:tcPr>
                </a:tc>
                <a:tc>
                  <a:txBody>
                    <a:bodyPr/>
                    <a:lstStyle/>
                    <a:p>
                      <a:r>
                        <a:rPr sz="800" b="1">
                          <a:solidFill>
                            <a:srgbClr val="F1ECE2"/>
                          </a:solidFill>
                          <a:latin typeface="Courier New"/>
                        </a:rPr>
                        <a:t>K-12 (NYSED)</a:t>
                      </a:r>
                    </a:p>
                  </a:txBody>
                  <a:tcPr marL="54864" marR="54864" marT="18288" marB="18288">
                    <a:solidFill>
                      <a:srgbClr val="0E1116"/>
                    </a:solidFill>
                  </a:tcPr>
                </a:tc>
                <a:tc>
                  <a:txBody>
                    <a:bodyPr/>
                    <a:lstStyle/>
                    <a:p>
                      <a:r>
                        <a:rPr sz="800" b="1">
                          <a:solidFill>
                            <a:srgbClr val="F1ECE2"/>
                          </a:solidFill>
                          <a:latin typeface="Courier New"/>
                        </a:rPr>
                        <a:t>VALIDATED FACTS</a:t>
                      </a:r>
                    </a:p>
                  </a:txBody>
                  <a:tcPr marL="54864" marR="54864" marT="18288" marB="18288">
                    <a:solidFill>
                      <a:srgbClr val="0E1116"/>
                    </a:solidFill>
                  </a:tcPr>
                </a:tc>
              </a:tr>
              <a:tr h="475488">
                <a:tc>
                  <a:txBody>
                    <a:bodyPr wrap="square"/>
                    <a:lstStyle/>
                    <a:p>
                      <a:r>
                        <a:rPr sz="860">
                          <a:solidFill>
                            <a:srgbClr val="2A2A2A"/>
                          </a:solidFill>
                          <a:latin typeface="Arial"/>
                        </a:rPr>
                        <a:t>Hewlett-Woodmere</a:t>
                      </a:r>
                    </a:p>
                  </a:txBody>
                  <a:tcPr marL="54864" marR="54864" marT="18288" marB="18288">
                    <a:solidFill>
                      <a:srgbClr val="FAF6EC"/>
                    </a:solidFill>
                  </a:tcPr>
                </a:tc>
                <a:tc>
                  <a:txBody>
                    <a:bodyPr wrap="square"/>
                    <a:lstStyle/>
                    <a:p>
                      <a:r>
                        <a:rPr sz="860">
                          <a:solidFill>
                            <a:srgbClr val="2A2A2A"/>
                          </a:solidFill>
                          <a:latin typeface="Arial"/>
                        </a:rPr>
                        <a:t>2,650</a:t>
                      </a:r>
                    </a:p>
                  </a:txBody>
                  <a:tcPr marL="54864" marR="54864" marT="18288" marB="18288">
                    <a:solidFill>
                      <a:srgbClr val="FAF6EC"/>
                    </a:solidFill>
                  </a:tcPr>
                </a:tc>
                <a:tc>
                  <a:txBody>
                    <a:bodyPr wrap="square"/>
                    <a:lstStyle/>
                    <a:p>
                      <a:r>
                        <a:rPr sz="860">
                          <a:solidFill>
                            <a:srgbClr val="2A2A2A"/>
                          </a:solidFill>
                          <a:latin typeface="Arial"/>
                        </a:rPr>
                        <a:t>11 teaching positions cut for 2025-26; elementary enrollment projected −200 vs 2022-23</a:t>
                      </a:r>
                    </a:p>
                  </a:txBody>
                  <a:tcPr marL="54864" marR="54864" marT="18288" marB="18288">
                    <a:solidFill>
                      <a:srgbClr val="FAF6EC"/>
                    </a:solidFill>
                  </a:tcPr>
                </a:tc>
              </a:tr>
              <a:tr h="475488">
                <a:tc>
                  <a:txBody>
                    <a:bodyPr wrap="square"/>
                    <a:lstStyle/>
                    <a:p>
                      <a:r>
                        <a:rPr sz="860">
                          <a:solidFill>
                            <a:srgbClr val="2A2A2A"/>
                          </a:solidFill>
                          <a:latin typeface="Arial"/>
                        </a:rPr>
                        <a:t>Locust Valley</a:t>
                      </a:r>
                    </a:p>
                  </a:txBody>
                  <a:tcPr marL="54864" marR="54864" marT="18288" marB="18288">
                    <a:solidFill>
                      <a:srgbClr val="F1ECE2"/>
                    </a:solidFill>
                  </a:tcPr>
                </a:tc>
                <a:tc>
                  <a:txBody>
                    <a:bodyPr wrap="square"/>
                    <a:lstStyle/>
                    <a:p>
                      <a:r>
                        <a:rPr sz="860">
                          <a:solidFill>
                            <a:srgbClr val="2A2A2A"/>
                          </a:solidFill>
                          <a:latin typeface="Arial"/>
                        </a:rPr>
                        <a:t>1,754</a:t>
                      </a:r>
                    </a:p>
                  </a:txBody>
                  <a:tcPr marL="54864" marR="54864" marT="18288" marB="18288">
                    <a:solidFill>
                      <a:srgbClr val="F1ECE2"/>
                    </a:solidFill>
                  </a:tcPr>
                </a:tc>
                <a:tc>
                  <a:txBody>
                    <a:bodyPr wrap="square"/>
                    <a:lstStyle/>
                    <a:p>
                      <a:r>
                        <a:rPr sz="860">
                          <a:solidFill>
                            <a:srgbClr val="2A2A2A"/>
                          </a:solidFill>
                          <a:latin typeface="Arial"/>
                        </a:rPr>
                        <a:t>−15% projected by 2027-28 (2,034 → 1,725); “five homes under $1M” — Supt. Turnow; 2026-27 budget FAILED 850–765 (revote 6/16/26)</a:t>
                      </a:r>
                    </a:p>
                  </a:txBody>
                  <a:tcPr marL="54864" marR="54864" marT="18288" marB="18288">
                    <a:solidFill>
                      <a:srgbClr val="F1ECE2"/>
                    </a:solidFill>
                  </a:tcPr>
                </a:tc>
              </a:tr>
              <a:tr h="475488">
                <a:tc>
                  <a:txBody>
                    <a:bodyPr wrap="square"/>
                    <a:lstStyle/>
                    <a:p>
                      <a:r>
                        <a:rPr sz="860">
                          <a:solidFill>
                            <a:srgbClr val="2A2A2A"/>
                          </a:solidFill>
                          <a:latin typeface="Arial"/>
                        </a:rPr>
                        <a:t>Oyster Bay-E. Norwich</a:t>
                      </a:r>
                    </a:p>
                  </a:txBody>
                  <a:tcPr marL="54864" marR="54864" marT="18288" marB="18288">
                    <a:solidFill>
                      <a:srgbClr val="FAF6EC"/>
                    </a:solidFill>
                  </a:tcPr>
                </a:tc>
                <a:tc>
                  <a:txBody>
                    <a:bodyPr wrap="square"/>
                    <a:lstStyle/>
                    <a:p>
                      <a:r>
                        <a:rPr sz="860">
                          <a:solidFill>
                            <a:srgbClr val="2A2A2A"/>
                          </a:solidFill>
                          <a:latin typeface="Arial"/>
                        </a:rPr>
                        <a:t>1,310</a:t>
                      </a:r>
                    </a:p>
                  </a:txBody>
                  <a:tcPr marL="54864" marR="54864" marT="18288" marB="18288">
                    <a:solidFill>
                      <a:srgbClr val="FAF6EC"/>
                    </a:solidFill>
                  </a:tcPr>
                </a:tc>
                <a:tc>
                  <a:txBody>
                    <a:bodyPr wrap="square"/>
                    <a:lstStyle/>
                    <a:p>
                      <a:r>
                        <a:rPr sz="860">
                          <a:solidFill>
                            <a:srgbClr val="2A2A2A"/>
                          </a:solidFill>
                          <a:latin typeface="Arial"/>
                        </a:rPr>
                        <a:t>−16.5% since 2015-16; Supt. Ianni credits universal pre-K for stabilization</a:t>
                      </a:r>
                    </a:p>
                  </a:txBody>
                  <a:tcPr marL="54864" marR="54864" marT="18288" marB="18288">
                    <a:solidFill>
                      <a:srgbClr val="FAF6EC"/>
                    </a:solidFill>
                  </a:tcPr>
                </a:tc>
              </a:tr>
              <a:tr h="475488">
                <a:tc>
                  <a:txBody>
                    <a:bodyPr wrap="square"/>
                    <a:lstStyle/>
                    <a:p>
                      <a:r>
                        <a:rPr sz="860">
                          <a:solidFill>
                            <a:srgbClr val="2A2A2A"/>
                          </a:solidFill>
                          <a:latin typeface="Arial"/>
                        </a:rPr>
                        <a:t>Long Beach</a:t>
                      </a:r>
                    </a:p>
                  </a:txBody>
                  <a:tcPr marL="54864" marR="54864" marT="18288" marB="18288">
                    <a:solidFill>
                      <a:srgbClr val="F1ECE2"/>
                    </a:solidFill>
                  </a:tcPr>
                </a:tc>
                <a:tc>
                  <a:txBody>
                    <a:bodyPr wrap="square"/>
                    <a:lstStyle/>
                    <a:p>
                      <a:r>
                        <a:rPr sz="860">
                          <a:solidFill>
                            <a:srgbClr val="2A2A2A"/>
                          </a:solidFill>
                          <a:latin typeface="Arial"/>
                        </a:rPr>
                        <a:t>3,265</a:t>
                      </a:r>
                    </a:p>
                  </a:txBody>
                  <a:tcPr marL="54864" marR="54864" marT="18288" marB="18288">
                    <a:solidFill>
                      <a:srgbClr val="F1ECE2"/>
                    </a:solidFill>
                  </a:tcPr>
                </a:tc>
                <a:tc>
                  <a:txBody>
                    <a:bodyPr wrap="square"/>
                    <a:lstStyle/>
                    <a:p>
                      <a:r>
                        <a:rPr sz="860">
                          <a:solidFill>
                            <a:srgbClr val="2A2A2A"/>
                          </a:solidFill>
                          <a:latin typeface="Arial"/>
                        </a:rPr>
                        <a:t>Fought a year-long closure debate over East Elementary; community advocacy kept it open (2025)</a:t>
                      </a:r>
                    </a:p>
                  </a:txBody>
                  <a:tcPr marL="54864" marR="54864" marT="18288" marB="18288">
                    <a:solidFill>
                      <a:srgbClr val="F1ECE2"/>
                    </a:solidFill>
                  </a:tcPr>
                </a:tc>
              </a:tr>
              <a:tr h="475488">
                <a:tc>
                  <a:txBody>
                    <a:bodyPr wrap="square"/>
                    <a:lstStyle/>
                    <a:p>
                      <a:r>
                        <a:rPr sz="860">
                          <a:solidFill>
                            <a:srgbClr val="2A2A2A"/>
                          </a:solidFill>
                          <a:latin typeface="Arial"/>
                        </a:rPr>
                        <a:t>Levittown</a:t>
                      </a:r>
                    </a:p>
                  </a:txBody>
                  <a:tcPr marL="54864" marR="54864" marT="18288" marB="18288">
                    <a:solidFill>
                      <a:srgbClr val="FAF6EC"/>
                    </a:solidFill>
                  </a:tcPr>
                </a:tc>
                <a:tc>
                  <a:txBody>
                    <a:bodyPr wrap="square"/>
                    <a:lstStyle/>
                    <a:p>
                      <a:r>
                        <a:rPr sz="860">
                          <a:solidFill>
                            <a:srgbClr val="2A2A2A"/>
                          </a:solidFill>
                          <a:latin typeface="Arial"/>
                        </a:rPr>
                        <a:t>7,061</a:t>
                      </a:r>
                    </a:p>
                  </a:txBody>
                  <a:tcPr marL="54864" marR="54864" marT="18288" marB="18288">
                    <a:solidFill>
                      <a:srgbClr val="FAF6EC"/>
                    </a:solidFill>
                  </a:tcPr>
                </a:tc>
                <a:tc>
                  <a:txBody>
                    <a:bodyPr wrap="square"/>
                    <a:lstStyle/>
                    <a:p>
                      <a:r>
                        <a:rPr sz="860">
                          <a:solidFill>
                            <a:srgbClr val="2A2A2A"/>
                          </a:solidFill>
                          <a:latin typeface="Arial"/>
                        </a:rPr>
                        <a:t>−2% since 2022-23; $274.1M budget (2025-26)</a:t>
                      </a:r>
                    </a:p>
                  </a:txBody>
                  <a:tcPr marL="54864" marR="54864" marT="18288" marB="18288">
                    <a:solidFill>
                      <a:srgbClr val="FAF6EC"/>
                    </a:solidFill>
                  </a:tcPr>
                </a:tc>
              </a:tr>
              <a:tr h="475488">
                <a:tc>
                  <a:txBody>
                    <a:bodyPr wrap="square"/>
                    <a:lstStyle/>
                    <a:p>
                      <a:r>
                        <a:rPr sz="860">
                          <a:solidFill>
                            <a:srgbClr val="2A2A2A"/>
                          </a:solidFill>
                          <a:latin typeface="Arial"/>
                        </a:rPr>
                        <a:t>Lynbrook / Malverne / Massapequa / Great Neck</a:t>
                      </a:r>
                    </a:p>
                  </a:txBody>
                  <a:tcPr marL="54864" marR="54864" marT="18288" marB="18288">
                    <a:solidFill>
                      <a:srgbClr val="F1ECE2"/>
                    </a:solidFill>
                  </a:tcPr>
                </a:tc>
                <a:tc>
                  <a:txBody>
                    <a:bodyPr wrap="square"/>
                    <a:lstStyle/>
                    <a:p>
                      <a:r>
                        <a:rPr sz="860">
                          <a:solidFill>
                            <a:srgbClr val="2A2A2A"/>
                          </a:solidFill>
                          <a:latin typeface="Arial"/>
                        </a:rPr>
                        <a:t>2,725 / 1,801 / 6,460 / 6,600</a:t>
                      </a:r>
                    </a:p>
                  </a:txBody>
                  <a:tcPr marL="54864" marR="54864" marT="18288" marB="18288">
                    <a:solidFill>
                      <a:srgbClr val="F1ECE2"/>
                    </a:solidFill>
                  </a:tcPr>
                </a:tc>
                <a:tc>
                  <a:txBody>
                    <a:bodyPr wrap="square"/>
                    <a:lstStyle/>
                    <a:p>
                      <a:r>
                        <a:rPr sz="860">
                          <a:solidFill>
                            <a:srgbClr val="2A2A2A"/>
                          </a:solidFill>
                          <a:latin typeface="Arial"/>
                        </a:rPr>
                        <a:t>Budgets at or near their caps ($110M / $73.9M max-cap / $243M); Uniondale 65% Hispanic, 32% Black</a:t>
                      </a:r>
                    </a:p>
                  </a:txBody>
                  <a:tcPr marL="54864" marR="54864" marT="18288" marB="18288">
                    <a:solidFill>
                      <a:srgbClr val="F1ECE2"/>
                    </a:solidFill>
                  </a:tcPr>
                </a:tc>
              </a:tr>
              <a:tr h="475488">
                <a:tc>
                  <a:txBody>
                    <a:bodyPr wrap="square"/>
                    <a:lstStyle/>
                    <a:p>
                      <a:r>
                        <a:rPr sz="860">
                          <a:solidFill>
                            <a:srgbClr val="2A2A2A"/>
                          </a:solidFill>
                          <a:latin typeface="Arial"/>
                        </a:rPr>
                        <a:t>County-wide</a:t>
                      </a:r>
                    </a:p>
                  </a:txBody>
                  <a:tcPr marL="54864" marR="54864" marT="18288" marB="18288">
                    <a:solidFill>
                      <a:srgbClr val="FAF6EC"/>
                    </a:solidFill>
                  </a:tcPr>
                </a:tc>
                <a:tc>
                  <a:txBody>
                    <a:bodyPr wrap="square"/>
                    <a:lstStyle/>
                    <a:p>
                      <a:r>
                        <a:rPr sz="860">
                          <a:solidFill>
                            <a:srgbClr val="2A2A2A"/>
                          </a:solidFill>
                          <a:latin typeface="Arial"/>
                        </a:rPr>
                        <a:t>—</a:t>
                      </a:r>
                    </a:p>
                  </a:txBody>
                  <a:tcPr marL="54864" marR="54864" marT="18288" marB="18288">
                    <a:solidFill>
                      <a:srgbClr val="FAF6EC"/>
                    </a:solidFill>
                  </a:tcPr>
                </a:tc>
                <a:tc>
                  <a:txBody>
                    <a:bodyPr wrap="square"/>
                    <a:lstStyle/>
                    <a:p>
                      <a:r>
                        <a:rPr sz="860">
                          <a:solidFill>
                            <a:srgbClr val="2A2A2A"/>
                          </a:solidFill>
                          <a:latin typeface="Arial"/>
                        </a:rPr>
                        <a:t>61% of 56 districts declined over the decade (Nassau BOCES); LI −6.3% since 2017 (W. Suffolk BOCES)</a:t>
                      </a:r>
                    </a:p>
                  </a:txBody>
                  <a:tcPr marL="54864" marR="54864" marT="18288" marB="18288">
                    <a:solidFill>
                      <a:srgbClr val="FAF6EC"/>
                    </a:solidFill>
                  </a:tcPr>
                </a:tc>
              </a:tr>
            </a:tbl>
          </a:graphicData>
        </a:graphic>
      </p:graphicFrame>
      <p:sp>
        <p:nvSpPr>
          <p:cNvPr id="8" name="TextBox 7"/>
          <p:cNvSpPr txBox="1"/>
          <p:nvPr/>
        </p:nvSpPr>
        <p:spPr>
          <a:xfrm>
            <a:off x="566928" y="5120640"/>
            <a:ext cx="10789920" cy="548640"/>
          </a:xfrm>
          <a:prstGeom prst="rect">
            <a:avLst/>
          </a:prstGeom>
          <a:noFill/>
        </p:spPr>
        <p:txBody>
          <a:bodyPr wrap="square" anchor="t" lIns="0" rIns="0" tIns="0" bIns="0">
            <a:spAutoFit/>
          </a:bodyPr>
          <a:lstStyle/>
          <a:p>
            <a:pPr algn="l"/>
            <a:r>
              <a:rPr sz="1300" b="0" i="1">
                <a:solidFill>
                  <a:srgbClr val="2A2A2A"/>
                </a:solidFill>
                <a:latin typeface="Georgia"/>
              </a:rPr>
              <a:t>One county, one data ask, one Albany agenda — the same brief works for every district above.</a:t>
            </a:r>
          </a:p>
        </p:txBody>
      </p:sp>
      <p:sp>
        <p:nvSpPr>
          <p:cNvPr id="9" name="Rectangle 8"/>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NYSED ENROLLMENT PAGES PER DISTRICT · LI HERALD · W. SUFFOLK BOCES BI-COUNTY STUDY</a:t>
            </a:r>
          </a:p>
        </p:txBody>
      </p:sp>
      <p:sp>
        <p:nvSpPr>
          <p:cNvPr id="11" name="TextBox 10"/>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Appendix</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25</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777240"/>
            <a:ext cx="10972800" cy="457200"/>
          </a:xfrm>
          <a:prstGeom prst="rect">
            <a:avLst/>
          </a:prstGeom>
          <a:noFill/>
        </p:spPr>
        <p:txBody>
          <a:bodyPr wrap="square" anchor="t" lIns="0" rIns="0" tIns="0" bIns="0">
            <a:spAutoFit/>
          </a:bodyPr>
          <a:lstStyle/>
          <a:p>
            <a:pPr algn="l"/>
            <a:r>
              <a:rPr sz="2300" b="1" i="0">
                <a:solidFill>
                  <a:srgbClr val="0E1116"/>
                </a:solidFill>
                <a:latin typeface="Georgia"/>
              </a:rPr>
              <a:t>Sources (1 of 2) — district, demographics, housing</a:t>
            </a:r>
          </a:p>
        </p:txBody>
      </p:sp>
      <p:sp>
        <p:nvSpPr>
          <p:cNvPr id="7" name="Rectangle 6"/>
          <p:cNvSpPr/>
          <p:nvPr/>
        </p:nvSpPr>
        <p:spPr>
          <a:xfrm>
            <a:off x="566928" y="1417320"/>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81328"/>
            <a:ext cx="2377440" cy="365760"/>
          </a:xfrm>
          <a:prstGeom prst="rect">
            <a:avLst/>
          </a:prstGeom>
          <a:noFill/>
        </p:spPr>
        <p:txBody>
          <a:bodyPr wrap="square" anchor="t" lIns="0" rIns="0" tIns="0" bIns="0">
            <a:spAutoFit/>
          </a:bodyPr>
          <a:lstStyle/>
          <a:p>
            <a:pPr algn="l"/>
            <a:r>
              <a:rPr sz="850" b="1" i="0" spc="160">
                <a:solidFill>
                  <a:srgbClr val="1E3A8A"/>
                </a:solidFill>
                <a:latin typeface="Courier New"/>
              </a:rPr>
              <a:t>RVC BUDGET PROCESS</a:t>
            </a:r>
          </a:p>
        </p:txBody>
      </p:sp>
      <p:sp>
        <p:nvSpPr>
          <p:cNvPr id="9" name="TextBox 8"/>
          <p:cNvSpPr txBox="1"/>
          <p:nvPr/>
        </p:nvSpPr>
        <p:spPr>
          <a:xfrm>
            <a:off x="3172968" y="1472184"/>
            <a:ext cx="8503920" cy="77724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LI Herald: “$3.78M deficit” (Feb 6, 2026) · board-scrutiny (Feb 13) · “$141.3M adopted” (Apr 16) · “Budget passes” (May 19) · M.B. Joyce substack, “Understanding the 2026/2027 budget” (Mar 18)</a:t>
            </a:r>
          </a:p>
        </p:txBody>
      </p:sp>
      <p:sp>
        <p:nvSpPr>
          <p:cNvPr id="10" name="Rectangle 9"/>
          <p:cNvSpPr/>
          <p:nvPr/>
        </p:nvSpPr>
        <p:spPr>
          <a:xfrm>
            <a:off x="566928" y="2322576"/>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386584"/>
            <a:ext cx="2377440" cy="365760"/>
          </a:xfrm>
          <a:prstGeom prst="rect">
            <a:avLst/>
          </a:prstGeom>
          <a:noFill/>
        </p:spPr>
        <p:txBody>
          <a:bodyPr wrap="square" anchor="t" lIns="0" rIns="0" tIns="0" bIns="0">
            <a:spAutoFit/>
          </a:bodyPr>
          <a:lstStyle/>
          <a:p>
            <a:pPr algn="l"/>
            <a:r>
              <a:rPr sz="850" b="1" i="0" spc="160">
                <a:solidFill>
                  <a:srgbClr val="1E3A8A"/>
                </a:solidFill>
                <a:latin typeface="Courier New"/>
              </a:rPr>
              <a:t>NYSED</a:t>
            </a:r>
          </a:p>
        </p:txBody>
      </p:sp>
      <p:sp>
        <p:nvSpPr>
          <p:cNvPr id="12" name="TextBox 11"/>
          <p:cNvSpPr txBox="1"/>
          <p:nvPr/>
        </p:nvSpPr>
        <p:spPr>
          <a:xfrm>
            <a:off x="3172968" y="2377440"/>
            <a:ext cx="8503920" cy="77724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Enrollment (instid 800000049383): 3,533 → 3,276 · grad rate 98% · per-pupil expenditure $37,973 (2023-24) · district pages for all coalition districts</a:t>
            </a:r>
          </a:p>
        </p:txBody>
      </p:sp>
      <p:sp>
        <p:nvSpPr>
          <p:cNvPr id="13" name="Rectangle 12"/>
          <p:cNvSpPr/>
          <p:nvPr/>
        </p:nvSpPr>
        <p:spPr>
          <a:xfrm>
            <a:off x="566928" y="3227832"/>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291840"/>
            <a:ext cx="2377440" cy="365760"/>
          </a:xfrm>
          <a:prstGeom prst="rect">
            <a:avLst/>
          </a:prstGeom>
          <a:noFill/>
        </p:spPr>
        <p:txBody>
          <a:bodyPr wrap="square" anchor="t" lIns="0" rIns="0" tIns="0" bIns="0">
            <a:spAutoFit/>
          </a:bodyPr>
          <a:lstStyle/>
          <a:p>
            <a:pPr algn="l"/>
            <a:r>
              <a:rPr sz="850" b="1" i="0" spc="160">
                <a:solidFill>
                  <a:srgbClr val="1E3A8A"/>
                </a:solidFill>
                <a:latin typeface="Courier New"/>
              </a:rPr>
              <a:t>CENSUS / ACS</a:t>
            </a:r>
          </a:p>
        </p:txBody>
      </p:sp>
      <p:sp>
        <p:nvSpPr>
          <p:cNvPr id="15" name="TextBox 14"/>
          <p:cNvSpPr txBox="1"/>
          <p:nvPr/>
        </p:nvSpPr>
        <p:spPr>
          <a:xfrm>
            <a:off x="3172968" y="3282696"/>
            <a:ext cx="8503920" cy="77724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B25007 (2,076 senior-owner households) · B19049 (incomes by age) · B19013 ($144,516 → $151,938) · B25077 ($818,700) · B11007 (Nassau 38.9% → 39.6%) · IRS SOI TY2022 (itemization)</a:t>
            </a:r>
          </a:p>
        </p:txBody>
      </p:sp>
      <p:sp>
        <p:nvSpPr>
          <p:cNvPr id="16" name="Rectangle 15"/>
          <p:cNvSpPr/>
          <p:nvPr/>
        </p:nvSpPr>
        <p:spPr>
          <a:xfrm>
            <a:off x="566928" y="4133088"/>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197096"/>
            <a:ext cx="2377440" cy="365760"/>
          </a:xfrm>
          <a:prstGeom prst="rect">
            <a:avLst/>
          </a:prstGeom>
          <a:noFill/>
        </p:spPr>
        <p:txBody>
          <a:bodyPr wrap="square" anchor="t" lIns="0" rIns="0" tIns="0" bIns="0">
            <a:spAutoFit/>
          </a:bodyPr>
          <a:lstStyle/>
          <a:p>
            <a:pPr algn="l"/>
            <a:r>
              <a:rPr sz="850" b="1" i="0" spc="160">
                <a:solidFill>
                  <a:srgbClr val="1E3A8A"/>
                </a:solidFill>
                <a:latin typeface="Courier New"/>
              </a:rPr>
              <a:t>HOUSING</a:t>
            </a:r>
          </a:p>
        </p:txBody>
      </p:sp>
      <p:sp>
        <p:nvSpPr>
          <p:cNvPr id="18" name="TextBox 17"/>
          <p:cNvSpPr txBox="1"/>
          <p:nvPr/>
        </p:nvSpPr>
        <p:spPr>
          <a:xfrm>
            <a:off x="3172968" y="4187952"/>
            <a:ext cx="8503920" cy="77724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Zillow RVC home values (June 2026) · Redfin “Empty Nesters” (Jan 2024; 2026 refresh) · ATTOM property-tax reports (2023–2025)</a:t>
            </a:r>
          </a:p>
        </p:txBody>
      </p:sp>
      <p:sp>
        <p:nvSpPr>
          <p:cNvPr id="19" name="Rectangle 18"/>
          <p:cNvSpPr/>
          <p:nvPr/>
        </p:nvSpPr>
        <p:spPr>
          <a:xfrm>
            <a:off x="566928" y="5038344"/>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5102352"/>
            <a:ext cx="2377440" cy="365760"/>
          </a:xfrm>
          <a:prstGeom prst="rect">
            <a:avLst/>
          </a:prstGeom>
          <a:noFill/>
        </p:spPr>
        <p:txBody>
          <a:bodyPr wrap="square" anchor="t" lIns="0" rIns="0" tIns="0" bIns="0">
            <a:spAutoFit/>
          </a:bodyPr>
          <a:lstStyle/>
          <a:p>
            <a:pPr algn="l"/>
            <a:r>
              <a:rPr sz="850" b="1" i="0" spc="160">
                <a:solidFill>
                  <a:srgbClr val="1E3A8A"/>
                </a:solidFill>
                <a:latin typeface="Courier New"/>
              </a:rPr>
              <a:t>ENROLLMENT CONTEXT</a:t>
            </a:r>
          </a:p>
        </p:txBody>
      </p:sp>
      <p:sp>
        <p:nvSpPr>
          <p:cNvPr id="21" name="TextBox 20"/>
          <p:cNvSpPr txBox="1"/>
          <p:nvPr/>
        </p:nvSpPr>
        <p:spPr>
          <a:xfrm>
            <a:off x="3172968" y="5093208"/>
            <a:ext cx="8503920" cy="77724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Nassau BOCES via LI Herald (61% of 56 districts) · W. Suffolk BOCES bi-county study (LI −6.3% since 2017) · Northport Journal/Patch (two 2021 closures) · LI Herald (Locust Valley budget failure, May 2026) · voices library: /voices.html</a:t>
            </a:r>
          </a:p>
        </p:txBody>
      </p:sp>
      <p:sp>
        <p:nvSpPr>
          <p:cNvPr id="22" name="Rectangle 21"/>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CLICKABLE LINKS: RVC-TAXES.JEFFPINTO.COM (DECK P.8) AND /VALIDATION.HTML</a:t>
            </a:r>
          </a:p>
        </p:txBody>
      </p:sp>
      <p:sp>
        <p:nvSpPr>
          <p:cNvPr id="24" name="TextBox 23"/>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7315200" cy="292608"/>
          </a:xfrm>
          <a:prstGeom prst="rect">
            <a:avLst/>
          </a:prstGeom>
          <a:noFill/>
        </p:spPr>
        <p:txBody>
          <a:bodyPr wrap="square" anchor="t" lIns="0" rIns="0" tIns="0" bIns="0">
            <a:spAutoFit/>
          </a:bodyPr>
          <a:lstStyle/>
          <a:p>
            <a:pPr algn="l"/>
            <a:r>
              <a:rPr sz="1500" b="1" i="0">
                <a:solidFill>
                  <a:srgbClr val="0E1116"/>
                </a:solidFill>
                <a:latin typeface="Georgia"/>
              </a:rPr>
              <a:t>Appendix</a:t>
            </a:r>
          </a:p>
        </p:txBody>
      </p:sp>
      <p:sp>
        <p:nvSpPr>
          <p:cNvPr id="4" name="TextBox 3"/>
          <p:cNvSpPr txBox="1"/>
          <p:nvPr/>
        </p:nvSpPr>
        <p:spPr>
          <a:xfrm>
            <a:off x="6504127" y="310896"/>
            <a:ext cx="5120640" cy="274320"/>
          </a:xfrm>
          <a:prstGeom prst="rect">
            <a:avLst/>
          </a:prstGeom>
          <a:noFill/>
        </p:spPr>
        <p:txBody>
          <a:bodyPr wrap="square" anchor="t" lIns="0" rIns="0" tIns="0" bIns="0">
            <a:spAutoFit/>
          </a:bodyPr>
          <a:lstStyle/>
          <a:p>
            <a:pPr algn="r"/>
            <a:r>
              <a:rPr sz="850" b="0" i="0" spc="160">
                <a:solidFill>
                  <a:srgbClr val="6B6B6B"/>
                </a:solidFill>
                <a:latin typeface="Courier New"/>
              </a:rPr>
              <a:t>RVC-TAXES.JEFFPINTO.COM   ·   26</a:t>
            </a:r>
          </a:p>
        </p:txBody>
      </p:sp>
      <p:sp>
        <p:nvSpPr>
          <p:cNvPr id="5" name="Rectangle 4"/>
          <p:cNvSpPr/>
          <p:nvPr/>
        </p:nvSpPr>
        <p:spPr>
          <a:xfrm>
            <a:off x="566928" y="603504"/>
            <a:ext cx="11057839" cy="25400"/>
          </a:xfrm>
          <a:prstGeom prst="rect">
            <a:avLst/>
          </a:prstGeom>
          <a:solidFill>
            <a:srgbClr val="231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777240"/>
            <a:ext cx="10972800" cy="457200"/>
          </a:xfrm>
          <a:prstGeom prst="rect">
            <a:avLst/>
          </a:prstGeom>
          <a:noFill/>
        </p:spPr>
        <p:txBody>
          <a:bodyPr wrap="square" anchor="t" lIns="0" rIns="0" tIns="0" bIns="0">
            <a:spAutoFit/>
          </a:bodyPr>
          <a:lstStyle/>
          <a:p>
            <a:pPr algn="l"/>
            <a:r>
              <a:rPr sz="2300" b="1" i="0">
                <a:solidFill>
                  <a:srgbClr val="0E1116"/>
                </a:solidFill>
                <a:latin typeface="Georgia"/>
              </a:rPr>
              <a:t>Sources (2 of 2) — law, mechanics, research · contact</a:t>
            </a:r>
          </a:p>
        </p:txBody>
      </p:sp>
      <p:sp>
        <p:nvSpPr>
          <p:cNvPr id="7" name="Rectangle 6"/>
          <p:cNvSpPr/>
          <p:nvPr/>
        </p:nvSpPr>
        <p:spPr>
          <a:xfrm>
            <a:off x="566928" y="1417320"/>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81328"/>
            <a:ext cx="2377440" cy="457200"/>
          </a:xfrm>
          <a:prstGeom prst="rect">
            <a:avLst/>
          </a:prstGeom>
          <a:noFill/>
        </p:spPr>
        <p:txBody>
          <a:bodyPr wrap="square" anchor="t" lIns="0" rIns="0" tIns="0" bIns="0">
            <a:spAutoFit/>
          </a:bodyPr>
          <a:lstStyle/>
          <a:p>
            <a:pPr algn="l"/>
            <a:r>
              <a:rPr sz="850" b="1" i="0" spc="160">
                <a:solidFill>
                  <a:srgbClr val="1E3A8A"/>
                </a:solidFill>
                <a:latin typeface="Courier New"/>
              </a:rPr>
              <a:t>STATUTE &amp; MECHANICS</a:t>
            </a:r>
          </a:p>
        </p:txBody>
      </p:sp>
      <p:sp>
        <p:nvSpPr>
          <p:cNvPr id="9" name="TextBox 8"/>
          <p:cNvSpPr txBox="1"/>
          <p:nvPr/>
        </p:nvSpPr>
        <p:spPr>
          <a:xfrm>
            <a:off x="3172968" y="1472184"/>
            <a:ext cx="8503920" cy="82296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26 U.S.C. §121 · NY RPTL §467, §1306-a, §305 · Tax Law Art. 31 · OSC “Property Tax Exemptions in NYS” · OSC tax-cap glossary (growth factor) · Nassau §467 brochure (rev. 3-26) · DTF STAR tables (2025 final) &amp; 2025 legislative summary ($75K cap)</a:t>
            </a:r>
          </a:p>
        </p:txBody>
      </p:sp>
      <p:sp>
        <p:nvSpPr>
          <p:cNvPr id="10" name="Rectangle 9"/>
          <p:cNvSpPr/>
          <p:nvPr/>
        </p:nvSpPr>
        <p:spPr>
          <a:xfrm>
            <a:off x="566928" y="2386584"/>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50592"/>
            <a:ext cx="2377440" cy="457200"/>
          </a:xfrm>
          <a:prstGeom prst="rect">
            <a:avLst/>
          </a:prstGeom>
          <a:noFill/>
        </p:spPr>
        <p:txBody>
          <a:bodyPr wrap="square" anchor="t" lIns="0" rIns="0" tIns="0" bIns="0">
            <a:spAutoFit/>
          </a:bodyPr>
          <a:lstStyle/>
          <a:p>
            <a:pPr algn="l"/>
            <a:r>
              <a:rPr sz="850" b="1" i="0" spc="160">
                <a:solidFill>
                  <a:srgbClr val="1E3A8A"/>
                </a:solidFill>
                <a:latin typeface="Courier New"/>
              </a:rPr>
              <a:t>BILLS</a:t>
            </a:r>
          </a:p>
        </p:txBody>
      </p:sp>
      <p:sp>
        <p:nvSpPr>
          <p:cNvPr id="12" name="TextBox 11"/>
          <p:cNvSpPr txBox="1"/>
          <p:nvPr/>
        </p:nvSpPr>
        <p:spPr>
          <a:xfrm>
            <a:off x="3172968" y="2441448"/>
            <a:ext cx="8503920" cy="82296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H.R. 1340 (Panetta/Kelly) · S. 3332 (Cornyn/Bennet/Schiff) · S3309/A5288 (Palumbo — Aging 7–0 Apr 2026) · S3574 · S5175A → Ch. 581 of 2025 (signed Dec 5, 2025)</a:t>
            </a:r>
          </a:p>
        </p:txBody>
      </p:sp>
      <p:sp>
        <p:nvSpPr>
          <p:cNvPr id="13" name="Rectangle 12"/>
          <p:cNvSpPr/>
          <p:nvPr/>
        </p:nvSpPr>
        <p:spPr>
          <a:xfrm>
            <a:off x="566928" y="3355848"/>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2377440" cy="457200"/>
          </a:xfrm>
          <a:prstGeom prst="rect">
            <a:avLst/>
          </a:prstGeom>
          <a:noFill/>
        </p:spPr>
        <p:txBody>
          <a:bodyPr wrap="square" anchor="t" lIns="0" rIns="0" tIns="0" bIns="0">
            <a:spAutoFit/>
          </a:bodyPr>
          <a:lstStyle/>
          <a:p>
            <a:pPr algn="l"/>
            <a:r>
              <a:rPr sz="850" b="1" i="0" spc="160">
                <a:solidFill>
                  <a:srgbClr val="1E3A8A"/>
                </a:solidFill>
                <a:latin typeface="Courier New"/>
              </a:rPr>
              <a:t>RESEARCH</a:t>
            </a:r>
          </a:p>
        </p:txBody>
      </p:sp>
      <p:sp>
        <p:nvSpPr>
          <p:cNvPr id="15" name="TextBox 14"/>
          <p:cNvSpPr txBox="1"/>
          <p:nvPr/>
        </p:nvSpPr>
        <p:spPr>
          <a:xfrm>
            <a:off x="3172968" y="3410712"/>
            <a:ext cx="8503920" cy="82296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AEI Housing Center (Pinto): ~1.9M senior homes, $620B gains · Banzhaf, Mickey &amp; Patrick, NBER w25468 / J. Urban Economics 2021 · Horwich, Minneapolis Fed (Nov 14, 2024) · Black (1999), QJE — school quality capitalization · CA BOE Prop 19 + LAO</a:t>
            </a:r>
          </a:p>
        </p:txBody>
      </p:sp>
      <p:sp>
        <p:nvSpPr>
          <p:cNvPr id="16" name="Rectangle 15"/>
          <p:cNvSpPr/>
          <p:nvPr/>
        </p:nvSpPr>
        <p:spPr>
          <a:xfrm>
            <a:off x="566928" y="4325112"/>
            <a:ext cx="11057839" cy="1270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389120"/>
            <a:ext cx="2377440" cy="457200"/>
          </a:xfrm>
          <a:prstGeom prst="rect">
            <a:avLst/>
          </a:prstGeom>
          <a:noFill/>
        </p:spPr>
        <p:txBody>
          <a:bodyPr wrap="square" anchor="t" lIns="0" rIns="0" tIns="0" bIns="0">
            <a:spAutoFit/>
          </a:bodyPr>
          <a:lstStyle/>
          <a:p>
            <a:pPr algn="l"/>
            <a:r>
              <a:rPr sz="850" b="1" i="0" spc="160">
                <a:solidFill>
                  <a:srgbClr val="1E3A8A"/>
                </a:solidFill>
                <a:latin typeface="Courier New"/>
              </a:rPr>
              <a:t>REORGANIZATION &amp; DEFERRAL</a:t>
            </a:r>
          </a:p>
        </p:txBody>
      </p:sp>
      <p:sp>
        <p:nvSpPr>
          <p:cNvPr id="18" name="TextBox 17"/>
          <p:cNvSpPr txBox="1"/>
          <p:nvPr/>
        </p:nvSpPr>
        <p:spPr>
          <a:xfrm>
            <a:off x="3172968" y="4379976"/>
            <a:ext cx="8503920" cy="822960"/>
          </a:xfrm>
          <a:prstGeom prst="rect">
            <a:avLst/>
          </a:prstGeom>
          <a:noFill/>
        </p:spPr>
        <p:txBody>
          <a:bodyPr wrap="square" anchor="t" lIns="0" rIns="0" tIns="0" bIns="0">
            <a:spAutoFit/>
          </a:bodyPr>
          <a:lstStyle/>
          <a:p>
            <a:pPr algn="l">
              <a:lnSpc>
                <a:spcPct val="118000"/>
              </a:lnSpc>
            </a:pPr>
            <a:r>
              <a:rPr sz="960" b="0" i="0">
                <a:solidFill>
                  <a:srgbClr val="2A2A2A"/>
                </a:solidFill>
                <a:latin typeface="Arial"/>
              </a:rPr>
              <a:t>NYSED, Guide to the Reorganization of School Districts (incentive operating &amp; building aid) · Oregon ORS 311.666–701 · Mass. G.L. c.59 §5 Cl. 41A · Washington RCW 84.38 · Texas Tax Code §33.06</a:t>
            </a:r>
          </a:p>
        </p:txBody>
      </p:sp>
      <p:sp>
        <p:nvSpPr>
          <p:cNvPr id="19" name="Rectangle 18"/>
          <p:cNvSpPr/>
          <p:nvPr/>
        </p:nvSpPr>
        <p:spPr>
          <a:xfrm>
            <a:off x="566928" y="5340096"/>
            <a:ext cx="11057839" cy="77724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440680"/>
            <a:ext cx="10607040" cy="548640"/>
          </a:xfrm>
          <a:prstGeom prst="rect">
            <a:avLst/>
          </a:prstGeom>
          <a:noFill/>
        </p:spPr>
        <p:txBody>
          <a:bodyPr wrap="square" anchor="t" lIns="0" rIns="0" tIns="0" bIns="0">
            <a:spAutoFit/>
          </a:bodyPr>
          <a:lstStyle/>
          <a:p>
            <a:pPr algn="l">
              <a:lnSpc>
                <a:spcPct val="120000"/>
              </a:lnSpc>
            </a:pPr>
            <a:r>
              <a:rPr sz="850" b="1" i="0" spc="160">
                <a:solidFill>
                  <a:srgbClr val="9DB4E8"/>
                </a:solidFill>
                <a:latin typeface="Courier New"/>
              </a:rPr>
              <a:t>CONTACT &amp; NEXT STEPS   </a:t>
            </a:r>
            <a:r>
              <a:rPr sz="1100" b="0" i="0">
                <a:solidFill>
                  <a:srgbClr val="F1ECE2"/>
                </a:solidFill>
                <a:latin typeface="Arial"/>
              </a:rPr>
              <a:t>Jeff Pinto · rvc-taxes.jeffpinto.com — FOIL to Nassau Assessment (exemption counts by district) · district-clerk confirmation of RVC's §467 posture · coalition letters from the 61%-club.</a:t>
            </a:r>
          </a:p>
        </p:txBody>
      </p:sp>
      <p:sp>
        <p:nvSpPr>
          <p:cNvPr id="21" name="Rectangle 20"/>
          <p:cNvSpPr/>
          <p:nvPr/>
        </p:nvSpPr>
        <p:spPr>
          <a:xfrm>
            <a:off x="566928" y="6419088"/>
            <a:ext cx="11057839" cy="11430"/>
          </a:xfrm>
          <a:prstGeom prst="rect">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92240"/>
            <a:ext cx="8778240" cy="274320"/>
          </a:xfrm>
          <a:prstGeom prst="rect">
            <a:avLst/>
          </a:prstGeom>
          <a:noFill/>
        </p:spPr>
        <p:txBody>
          <a:bodyPr wrap="square" anchor="t" lIns="0" rIns="0" tIns="0" bIns="0">
            <a:spAutoFit/>
          </a:bodyPr>
          <a:lstStyle/>
          <a:p>
            <a:pPr algn="l"/>
            <a:r>
              <a:rPr sz="750" b="0" i="0" spc="160">
                <a:solidFill>
                  <a:srgbClr val="6B6B6B"/>
                </a:solidFill>
                <a:latin typeface="Courier New"/>
              </a:rPr>
              <a:t>SLIDES 1–18 ARE THE LIVE DECK; THIS APPENDIX IS THE VALIDATED REFERENCE SET</a:t>
            </a:r>
          </a:p>
        </p:txBody>
      </p:sp>
      <p:sp>
        <p:nvSpPr>
          <p:cNvPr id="23" name="TextBox 22"/>
          <p:cNvSpPr txBox="1"/>
          <p:nvPr/>
        </p:nvSpPr>
        <p:spPr>
          <a:xfrm>
            <a:off x="9795967" y="6492240"/>
            <a:ext cx="1828800" cy="274320"/>
          </a:xfrm>
          <a:prstGeom prst="rect">
            <a:avLst/>
          </a:prstGeom>
          <a:noFill/>
        </p:spPr>
        <p:txBody>
          <a:bodyPr wrap="square" anchor="t" lIns="0" rIns="0" tIns="0" bIns="0">
            <a:spAutoFit/>
          </a:bodyPr>
          <a:lstStyle/>
          <a:p>
            <a:pPr algn="r"/>
            <a:r>
              <a:rPr sz="750" b="0" i="0" spc="160">
                <a:solidFill>
                  <a:srgbClr val="6B6B6B"/>
                </a:solidFill>
                <a:latin typeface="Courier New"/>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